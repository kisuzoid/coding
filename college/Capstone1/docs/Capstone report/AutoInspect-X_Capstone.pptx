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F9D3E90-E47A-4637-97F7-F00560508F0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B28AEB-6333-43A6-A41F-4A6A884CBC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B1AF5D-4730-449A-9F24-49C75F7CDD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C8B8FB-54C0-429E-82FC-12A1669D9AF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8C1338-77DC-4208-A1E4-96240B3E37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90FD49-E620-4F2E-A5A1-A4FB1C51C8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C53F9C-E57C-4F0A-B1CD-FDF1EF9AA5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7AD393-34AD-4C2F-A819-40D8340B81D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66CC84-2186-4EB4-8043-1FDA454BE0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212325-588D-4D20-A62E-24F204BCB6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F3C1FF-913A-40CD-A289-E217965438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213DDB-F2FB-4DC4-B311-88FB45237D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49BEAE-AB38-420F-8EB4-D240BB776C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BDFEE8-1A87-4819-A6D5-1FDFB622AD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7522A7-2BE1-4BE3-A9FE-9D5BA94834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65E47F-70FC-4803-8BAE-A3BCAEE3CD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0CECBE-E9F0-447B-9C4A-6C7DAD8CE9D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559B65-CE8B-49F5-83C9-C9315B1FFAC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4D52B40-2DF8-4F57-AB3C-AD7FF100C0C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6565320"/>
            <a:ext cx="11064240" cy="360"/>
          </a:xfrm>
          <a:prstGeom prst="line">
            <a:avLst/>
          </a:prstGeom>
          <a:ln w="889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7000" y="6602040"/>
            <a:ext cx="20106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AutoInspect-X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63440" y="6602040"/>
            <a:ext cx="29250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Capstone Project • Fall 2026–27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F35AE902-37F7-4270-B9F5-2D4E789B55D4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doi.org/10.1109/TITS.2023.3258480" TargetMode="External"/><Relationship Id="rId2" Type="http://schemas.openxmlformats.org/officeDocument/2006/relationships/hyperlink" Target="https://lmb.informatik.uni-freiburg.de/people/ronneber/u-net/" TargetMode="External"/><Relationship Id="rId3" Type="http://schemas.openxmlformats.org/officeDocument/2006/relationships/hyperlink" Target="https://arxiv.org/abs/2102.04306" TargetMode="External"/><Relationship Id="rId4" Type="http://schemas.openxmlformats.org/officeDocument/2006/relationships/hyperlink" Target="https://openaccess.thecvf.com/content/CVPR2022/html/Cheng_Masked-Attention_Mask_Transformer_for_Universal_Image_Segmentation_CVPR_2022_paper.html" TargetMode="External"/><Relationship Id="rId5" Type="http://schemas.openxmlformats.org/officeDocument/2006/relationships/hyperlink" Target="https://doi.org/10.1109/ICMLA.2017.0-179" TargetMode="External"/><Relationship Id="rId6" Type="http://schemas.openxmlformats.org/officeDocument/2006/relationships/hyperlink" Target="https://doi.org/10.1109/INDICON59947.2023.10440856" TargetMode="External"/><Relationship Id="rId7" Type="http://schemas.openxmlformats.org/officeDocument/2006/relationships/hyperlink" Target="https://doi.org/10.1002/widm.70027" TargetMode="External"/><Relationship Id="rId8" Type="http://schemas.openxmlformats.org/officeDocument/2006/relationships/hyperlink" Target="https://doi.org/10.1080/24751839.2024.2367387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8869680" y="-731520"/>
            <a:ext cx="3747960" cy="3747960"/>
          </a:xfrm>
          <a:prstGeom prst="arc">
            <a:avLst>
              <a:gd name="adj1" fmla="val 16200000"/>
              <a:gd name="adj2" fmla="val 0"/>
            </a:avLst>
          </a:prstGeom>
          <a:noFill/>
          <a:ln w="88900">
            <a:solidFill>
              <a:srgbClr val="2c4b7b">
                <a:alpha val="9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9555480" y="228600"/>
            <a:ext cx="2833560" cy="2833560"/>
          </a:xfrm>
          <a:prstGeom prst="arc">
            <a:avLst>
              <a:gd name="adj1" fmla="val 16200000"/>
              <a:gd name="adj2" fmla="val 0"/>
            </a:avLst>
          </a:prstGeom>
          <a:noFill/>
          <a:ln w="50800">
            <a:solidFill>
              <a:srgbClr val="2e8c93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76800" y="530280"/>
            <a:ext cx="3656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a9c6ff"/>
                </a:solidFill>
                <a:latin typeface="Aptos"/>
              </a:rPr>
              <a:t>AutoInspect-X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676800" y="941760"/>
            <a:ext cx="2294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5deed"/>
                </a:solidFill>
                <a:latin typeface="Aptos"/>
              </a:rPr>
              <a:t>Group – 160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76800" y="1417320"/>
            <a:ext cx="639972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CNN–Transformer Hybrid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Deep Learning for Vehicle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Damage Segmentation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713160" y="3355920"/>
            <a:ext cx="64911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d8e2f0"/>
                </a:solidFill>
                <a:latin typeface="Aptos"/>
              </a:rPr>
              <a:t>Global vehicle context + local visual detail → precise pixel-level damage segmentation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713160" y="4160520"/>
            <a:ext cx="7304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11" strike="noStrike">
                <a:solidFill>
                  <a:srgbClr val="7fa1d6"/>
                </a:solidFill>
                <a:latin typeface="Aptos"/>
              </a:rPr>
              <a:t>TEAM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713160" y="4443840"/>
            <a:ext cx="25592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Aptos"/>
              </a:rPr>
              <a:t>Janvie Verma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2743200" y="4443840"/>
            <a:ext cx="11876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7db"/>
                </a:solidFill>
                <a:latin typeface="Aptos"/>
              </a:rPr>
              <a:t>23BAI10307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713160" y="4736520"/>
            <a:ext cx="25592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Aptos"/>
              </a:rPr>
              <a:t>Kislay Anand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2743200" y="4736520"/>
            <a:ext cx="11876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7db"/>
                </a:solidFill>
                <a:latin typeface="Aptos"/>
              </a:rPr>
              <a:t>23BAI10359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713160" y="5029200"/>
            <a:ext cx="25592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Aptos"/>
              </a:rPr>
              <a:t>Chandrakant Anil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2743200" y="5029200"/>
            <a:ext cx="11876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7db"/>
                </a:solidFill>
                <a:latin typeface="Aptos"/>
              </a:rPr>
              <a:t>23BAI11269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713160" y="5321880"/>
            <a:ext cx="25592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Aptos"/>
              </a:rPr>
              <a:t>Parikshid Arya Poornachandra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2743200" y="5321880"/>
            <a:ext cx="11876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7db"/>
                </a:solidFill>
                <a:latin typeface="Aptos"/>
              </a:rPr>
              <a:t>23BAI10656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713160" y="5614560"/>
            <a:ext cx="25592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Aptos"/>
              </a:rPr>
              <a:t>Arya Khullar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2743200" y="5614560"/>
            <a:ext cx="11876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8c7db"/>
                </a:solidFill>
                <a:latin typeface="Aptos"/>
              </a:rPr>
              <a:t>23BAI11198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8458200" y="5349240"/>
            <a:ext cx="25592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03" strike="noStrike">
                <a:solidFill>
                  <a:srgbClr val="7fa1d6"/>
                </a:solidFill>
                <a:latin typeface="Aptos"/>
              </a:rPr>
              <a:t>CAPSTONE PROJECT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8458200" y="5650920"/>
            <a:ext cx="2467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ptos"/>
              </a:rPr>
              <a:t>Fall Semester 2026–27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11155680" y="6181200"/>
            <a:ext cx="3189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fa1d6"/>
                </a:solidFill>
                <a:latin typeface="Aptos"/>
              </a:rPr>
              <a:t>01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Problem Statement • Objective • Scope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Direct photo inspection → damage segmentation → professional explanation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01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594360" y="1143000"/>
            <a:ext cx="3519360" cy="182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4"/>
          <p:cNvSpPr/>
          <p:nvPr/>
        </p:nvSpPr>
        <p:spPr>
          <a:xfrm>
            <a:off x="594360" y="1143000"/>
            <a:ext cx="53640" cy="182772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740520" y="1289160"/>
            <a:ext cx="309960" cy="309960"/>
          </a:xfrm>
          <a:prstGeom prst="ellipse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740520" y="1316880"/>
            <a:ext cx="3099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P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1161360" y="1280160"/>
            <a:ext cx="27694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Problem statement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795600" y="1618560"/>
            <a:ext cx="3135240" cy="12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18212f"/>
                </a:solidFill>
                <a:latin typeface="Aptos"/>
                <a:ea typeface="Aptos"/>
              </a:rPr>
              <a:t>A single vehicle photo may contain normal curves, reflections, shadows and genuine damage. Reliable inspection therefore requires both local visual evidence and surrounding context.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4343400" y="1143000"/>
            <a:ext cx="3519360" cy="182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4343400" y="1143000"/>
            <a:ext cx="53640" cy="18277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4489560" y="1289160"/>
            <a:ext cx="309960" cy="30996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4489560" y="1316880"/>
            <a:ext cx="3099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O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4910400" y="1280160"/>
            <a:ext cx="27694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Objective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4544640" y="1618560"/>
            <a:ext cx="3135240" cy="12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18212f"/>
                </a:solidFill>
                <a:latin typeface="Aptos"/>
                <a:ea typeface="Aptos"/>
              </a:rPr>
              <a:t>Develop and evaluate a lightweight CNN–Transformer model that produces detailed damage masks, class labels and confidence-aware evidence from one photo.</a:t>
            </a:r>
            <a:endParaRPr b="0" lang="en-US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5"/>
          <p:cNvSpPr/>
          <p:nvPr/>
        </p:nvSpPr>
        <p:spPr>
          <a:xfrm>
            <a:off x="8092440" y="1143000"/>
            <a:ext cx="3519360" cy="182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6"/>
          <p:cNvSpPr/>
          <p:nvPr/>
        </p:nvSpPr>
        <p:spPr>
          <a:xfrm>
            <a:off x="8092440" y="1143000"/>
            <a:ext cx="53640" cy="18277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8238600" y="1289160"/>
            <a:ext cx="309960" cy="309960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8238600" y="1316880"/>
            <a:ext cx="3099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8659440" y="1280160"/>
            <a:ext cx="27694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Scope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8293680" y="1618560"/>
            <a:ext cx="3135240" cy="12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Photo quality check • hybrid segmentation • visual damage flagging • structured findings • professional LangChain explanation in the main chat.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621720" y="3337560"/>
            <a:ext cx="7304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11" strike="noStrike">
                <a:solidFill>
                  <a:srgbClr val="667085"/>
                </a:solidFill>
                <a:latin typeface="Aptos"/>
              </a:rPr>
              <a:t>INPUT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22"/>
          <p:cNvSpPr/>
          <p:nvPr/>
        </p:nvSpPr>
        <p:spPr>
          <a:xfrm>
            <a:off x="621720" y="3602880"/>
            <a:ext cx="141624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694800" y="3666600"/>
            <a:ext cx="12700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Vehicle photo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4"/>
          <p:cNvSpPr/>
          <p:nvPr/>
        </p:nvSpPr>
        <p:spPr>
          <a:xfrm>
            <a:off x="2194560" y="3602880"/>
            <a:ext cx="1599120" cy="30996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2267640" y="3666600"/>
            <a:ext cx="14529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Optional camera capture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6"/>
          <p:cNvSpPr/>
          <p:nvPr/>
        </p:nvSpPr>
        <p:spPr>
          <a:xfrm>
            <a:off x="3977640" y="3630240"/>
            <a:ext cx="410400" cy="21852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27"/>
          <p:cNvSpPr/>
          <p:nvPr/>
        </p:nvSpPr>
        <p:spPr>
          <a:xfrm>
            <a:off x="4526280" y="3602880"/>
            <a:ext cx="1507680" cy="309960"/>
          </a:xfrm>
          <a:prstGeom prst="roundRect">
            <a:avLst>
              <a:gd name="adj" fmla="val 41176"/>
            </a:avLst>
          </a:prstGeom>
          <a:solidFill>
            <a:srgbClr val="fff5e1"/>
          </a:solidFill>
          <a:ln w="12700">
            <a:solidFill>
              <a:srgbClr val="fff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8"/>
          <p:cNvSpPr/>
          <p:nvPr/>
        </p:nvSpPr>
        <p:spPr>
          <a:xfrm>
            <a:off x="4599360" y="3666600"/>
            <a:ext cx="136152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9e0b"/>
                </a:solidFill>
                <a:latin typeface="Aptos"/>
              </a:rPr>
              <a:t>Quality gate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9"/>
          <p:cNvSpPr/>
          <p:nvPr/>
        </p:nvSpPr>
        <p:spPr>
          <a:xfrm>
            <a:off x="6172200" y="3630240"/>
            <a:ext cx="410400" cy="218520"/>
          </a:xfrm>
          <a:prstGeom prst="chevron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30"/>
          <p:cNvSpPr/>
          <p:nvPr/>
        </p:nvSpPr>
        <p:spPr>
          <a:xfrm>
            <a:off x="6720840" y="3602880"/>
            <a:ext cx="1690560" cy="30996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31"/>
          <p:cNvSpPr/>
          <p:nvPr/>
        </p:nvSpPr>
        <p:spPr>
          <a:xfrm>
            <a:off x="6793920" y="3666600"/>
            <a:ext cx="154440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Hybrid segmentation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32"/>
          <p:cNvSpPr/>
          <p:nvPr/>
        </p:nvSpPr>
        <p:spPr>
          <a:xfrm>
            <a:off x="8540640" y="3630240"/>
            <a:ext cx="410400" cy="21852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33"/>
          <p:cNvSpPr/>
          <p:nvPr/>
        </p:nvSpPr>
        <p:spPr>
          <a:xfrm>
            <a:off x="9098280" y="3602880"/>
            <a:ext cx="1416240" cy="30996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34"/>
          <p:cNvSpPr/>
          <p:nvPr/>
        </p:nvSpPr>
        <p:spPr>
          <a:xfrm>
            <a:off x="9171360" y="3666600"/>
            <a:ext cx="12700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Damage evidence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35"/>
          <p:cNvSpPr/>
          <p:nvPr/>
        </p:nvSpPr>
        <p:spPr>
          <a:xfrm>
            <a:off x="10680120" y="3630240"/>
            <a:ext cx="410400" cy="21852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36"/>
          <p:cNvSpPr/>
          <p:nvPr/>
        </p:nvSpPr>
        <p:spPr>
          <a:xfrm>
            <a:off x="11137320" y="3602880"/>
            <a:ext cx="59328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37"/>
          <p:cNvSpPr/>
          <p:nvPr/>
        </p:nvSpPr>
        <p:spPr>
          <a:xfrm>
            <a:off x="11210400" y="3666600"/>
            <a:ext cx="44712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Chat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38"/>
          <p:cNvSpPr/>
          <p:nvPr/>
        </p:nvSpPr>
        <p:spPr>
          <a:xfrm>
            <a:off x="594360" y="4251960"/>
            <a:ext cx="5439600" cy="1233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39"/>
          <p:cNvSpPr/>
          <p:nvPr/>
        </p:nvSpPr>
        <p:spPr>
          <a:xfrm>
            <a:off x="594360" y="4251960"/>
            <a:ext cx="53640" cy="1233360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40"/>
          <p:cNvSpPr/>
          <p:nvPr/>
        </p:nvSpPr>
        <p:spPr>
          <a:xfrm>
            <a:off x="795600" y="4389120"/>
            <a:ext cx="50554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Explicitly out of scope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41"/>
          <p:cNvSpPr/>
          <p:nvPr/>
        </p:nvSpPr>
        <p:spPr>
          <a:xfrm>
            <a:off x="795600" y="4727520"/>
            <a:ext cx="505548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Repair-cost prediction • repair-action prediction • vehicle-part segmentation without additional labels • reference-image comparison against a perfect vehicle.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42"/>
          <p:cNvSpPr/>
          <p:nvPr/>
        </p:nvSpPr>
        <p:spPr>
          <a:xfrm>
            <a:off x="6263640" y="4251960"/>
            <a:ext cx="5348160" cy="1233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43"/>
          <p:cNvSpPr/>
          <p:nvPr/>
        </p:nvSpPr>
        <p:spPr>
          <a:xfrm>
            <a:off x="6263640" y="4251960"/>
            <a:ext cx="53640" cy="12333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44"/>
          <p:cNvSpPr/>
          <p:nvPr/>
        </p:nvSpPr>
        <p:spPr>
          <a:xfrm>
            <a:off x="6464880" y="4389120"/>
            <a:ext cx="49640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Core product boundary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45"/>
          <p:cNvSpPr/>
          <p:nvPr/>
        </p:nvSpPr>
        <p:spPr>
          <a:xfrm>
            <a:off x="6464880" y="4727520"/>
            <a:ext cx="496404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The vision model supplies evidence. The LLM explains that evidence, guides retakes when quality fails, and supports follow-up conversation.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sldNum" idx="5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89F8BD01-5646-4F62-BDD9-FFF48F1D1F28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Why this is a research project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The contribution is the model design and controlled evaluation — not the chatbot itself.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02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621720" y="1143000"/>
            <a:ext cx="3473640" cy="15076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621720" y="1143000"/>
            <a:ext cx="53640" cy="150768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822960" y="1280160"/>
            <a:ext cx="3089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Real problem in the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822960" y="1618560"/>
            <a:ext cx="30895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CarDD contains six damage classes, unequal class frequencies, and wide variation in damage area. Small cracks and scratches are particularly challenging.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4370760" y="1143000"/>
            <a:ext cx="3473640" cy="15076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4370760" y="1143000"/>
            <a:ext cx="53640" cy="150768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4572000" y="1280160"/>
            <a:ext cx="3089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Architectural question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4572000" y="1618560"/>
            <a:ext cx="30895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Can global contextual modelling from a lightweight Transformer complement CNN local features and improve pixel-level damage segmentation?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8119800" y="1143000"/>
            <a:ext cx="3473640" cy="15076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2"/>
          <p:cNvSpPr/>
          <p:nvPr/>
        </p:nvSpPr>
        <p:spPr>
          <a:xfrm>
            <a:off x="8119800" y="1143000"/>
            <a:ext cx="53640" cy="150768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8321040" y="1280160"/>
            <a:ext cx="3089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Testable contribution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8321040" y="1618560"/>
            <a:ext cx="30895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Compare a controlled ResNet34-U-Net baseline with the same backbone + bottleneck Transformer, using identical training and evaluation procedures.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621720" y="3063240"/>
            <a:ext cx="474480" cy="29160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621720" y="3127320"/>
            <a:ext cx="474480" cy="1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R1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1207080" y="3099960"/>
            <a:ext cx="17362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Research question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621720" y="3520440"/>
            <a:ext cx="10971720" cy="105048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 w="12700">
            <a:solidFill>
              <a:srgbClr val="c9d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868680" y="3758040"/>
            <a:ext cx="1046880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5000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Can a lightweight CNN–Transformer hybrid improve vehicle-damage segmentation, particularly for small and visually subtle damage, compared with a conventional CNN baseline while remaining computationally practical?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621720" y="4983480"/>
            <a:ext cx="1187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67085"/>
                </a:solidFill>
                <a:latin typeface="Aptos"/>
              </a:rPr>
              <a:t>Research logic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1"/>
          <p:cNvSpPr/>
          <p:nvPr/>
        </p:nvSpPr>
        <p:spPr>
          <a:xfrm>
            <a:off x="621720" y="5285160"/>
            <a:ext cx="1690560" cy="309960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694800" y="5349240"/>
            <a:ext cx="154440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4213d"/>
                </a:solidFill>
                <a:latin typeface="Aptos"/>
              </a:rPr>
              <a:t>Baseline: CNN/U-Net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3"/>
          <p:cNvSpPr/>
          <p:nvPr/>
        </p:nvSpPr>
        <p:spPr>
          <a:xfrm>
            <a:off x="2514600" y="5321880"/>
            <a:ext cx="419400" cy="20016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24"/>
          <p:cNvSpPr/>
          <p:nvPr/>
        </p:nvSpPr>
        <p:spPr>
          <a:xfrm>
            <a:off x="3063240" y="5285160"/>
            <a:ext cx="1782000" cy="30996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5"/>
          <p:cNvSpPr/>
          <p:nvPr/>
        </p:nvSpPr>
        <p:spPr>
          <a:xfrm>
            <a:off x="3136320" y="5349240"/>
            <a:ext cx="163584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Add global context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6"/>
          <p:cNvSpPr/>
          <p:nvPr/>
        </p:nvSpPr>
        <p:spPr>
          <a:xfrm>
            <a:off x="5010840" y="5321880"/>
            <a:ext cx="419400" cy="20016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27"/>
          <p:cNvSpPr/>
          <p:nvPr/>
        </p:nvSpPr>
        <p:spPr>
          <a:xfrm>
            <a:off x="5559480" y="5285160"/>
            <a:ext cx="1599120" cy="30996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8"/>
          <p:cNvSpPr/>
          <p:nvPr/>
        </p:nvSpPr>
        <p:spPr>
          <a:xfrm>
            <a:off x="5632560" y="5349240"/>
            <a:ext cx="14529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Hybrid model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9"/>
          <p:cNvSpPr/>
          <p:nvPr/>
        </p:nvSpPr>
        <p:spPr>
          <a:xfrm>
            <a:off x="7360920" y="5321880"/>
            <a:ext cx="419400" cy="20016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30"/>
          <p:cNvSpPr/>
          <p:nvPr/>
        </p:nvSpPr>
        <p:spPr>
          <a:xfrm>
            <a:off x="7909560" y="5285160"/>
            <a:ext cx="141624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31"/>
          <p:cNvSpPr/>
          <p:nvPr/>
        </p:nvSpPr>
        <p:spPr>
          <a:xfrm>
            <a:off x="7982640" y="5349240"/>
            <a:ext cx="12700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Measure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2"/>
          <p:cNvSpPr/>
          <p:nvPr/>
        </p:nvSpPr>
        <p:spPr>
          <a:xfrm>
            <a:off x="9509760" y="5321880"/>
            <a:ext cx="419400" cy="20016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33"/>
          <p:cNvSpPr/>
          <p:nvPr/>
        </p:nvSpPr>
        <p:spPr>
          <a:xfrm>
            <a:off x="10058400" y="5285160"/>
            <a:ext cx="1416240" cy="309960"/>
          </a:xfrm>
          <a:prstGeom prst="roundRect">
            <a:avLst>
              <a:gd name="adj" fmla="val 41176"/>
            </a:avLst>
          </a:prstGeom>
          <a:solidFill>
            <a:srgbClr val="fff5e1"/>
          </a:solidFill>
          <a:ln w="12700">
            <a:solidFill>
              <a:srgbClr val="fff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34"/>
          <p:cNvSpPr/>
          <p:nvPr/>
        </p:nvSpPr>
        <p:spPr>
          <a:xfrm>
            <a:off x="10131480" y="5349240"/>
            <a:ext cx="12700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9e0b"/>
                </a:solidFill>
                <a:latin typeface="Aptos"/>
              </a:rPr>
              <a:t>Conclude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sldNum" idx="6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9645A3B-B4BB-4586-9CA4-D7169127A539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Methodology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A controlled workflow separates data preparation, model research, evaluation and product integration.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03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640080" y="1371600"/>
            <a:ext cx="2422080" cy="2330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640080" y="1371600"/>
            <a:ext cx="53640" cy="23306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786240" y="1517760"/>
            <a:ext cx="309960" cy="309960"/>
          </a:xfrm>
          <a:prstGeom prst="ellipse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786240" y="1545480"/>
            <a:ext cx="3099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207080" y="1508760"/>
            <a:ext cx="167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Dataset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841320" y="1847160"/>
            <a:ext cx="2037960" cy="17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Audit CarDD; keep train/validation/test separated; verify labels and leakage.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9"/>
          <p:cNvSpPr/>
          <p:nvPr/>
        </p:nvSpPr>
        <p:spPr>
          <a:xfrm>
            <a:off x="3429000" y="1371600"/>
            <a:ext cx="2422080" cy="2330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0"/>
          <p:cNvSpPr/>
          <p:nvPr/>
        </p:nvSpPr>
        <p:spPr>
          <a:xfrm>
            <a:off x="3429000" y="1371600"/>
            <a:ext cx="53640" cy="23306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3575160" y="1517760"/>
            <a:ext cx="309960" cy="309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3575160" y="1545480"/>
            <a:ext cx="3099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3996000" y="1508760"/>
            <a:ext cx="167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Baseline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3630240" y="1847160"/>
            <a:ext cx="2037960" cy="17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Train controlled ResNet34-U-Net under the shared training procedure.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5"/>
          <p:cNvSpPr/>
          <p:nvPr/>
        </p:nvSpPr>
        <p:spPr>
          <a:xfrm>
            <a:off x="6217920" y="1371600"/>
            <a:ext cx="2422080" cy="2330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6"/>
          <p:cNvSpPr/>
          <p:nvPr/>
        </p:nvSpPr>
        <p:spPr>
          <a:xfrm>
            <a:off x="6217920" y="1371600"/>
            <a:ext cx="53640" cy="23306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17"/>
          <p:cNvSpPr/>
          <p:nvPr/>
        </p:nvSpPr>
        <p:spPr>
          <a:xfrm>
            <a:off x="6364080" y="1517760"/>
            <a:ext cx="309960" cy="309960"/>
          </a:xfrm>
          <a:prstGeom prst="ellipse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6364080" y="1545480"/>
            <a:ext cx="3099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6784920" y="1508760"/>
            <a:ext cx="167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Hybrid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0"/>
          <p:cNvSpPr/>
          <p:nvPr/>
        </p:nvSpPr>
        <p:spPr>
          <a:xfrm>
            <a:off x="6419160" y="1847160"/>
            <a:ext cx="2037960" cy="17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Add the bottleneck Transformer + fusion; keep all other conditions fixed.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1"/>
          <p:cNvSpPr/>
          <p:nvPr/>
        </p:nvSpPr>
        <p:spPr>
          <a:xfrm>
            <a:off x="9006840" y="1371600"/>
            <a:ext cx="2422080" cy="2330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2"/>
          <p:cNvSpPr/>
          <p:nvPr/>
        </p:nvSpPr>
        <p:spPr>
          <a:xfrm>
            <a:off x="9006840" y="1371600"/>
            <a:ext cx="53640" cy="23306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23"/>
          <p:cNvSpPr/>
          <p:nvPr/>
        </p:nvSpPr>
        <p:spPr>
          <a:xfrm>
            <a:off x="9153000" y="1517760"/>
            <a:ext cx="309960" cy="30996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24"/>
          <p:cNvSpPr/>
          <p:nvPr/>
        </p:nvSpPr>
        <p:spPr>
          <a:xfrm>
            <a:off x="9153000" y="1545480"/>
            <a:ext cx="3099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Aptos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5"/>
          <p:cNvSpPr/>
          <p:nvPr/>
        </p:nvSpPr>
        <p:spPr>
          <a:xfrm>
            <a:off x="9573840" y="1508760"/>
            <a:ext cx="167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Evaluation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6"/>
          <p:cNvSpPr/>
          <p:nvPr/>
        </p:nvSpPr>
        <p:spPr>
          <a:xfrm>
            <a:off x="9208080" y="1847160"/>
            <a:ext cx="2037960" cy="17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Multi-seed metrics, small-damage analysis, error analysis and efficiency.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7"/>
          <p:cNvSpPr/>
          <p:nvPr/>
        </p:nvSpPr>
        <p:spPr>
          <a:xfrm>
            <a:off x="3127320" y="2340720"/>
            <a:ext cx="318960" cy="22752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28"/>
          <p:cNvSpPr/>
          <p:nvPr/>
        </p:nvSpPr>
        <p:spPr>
          <a:xfrm>
            <a:off x="5916240" y="2340720"/>
            <a:ext cx="318960" cy="227520"/>
          </a:xfrm>
          <a:prstGeom prst="chevron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29"/>
          <p:cNvSpPr/>
          <p:nvPr/>
        </p:nvSpPr>
        <p:spPr>
          <a:xfrm>
            <a:off x="8705160" y="2340720"/>
            <a:ext cx="318960" cy="22752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30"/>
          <p:cNvSpPr/>
          <p:nvPr/>
        </p:nvSpPr>
        <p:spPr>
          <a:xfrm>
            <a:off x="667440" y="406908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213d"/>
                </a:solidFill>
                <a:latin typeface="Aptos"/>
              </a:rPr>
              <a:t>Product integration happens after the model is validated.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31"/>
          <p:cNvSpPr/>
          <p:nvPr/>
        </p:nvSpPr>
        <p:spPr>
          <a:xfrm>
            <a:off x="658440" y="4480560"/>
            <a:ext cx="3245040" cy="1096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2"/>
          <p:cNvSpPr/>
          <p:nvPr/>
        </p:nvSpPr>
        <p:spPr>
          <a:xfrm>
            <a:off x="658440" y="4480560"/>
            <a:ext cx="53640" cy="109620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33"/>
          <p:cNvSpPr/>
          <p:nvPr/>
        </p:nvSpPr>
        <p:spPr>
          <a:xfrm>
            <a:off x="859680" y="4617720"/>
            <a:ext cx="286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Vision layer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34"/>
          <p:cNvSpPr/>
          <p:nvPr/>
        </p:nvSpPr>
        <p:spPr>
          <a:xfrm>
            <a:off x="859680" y="4956120"/>
            <a:ext cx="28609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Image quality → segmentation → masks → class → calibrated confidence.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5"/>
          <p:cNvSpPr/>
          <p:nvPr/>
        </p:nvSpPr>
        <p:spPr>
          <a:xfrm>
            <a:off x="4114800" y="4827960"/>
            <a:ext cx="501840" cy="25488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36"/>
          <p:cNvSpPr/>
          <p:nvPr/>
        </p:nvSpPr>
        <p:spPr>
          <a:xfrm>
            <a:off x="4709160" y="4480560"/>
            <a:ext cx="2925000" cy="1096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7"/>
          <p:cNvSpPr/>
          <p:nvPr/>
        </p:nvSpPr>
        <p:spPr>
          <a:xfrm>
            <a:off x="4709160" y="4480560"/>
            <a:ext cx="53640" cy="109620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8"/>
          <p:cNvSpPr/>
          <p:nvPr/>
        </p:nvSpPr>
        <p:spPr>
          <a:xfrm>
            <a:off x="4910400" y="4617720"/>
            <a:ext cx="2540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Structured result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9"/>
          <p:cNvSpPr/>
          <p:nvPr/>
        </p:nvSpPr>
        <p:spPr>
          <a:xfrm>
            <a:off x="4910400" y="4956120"/>
            <a:ext cx="254088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Typed evidence passed to the application and conversational layer.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40"/>
          <p:cNvSpPr/>
          <p:nvPr/>
        </p:nvSpPr>
        <p:spPr>
          <a:xfrm>
            <a:off x="7882200" y="4827960"/>
            <a:ext cx="501840" cy="25488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41"/>
          <p:cNvSpPr/>
          <p:nvPr/>
        </p:nvSpPr>
        <p:spPr>
          <a:xfrm>
            <a:off x="8485560" y="4480560"/>
            <a:ext cx="3062160" cy="1096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42"/>
          <p:cNvSpPr/>
          <p:nvPr/>
        </p:nvSpPr>
        <p:spPr>
          <a:xfrm>
            <a:off x="8485560" y="4480560"/>
            <a:ext cx="53640" cy="10962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43"/>
          <p:cNvSpPr/>
          <p:nvPr/>
        </p:nvSpPr>
        <p:spPr>
          <a:xfrm>
            <a:off x="8686800" y="4617720"/>
            <a:ext cx="26780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Conversational layer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4"/>
          <p:cNvSpPr/>
          <p:nvPr/>
        </p:nvSpPr>
        <p:spPr>
          <a:xfrm>
            <a:off x="8686800" y="4956120"/>
            <a:ext cx="267804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LangChain LLM explains findings and handles follow-up chat.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sldNum" idx="7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14466BA8-47B6-412C-A7CB-3BC7432100A3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Architecture / Process Flow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Human-inspired principle: global context → suspicious region → local detail → precise segmentation.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04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658440" y="1078920"/>
            <a:ext cx="474480" cy="29160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658440" y="1143000"/>
            <a:ext cx="474480" cy="1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A1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1243440" y="1115640"/>
            <a:ext cx="1919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Human inspection analogy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658440" y="1572840"/>
            <a:ext cx="1736280" cy="8402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7"/>
          <p:cNvSpPr/>
          <p:nvPr/>
        </p:nvSpPr>
        <p:spPr>
          <a:xfrm>
            <a:off x="658440" y="1572840"/>
            <a:ext cx="53640" cy="8402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859680" y="1710000"/>
            <a:ext cx="13521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Whole vehicle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859680" y="2048400"/>
            <a:ext cx="1352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18212f"/>
                </a:solidFill>
                <a:latin typeface="Aptos"/>
                <a:ea typeface="Aptos"/>
              </a:rPr>
              <a:t>Observe overall view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0"/>
          <p:cNvSpPr/>
          <p:nvPr/>
        </p:nvSpPr>
        <p:spPr>
          <a:xfrm>
            <a:off x="2468880" y="1856160"/>
            <a:ext cx="291600" cy="190800"/>
          </a:xfrm>
          <a:prstGeom prst="chevron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11"/>
          <p:cNvSpPr/>
          <p:nvPr/>
        </p:nvSpPr>
        <p:spPr>
          <a:xfrm>
            <a:off x="2788920" y="1572840"/>
            <a:ext cx="1736280" cy="8402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2788920" y="1572840"/>
            <a:ext cx="53640" cy="8402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2990160" y="1710000"/>
            <a:ext cx="13521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Global context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2990160" y="2048400"/>
            <a:ext cx="1352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6666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18212f"/>
                </a:solidFill>
                <a:latin typeface="Aptos"/>
                <a:ea typeface="Aptos"/>
              </a:rPr>
              <a:t>Understand surrounding structure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5"/>
          <p:cNvSpPr/>
          <p:nvPr/>
        </p:nvSpPr>
        <p:spPr>
          <a:xfrm>
            <a:off x="4599360" y="1856160"/>
            <a:ext cx="291600" cy="19080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16"/>
          <p:cNvSpPr/>
          <p:nvPr/>
        </p:nvSpPr>
        <p:spPr>
          <a:xfrm>
            <a:off x="4919400" y="1572840"/>
            <a:ext cx="1736280" cy="8402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7"/>
          <p:cNvSpPr/>
          <p:nvPr/>
        </p:nvSpPr>
        <p:spPr>
          <a:xfrm>
            <a:off x="4919400" y="1572840"/>
            <a:ext cx="53640" cy="84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8"/>
          <p:cNvSpPr/>
          <p:nvPr/>
        </p:nvSpPr>
        <p:spPr>
          <a:xfrm>
            <a:off x="5120640" y="1710000"/>
            <a:ext cx="13521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Discrepancy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9"/>
          <p:cNvSpPr/>
          <p:nvPr/>
        </p:nvSpPr>
        <p:spPr>
          <a:xfrm>
            <a:off x="5120640" y="2048400"/>
            <a:ext cx="1352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6666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18212f"/>
                </a:solidFill>
                <a:latin typeface="Aptos"/>
                <a:ea typeface="Aptos"/>
              </a:rPr>
              <a:t>Notice an unusual pattern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0"/>
          <p:cNvSpPr/>
          <p:nvPr/>
        </p:nvSpPr>
        <p:spPr>
          <a:xfrm>
            <a:off x="6729840" y="1856160"/>
            <a:ext cx="291600" cy="190800"/>
          </a:xfrm>
          <a:prstGeom prst="chevron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1"/>
          <p:cNvSpPr/>
          <p:nvPr/>
        </p:nvSpPr>
        <p:spPr>
          <a:xfrm>
            <a:off x="7049880" y="1572840"/>
            <a:ext cx="1736280" cy="8402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2"/>
          <p:cNvSpPr/>
          <p:nvPr/>
        </p:nvSpPr>
        <p:spPr>
          <a:xfrm>
            <a:off x="7049880" y="1572840"/>
            <a:ext cx="53640" cy="8402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23"/>
          <p:cNvSpPr/>
          <p:nvPr/>
        </p:nvSpPr>
        <p:spPr>
          <a:xfrm>
            <a:off x="7251120" y="1710000"/>
            <a:ext cx="13521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Focus region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24"/>
          <p:cNvSpPr/>
          <p:nvPr/>
        </p:nvSpPr>
        <p:spPr>
          <a:xfrm>
            <a:off x="7251120" y="2048400"/>
            <a:ext cx="1352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18212f"/>
                </a:solidFill>
                <a:latin typeface="Aptos"/>
                <a:ea typeface="Aptos"/>
              </a:rPr>
              <a:t>Attention shifts to area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5"/>
          <p:cNvSpPr/>
          <p:nvPr/>
        </p:nvSpPr>
        <p:spPr>
          <a:xfrm>
            <a:off x="8860680" y="1856160"/>
            <a:ext cx="291600" cy="19080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26"/>
          <p:cNvSpPr/>
          <p:nvPr/>
        </p:nvSpPr>
        <p:spPr>
          <a:xfrm>
            <a:off x="9180720" y="1572840"/>
            <a:ext cx="1736280" cy="8402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7"/>
          <p:cNvSpPr/>
          <p:nvPr/>
        </p:nvSpPr>
        <p:spPr>
          <a:xfrm>
            <a:off x="9180720" y="1572840"/>
            <a:ext cx="53640" cy="8402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8"/>
          <p:cNvSpPr/>
          <p:nvPr/>
        </p:nvSpPr>
        <p:spPr>
          <a:xfrm>
            <a:off x="9381600" y="1710000"/>
            <a:ext cx="13521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Local evidence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9"/>
          <p:cNvSpPr/>
          <p:nvPr/>
        </p:nvSpPr>
        <p:spPr>
          <a:xfrm>
            <a:off x="9381600" y="2048400"/>
            <a:ext cx="1352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6666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18212f"/>
                </a:solidFill>
                <a:latin typeface="Aptos"/>
                <a:ea typeface="Aptos"/>
              </a:rPr>
              <a:t>Inspect texture / boundary</a:t>
            </a:r>
            <a:endParaRPr b="0" lang="en-US" sz="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30"/>
          <p:cNvSpPr/>
          <p:nvPr/>
        </p:nvSpPr>
        <p:spPr>
          <a:xfrm>
            <a:off x="658440" y="2880360"/>
            <a:ext cx="474480" cy="29160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31"/>
          <p:cNvSpPr/>
          <p:nvPr/>
        </p:nvSpPr>
        <p:spPr>
          <a:xfrm>
            <a:off x="658440" y="2944440"/>
            <a:ext cx="474480" cy="1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A2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32"/>
          <p:cNvSpPr/>
          <p:nvPr/>
        </p:nvSpPr>
        <p:spPr>
          <a:xfrm>
            <a:off x="1243440" y="2917080"/>
            <a:ext cx="1644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Model translation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3"/>
          <p:cNvSpPr/>
          <p:nvPr/>
        </p:nvSpPr>
        <p:spPr>
          <a:xfrm>
            <a:off x="658440" y="3364920"/>
            <a:ext cx="23763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34"/>
          <p:cNvSpPr/>
          <p:nvPr/>
        </p:nvSpPr>
        <p:spPr>
          <a:xfrm>
            <a:off x="658440" y="3364920"/>
            <a:ext cx="53640" cy="114192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5"/>
          <p:cNvSpPr/>
          <p:nvPr/>
        </p:nvSpPr>
        <p:spPr>
          <a:xfrm>
            <a:off x="859680" y="3502080"/>
            <a:ext cx="1992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CNN encoder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6"/>
          <p:cNvSpPr/>
          <p:nvPr/>
        </p:nvSpPr>
        <p:spPr>
          <a:xfrm>
            <a:off x="859680" y="3840480"/>
            <a:ext cx="199224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Local edges, textures, shapes and hierarchical features.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37"/>
          <p:cNvSpPr/>
          <p:nvPr/>
        </p:nvSpPr>
        <p:spPr>
          <a:xfrm>
            <a:off x="3182040" y="3730680"/>
            <a:ext cx="501840" cy="22752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Shape 38"/>
          <p:cNvSpPr/>
          <p:nvPr/>
        </p:nvSpPr>
        <p:spPr>
          <a:xfrm>
            <a:off x="3794760" y="3364920"/>
            <a:ext cx="255924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9"/>
          <p:cNvSpPr/>
          <p:nvPr/>
        </p:nvSpPr>
        <p:spPr>
          <a:xfrm>
            <a:off x="3794760" y="3364920"/>
            <a:ext cx="53640" cy="11419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40"/>
          <p:cNvSpPr/>
          <p:nvPr/>
        </p:nvSpPr>
        <p:spPr>
          <a:xfrm>
            <a:off x="3996000" y="3502080"/>
            <a:ext cx="2175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Transformer bottleneck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41"/>
          <p:cNvSpPr/>
          <p:nvPr/>
        </p:nvSpPr>
        <p:spPr>
          <a:xfrm>
            <a:off x="3996000" y="3840480"/>
            <a:ext cx="217512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Global spatial relationships at 16×16 feature resolution.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42"/>
          <p:cNvSpPr/>
          <p:nvPr/>
        </p:nvSpPr>
        <p:spPr>
          <a:xfrm>
            <a:off x="6519600" y="3730680"/>
            <a:ext cx="501840" cy="22752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43"/>
          <p:cNvSpPr/>
          <p:nvPr/>
        </p:nvSpPr>
        <p:spPr>
          <a:xfrm>
            <a:off x="7132320" y="3364920"/>
            <a:ext cx="237636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44"/>
          <p:cNvSpPr/>
          <p:nvPr/>
        </p:nvSpPr>
        <p:spPr>
          <a:xfrm>
            <a:off x="7132320" y="3364920"/>
            <a:ext cx="53640" cy="11419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45"/>
          <p:cNvSpPr/>
          <p:nvPr/>
        </p:nvSpPr>
        <p:spPr>
          <a:xfrm>
            <a:off x="7333560" y="3502080"/>
            <a:ext cx="1992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Feature fusion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46"/>
          <p:cNvSpPr/>
          <p:nvPr/>
        </p:nvSpPr>
        <p:spPr>
          <a:xfrm>
            <a:off x="7333560" y="3840480"/>
            <a:ext cx="199224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Global context + local CNN bottleneck through residual addition.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47"/>
          <p:cNvSpPr/>
          <p:nvPr/>
        </p:nvSpPr>
        <p:spPr>
          <a:xfrm>
            <a:off x="9655920" y="3730680"/>
            <a:ext cx="501840" cy="22752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48"/>
          <p:cNvSpPr/>
          <p:nvPr/>
        </p:nvSpPr>
        <p:spPr>
          <a:xfrm>
            <a:off x="10268640" y="3364920"/>
            <a:ext cx="130644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49"/>
          <p:cNvSpPr/>
          <p:nvPr/>
        </p:nvSpPr>
        <p:spPr>
          <a:xfrm>
            <a:off x="10268640" y="3364920"/>
            <a:ext cx="53640" cy="114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50"/>
          <p:cNvSpPr/>
          <p:nvPr/>
        </p:nvSpPr>
        <p:spPr>
          <a:xfrm>
            <a:off x="10469880" y="3502080"/>
            <a:ext cx="922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Decoder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51"/>
          <p:cNvSpPr/>
          <p:nvPr/>
        </p:nvSpPr>
        <p:spPr>
          <a:xfrm>
            <a:off x="10469880" y="3840480"/>
            <a:ext cx="92232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8212f"/>
                </a:solidFill>
                <a:latin typeface="Aptos"/>
                <a:ea typeface="Aptos"/>
              </a:rPr>
              <a:t>Recover detail → mask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52"/>
          <p:cNvSpPr/>
          <p:nvPr/>
        </p:nvSpPr>
        <p:spPr>
          <a:xfrm>
            <a:off x="2011680" y="4983480"/>
            <a:ext cx="8137080" cy="867600"/>
          </a:xfrm>
          <a:prstGeom prst="roundRect">
            <a:avLst>
              <a:gd name="adj" fmla="val 6316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53"/>
          <p:cNvSpPr/>
          <p:nvPr/>
        </p:nvSpPr>
        <p:spPr>
          <a:xfrm>
            <a:off x="2267640" y="5184720"/>
            <a:ext cx="1324800" cy="1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9eb9ea"/>
                </a:solidFill>
                <a:latin typeface="Aptos"/>
              </a:rPr>
              <a:t>Design statement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54"/>
          <p:cNvSpPr/>
          <p:nvPr/>
        </p:nvSpPr>
        <p:spPr>
          <a:xfrm>
            <a:off x="3566160" y="5102280"/>
            <a:ext cx="62625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ptos"/>
              </a:rPr>
              <a:t>The model jointly captures global vehicle context and local visual features to improve pixel-level damage segmentation.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sldNum" idx="8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6D4D6B61-9CB6-456C-97B2-0300ADBA5367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CarDD Dataset &amp; Evaluation Protocol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Keep the official split structure intact; test remains untouched until final evaluation.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05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658440" y="1234440"/>
            <a:ext cx="3245040" cy="15076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4"/>
          <p:cNvSpPr/>
          <p:nvPr/>
        </p:nvSpPr>
        <p:spPr>
          <a:xfrm>
            <a:off x="658440" y="1234440"/>
            <a:ext cx="53640" cy="1507680"/>
          </a:xfrm>
          <a:prstGeom prst="rect">
            <a:avLst/>
          </a:prstGeom>
          <a:solidFill>
            <a:srgbClr val="c29e7f"/>
          </a:solidFill>
          <a:ln w="12700">
            <a:solidFill>
              <a:srgbClr val="c29e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859680" y="1371600"/>
            <a:ext cx="286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Training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859680" y="1710000"/>
            <a:ext cx="28609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2,816 images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Parameter learning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2743200" y="1435680"/>
            <a:ext cx="885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4213d"/>
                </a:solidFill>
                <a:latin typeface="Aptos"/>
              </a:rPr>
              <a:t>2,816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4407480" y="1234440"/>
            <a:ext cx="3245040" cy="15076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9"/>
          <p:cNvSpPr/>
          <p:nvPr/>
        </p:nvSpPr>
        <p:spPr>
          <a:xfrm>
            <a:off x="4407480" y="1234440"/>
            <a:ext cx="53640" cy="1507680"/>
          </a:xfrm>
          <a:prstGeom prst="rect">
            <a:avLst/>
          </a:prstGeom>
          <a:solidFill>
            <a:srgbClr val="4a80e8"/>
          </a:solidFill>
          <a:ln w="12700">
            <a:solidFill>
              <a:srgbClr val="4a8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4608720" y="1371600"/>
            <a:ext cx="286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Validation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4608720" y="1710000"/>
            <a:ext cx="28609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810 images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Checkpoint / tuning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2"/>
          <p:cNvSpPr/>
          <p:nvPr/>
        </p:nvSpPr>
        <p:spPr>
          <a:xfrm>
            <a:off x="6693480" y="1435680"/>
            <a:ext cx="684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4213d"/>
                </a:solidFill>
                <a:latin typeface="Aptos"/>
              </a:rPr>
              <a:t>810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3"/>
          <p:cNvSpPr/>
          <p:nvPr/>
        </p:nvSpPr>
        <p:spPr>
          <a:xfrm>
            <a:off x="8156520" y="1234440"/>
            <a:ext cx="3245040" cy="15076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8156520" y="1234440"/>
            <a:ext cx="53640" cy="150768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8357760" y="1371600"/>
            <a:ext cx="286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Testing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8357760" y="1710000"/>
            <a:ext cx="28609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374 images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Final evaluation only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7"/>
          <p:cNvSpPr/>
          <p:nvPr/>
        </p:nvSpPr>
        <p:spPr>
          <a:xfrm>
            <a:off x="10442520" y="1435680"/>
            <a:ext cx="684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4213d"/>
                </a:solidFill>
                <a:latin typeface="Aptos"/>
              </a:rPr>
              <a:t>374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658440" y="3154680"/>
            <a:ext cx="474480" cy="29160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658440" y="3218760"/>
            <a:ext cx="474480" cy="1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D1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20"/>
          <p:cNvSpPr/>
          <p:nvPr/>
        </p:nvSpPr>
        <p:spPr>
          <a:xfrm>
            <a:off x="1243440" y="3191400"/>
            <a:ext cx="1507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Class mapping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1"/>
          <p:cNvSpPr/>
          <p:nvPr/>
        </p:nvSpPr>
        <p:spPr>
          <a:xfrm>
            <a:off x="658440" y="3593520"/>
            <a:ext cx="2513520" cy="309960"/>
          </a:xfrm>
          <a:prstGeom prst="roundRect">
            <a:avLst>
              <a:gd name="adj" fmla="val 4117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2"/>
          <p:cNvSpPr/>
          <p:nvPr/>
        </p:nvSpPr>
        <p:spPr>
          <a:xfrm>
            <a:off x="731520" y="3657600"/>
            <a:ext cx="23673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67085"/>
                </a:solidFill>
                <a:latin typeface="Aptos"/>
              </a:rPr>
              <a:t>background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3"/>
          <p:cNvSpPr/>
          <p:nvPr/>
        </p:nvSpPr>
        <p:spPr>
          <a:xfrm>
            <a:off x="3447360" y="3593520"/>
            <a:ext cx="251352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24"/>
          <p:cNvSpPr/>
          <p:nvPr/>
        </p:nvSpPr>
        <p:spPr>
          <a:xfrm>
            <a:off x="3520440" y="3657600"/>
            <a:ext cx="23673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dent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5"/>
          <p:cNvSpPr/>
          <p:nvPr/>
        </p:nvSpPr>
        <p:spPr>
          <a:xfrm>
            <a:off x="6236280" y="3593520"/>
            <a:ext cx="251352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6"/>
          <p:cNvSpPr/>
          <p:nvPr/>
        </p:nvSpPr>
        <p:spPr>
          <a:xfrm>
            <a:off x="6309360" y="3657600"/>
            <a:ext cx="23673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scratch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7"/>
          <p:cNvSpPr/>
          <p:nvPr/>
        </p:nvSpPr>
        <p:spPr>
          <a:xfrm>
            <a:off x="9025200" y="3593520"/>
            <a:ext cx="251352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8"/>
          <p:cNvSpPr/>
          <p:nvPr/>
        </p:nvSpPr>
        <p:spPr>
          <a:xfrm>
            <a:off x="9098280" y="3657600"/>
            <a:ext cx="23673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crack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9"/>
          <p:cNvSpPr/>
          <p:nvPr/>
        </p:nvSpPr>
        <p:spPr>
          <a:xfrm>
            <a:off x="658440" y="4096440"/>
            <a:ext cx="251352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30"/>
          <p:cNvSpPr/>
          <p:nvPr/>
        </p:nvSpPr>
        <p:spPr>
          <a:xfrm>
            <a:off x="731520" y="4160520"/>
            <a:ext cx="23673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glass shatter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1"/>
          <p:cNvSpPr/>
          <p:nvPr/>
        </p:nvSpPr>
        <p:spPr>
          <a:xfrm>
            <a:off x="3447360" y="4096440"/>
            <a:ext cx="251352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32"/>
          <p:cNvSpPr/>
          <p:nvPr/>
        </p:nvSpPr>
        <p:spPr>
          <a:xfrm>
            <a:off x="3520440" y="4160520"/>
            <a:ext cx="23673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lamp broken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3"/>
          <p:cNvSpPr/>
          <p:nvPr/>
        </p:nvSpPr>
        <p:spPr>
          <a:xfrm>
            <a:off x="6236280" y="4096440"/>
            <a:ext cx="251352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34"/>
          <p:cNvSpPr/>
          <p:nvPr/>
        </p:nvSpPr>
        <p:spPr>
          <a:xfrm>
            <a:off x="6309360" y="4160520"/>
            <a:ext cx="23673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tire flat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35"/>
          <p:cNvSpPr/>
          <p:nvPr/>
        </p:nvSpPr>
        <p:spPr>
          <a:xfrm>
            <a:off x="658440" y="4800600"/>
            <a:ext cx="5256720" cy="91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36"/>
          <p:cNvSpPr/>
          <p:nvPr/>
        </p:nvSpPr>
        <p:spPr>
          <a:xfrm>
            <a:off x="658440" y="4800600"/>
            <a:ext cx="53640" cy="9133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37"/>
          <p:cNvSpPr/>
          <p:nvPr/>
        </p:nvSpPr>
        <p:spPr>
          <a:xfrm>
            <a:off x="859680" y="4937760"/>
            <a:ext cx="4872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Training policy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8"/>
          <p:cNvSpPr/>
          <p:nvPr/>
        </p:nvSpPr>
        <p:spPr>
          <a:xfrm>
            <a:off x="859680" y="5276160"/>
            <a:ext cx="48726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18212f"/>
                </a:solidFill>
                <a:latin typeface="Aptos"/>
                <a:ea typeface="Aptos"/>
              </a:rPr>
              <a:t>Training: augmentation + optimization. Validation: model selection. Test: frozen until final evaluation.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39"/>
          <p:cNvSpPr/>
          <p:nvPr/>
        </p:nvSpPr>
        <p:spPr>
          <a:xfrm>
            <a:off x="6144840" y="4800600"/>
            <a:ext cx="5375520" cy="91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40"/>
          <p:cNvSpPr/>
          <p:nvPr/>
        </p:nvSpPr>
        <p:spPr>
          <a:xfrm>
            <a:off x="6144840" y="4800600"/>
            <a:ext cx="53640" cy="913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41"/>
          <p:cNvSpPr/>
          <p:nvPr/>
        </p:nvSpPr>
        <p:spPr>
          <a:xfrm>
            <a:off x="6346080" y="4937760"/>
            <a:ext cx="4991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Data constraint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42"/>
          <p:cNvSpPr/>
          <p:nvPr/>
        </p:nvSpPr>
        <p:spPr>
          <a:xfrm>
            <a:off x="6346080" y="5276160"/>
            <a:ext cx="4991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18212f"/>
                </a:solidFill>
                <a:latin typeface="Aptos"/>
                <a:ea typeface="Aptos"/>
              </a:rPr>
              <a:t>CarDD contains damage masks but no vehicle-part masks. Exact hood/bumper/fender segmentation is therefore not claimed.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sldNum" idx="9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318300FD-AEB6-44D2-8211-5512C619310A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Proposed Hybrid Model — Detailed Architecture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Locked implementation specification for the first research model.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06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594360" y="1234440"/>
            <a:ext cx="1233360" cy="10504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594360" y="1234440"/>
            <a:ext cx="53640" cy="105048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795600" y="1371600"/>
            <a:ext cx="84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Input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795600" y="1710000"/>
            <a:ext cx="84924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512×512×3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1856160" y="1627560"/>
            <a:ext cx="227520" cy="17280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8"/>
          <p:cNvSpPr/>
          <p:nvPr/>
        </p:nvSpPr>
        <p:spPr>
          <a:xfrm>
            <a:off x="2011680" y="1234440"/>
            <a:ext cx="1233360" cy="10504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2011680" y="1234440"/>
            <a:ext cx="53640" cy="105048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2212920" y="1371600"/>
            <a:ext cx="84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2212920" y="1710000"/>
            <a:ext cx="84924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128×128×64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3273480" y="1627560"/>
            <a:ext cx="227520" cy="17280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13"/>
          <p:cNvSpPr/>
          <p:nvPr/>
        </p:nvSpPr>
        <p:spPr>
          <a:xfrm>
            <a:off x="3429000" y="1234440"/>
            <a:ext cx="1233360" cy="10504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4"/>
          <p:cNvSpPr/>
          <p:nvPr/>
        </p:nvSpPr>
        <p:spPr>
          <a:xfrm>
            <a:off x="3429000" y="1234440"/>
            <a:ext cx="53640" cy="105048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5"/>
          <p:cNvSpPr/>
          <p:nvPr/>
        </p:nvSpPr>
        <p:spPr>
          <a:xfrm>
            <a:off x="3630240" y="1371600"/>
            <a:ext cx="84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3630240" y="1710000"/>
            <a:ext cx="84924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64×64×128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17"/>
          <p:cNvSpPr/>
          <p:nvPr/>
        </p:nvSpPr>
        <p:spPr>
          <a:xfrm>
            <a:off x="4690800" y="1627560"/>
            <a:ext cx="227520" cy="17280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18"/>
          <p:cNvSpPr/>
          <p:nvPr/>
        </p:nvSpPr>
        <p:spPr>
          <a:xfrm>
            <a:off x="4846320" y="1234440"/>
            <a:ext cx="1233360" cy="10504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19"/>
          <p:cNvSpPr/>
          <p:nvPr/>
        </p:nvSpPr>
        <p:spPr>
          <a:xfrm>
            <a:off x="4846320" y="1234440"/>
            <a:ext cx="53640" cy="105048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20"/>
          <p:cNvSpPr/>
          <p:nvPr/>
        </p:nvSpPr>
        <p:spPr>
          <a:xfrm>
            <a:off x="5047560" y="1371600"/>
            <a:ext cx="84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5047560" y="1710000"/>
            <a:ext cx="84924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32×32×256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22"/>
          <p:cNvSpPr/>
          <p:nvPr/>
        </p:nvSpPr>
        <p:spPr>
          <a:xfrm>
            <a:off x="6108120" y="1627560"/>
            <a:ext cx="227520" cy="17280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23"/>
          <p:cNvSpPr/>
          <p:nvPr/>
        </p:nvSpPr>
        <p:spPr>
          <a:xfrm>
            <a:off x="6263640" y="1234440"/>
            <a:ext cx="1233360" cy="10504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24"/>
          <p:cNvSpPr/>
          <p:nvPr/>
        </p:nvSpPr>
        <p:spPr>
          <a:xfrm>
            <a:off x="6263640" y="1234440"/>
            <a:ext cx="53640" cy="105048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5"/>
          <p:cNvSpPr/>
          <p:nvPr/>
        </p:nvSpPr>
        <p:spPr>
          <a:xfrm>
            <a:off x="6464880" y="1371600"/>
            <a:ext cx="84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26"/>
          <p:cNvSpPr/>
          <p:nvPr/>
        </p:nvSpPr>
        <p:spPr>
          <a:xfrm>
            <a:off x="6464880" y="1710000"/>
            <a:ext cx="84924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16×16×512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27"/>
          <p:cNvSpPr/>
          <p:nvPr/>
        </p:nvSpPr>
        <p:spPr>
          <a:xfrm>
            <a:off x="7863840" y="1097280"/>
            <a:ext cx="3610800" cy="1324800"/>
          </a:xfrm>
          <a:prstGeom prst="roundRect">
            <a:avLst>
              <a:gd name="adj" fmla="val 4138"/>
            </a:avLst>
          </a:prstGeom>
          <a:solidFill>
            <a:srgbClr val="f1eeff"/>
          </a:solidFill>
          <a:ln w="10160">
            <a:solidFill>
              <a:srgbClr val="d8d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28"/>
          <p:cNvSpPr/>
          <p:nvPr/>
        </p:nvSpPr>
        <p:spPr>
          <a:xfrm>
            <a:off x="8119800" y="1280160"/>
            <a:ext cx="155340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2" strike="noStrike">
                <a:solidFill>
                  <a:srgbClr val="7a5af8"/>
                </a:solidFill>
                <a:latin typeface="Aptos"/>
              </a:rPr>
              <a:t>TRANSFORMER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29"/>
          <p:cNvSpPr/>
          <p:nvPr/>
        </p:nvSpPr>
        <p:spPr>
          <a:xfrm>
            <a:off x="8119800" y="1554480"/>
            <a:ext cx="301644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14213d"/>
                </a:solidFill>
                <a:latin typeface="Aptos"/>
              </a:rPr>
              <a:t>4 blocks • 4 heads • dim 256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14213d"/>
                </a:solidFill>
                <a:latin typeface="Aptos"/>
              </a:rPr>
              <a:t>FFN 1024 • GELU • Pre-LN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30" spc="-1" strike="noStrike">
                <a:solidFill>
                  <a:srgbClr val="14213d"/>
                </a:solidFill>
                <a:latin typeface="Aptos"/>
              </a:rPr>
              <a:t>16×16 tokens + learned 2-D position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30"/>
          <p:cNvSpPr/>
          <p:nvPr/>
        </p:nvSpPr>
        <p:spPr>
          <a:xfrm>
            <a:off x="7178400" y="1625400"/>
            <a:ext cx="821880" cy="23652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31"/>
          <p:cNvSpPr/>
          <p:nvPr/>
        </p:nvSpPr>
        <p:spPr>
          <a:xfrm>
            <a:off x="640080" y="2788920"/>
            <a:ext cx="474480" cy="29160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32"/>
          <p:cNvSpPr/>
          <p:nvPr/>
        </p:nvSpPr>
        <p:spPr>
          <a:xfrm>
            <a:off x="640080" y="2853000"/>
            <a:ext cx="474480" cy="1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M1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33"/>
          <p:cNvSpPr/>
          <p:nvPr/>
        </p:nvSpPr>
        <p:spPr>
          <a:xfrm>
            <a:off x="1225440" y="2825640"/>
            <a:ext cx="10962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Decoder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34"/>
          <p:cNvSpPr/>
          <p:nvPr/>
        </p:nvSpPr>
        <p:spPr>
          <a:xfrm>
            <a:off x="658440" y="3218760"/>
            <a:ext cx="1553400" cy="10504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35"/>
          <p:cNvSpPr/>
          <p:nvPr/>
        </p:nvSpPr>
        <p:spPr>
          <a:xfrm>
            <a:off x="658440" y="3218760"/>
            <a:ext cx="53640" cy="105048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6"/>
          <p:cNvSpPr/>
          <p:nvPr/>
        </p:nvSpPr>
        <p:spPr>
          <a:xfrm>
            <a:off x="859680" y="3355920"/>
            <a:ext cx="11692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16×16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37"/>
          <p:cNvSpPr/>
          <p:nvPr/>
        </p:nvSpPr>
        <p:spPr>
          <a:xfrm>
            <a:off x="859680" y="3694320"/>
            <a:ext cx="11692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256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38"/>
          <p:cNvSpPr/>
          <p:nvPr/>
        </p:nvSpPr>
        <p:spPr>
          <a:xfrm>
            <a:off x="2249280" y="3566160"/>
            <a:ext cx="200160" cy="16344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39"/>
          <p:cNvSpPr/>
          <p:nvPr/>
        </p:nvSpPr>
        <p:spPr>
          <a:xfrm>
            <a:off x="2487240" y="3218760"/>
            <a:ext cx="1553400" cy="10504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40"/>
          <p:cNvSpPr/>
          <p:nvPr/>
        </p:nvSpPr>
        <p:spPr>
          <a:xfrm>
            <a:off x="2487240" y="3218760"/>
            <a:ext cx="53640" cy="105048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41"/>
          <p:cNvSpPr/>
          <p:nvPr/>
        </p:nvSpPr>
        <p:spPr>
          <a:xfrm>
            <a:off x="2688480" y="3355920"/>
            <a:ext cx="11692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32×32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42"/>
          <p:cNvSpPr/>
          <p:nvPr/>
        </p:nvSpPr>
        <p:spPr>
          <a:xfrm>
            <a:off x="2688480" y="3694320"/>
            <a:ext cx="11692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256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43"/>
          <p:cNvSpPr/>
          <p:nvPr/>
        </p:nvSpPr>
        <p:spPr>
          <a:xfrm>
            <a:off x="4078080" y="3566160"/>
            <a:ext cx="200160" cy="16344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44"/>
          <p:cNvSpPr/>
          <p:nvPr/>
        </p:nvSpPr>
        <p:spPr>
          <a:xfrm>
            <a:off x="4316040" y="3218760"/>
            <a:ext cx="1553400" cy="10504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45"/>
          <p:cNvSpPr/>
          <p:nvPr/>
        </p:nvSpPr>
        <p:spPr>
          <a:xfrm>
            <a:off x="4316040" y="3218760"/>
            <a:ext cx="53640" cy="105048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46"/>
          <p:cNvSpPr/>
          <p:nvPr/>
        </p:nvSpPr>
        <p:spPr>
          <a:xfrm>
            <a:off x="4517280" y="3355920"/>
            <a:ext cx="11692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64×64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47"/>
          <p:cNvSpPr/>
          <p:nvPr/>
        </p:nvSpPr>
        <p:spPr>
          <a:xfrm>
            <a:off x="4517280" y="3694320"/>
            <a:ext cx="11692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128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48"/>
          <p:cNvSpPr/>
          <p:nvPr/>
        </p:nvSpPr>
        <p:spPr>
          <a:xfrm>
            <a:off x="5906880" y="3566160"/>
            <a:ext cx="200160" cy="16344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49"/>
          <p:cNvSpPr/>
          <p:nvPr/>
        </p:nvSpPr>
        <p:spPr>
          <a:xfrm>
            <a:off x="6144840" y="3218760"/>
            <a:ext cx="1553400" cy="10504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50"/>
          <p:cNvSpPr/>
          <p:nvPr/>
        </p:nvSpPr>
        <p:spPr>
          <a:xfrm>
            <a:off x="6144840" y="3218760"/>
            <a:ext cx="53640" cy="105048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51"/>
          <p:cNvSpPr/>
          <p:nvPr/>
        </p:nvSpPr>
        <p:spPr>
          <a:xfrm>
            <a:off x="6346080" y="3355920"/>
            <a:ext cx="11692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128×128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52"/>
          <p:cNvSpPr/>
          <p:nvPr/>
        </p:nvSpPr>
        <p:spPr>
          <a:xfrm>
            <a:off x="6346080" y="3694320"/>
            <a:ext cx="11692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64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53"/>
          <p:cNvSpPr/>
          <p:nvPr/>
        </p:nvSpPr>
        <p:spPr>
          <a:xfrm>
            <a:off x="7735680" y="3566160"/>
            <a:ext cx="200160" cy="16344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54"/>
          <p:cNvSpPr/>
          <p:nvPr/>
        </p:nvSpPr>
        <p:spPr>
          <a:xfrm>
            <a:off x="7973640" y="3218760"/>
            <a:ext cx="1553400" cy="10504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55"/>
          <p:cNvSpPr/>
          <p:nvPr/>
        </p:nvSpPr>
        <p:spPr>
          <a:xfrm>
            <a:off x="7973640" y="3218760"/>
            <a:ext cx="53640" cy="105048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56"/>
          <p:cNvSpPr/>
          <p:nvPr/>
        </p:nvSpPr>
        <p:spPr>
          <a:xfrm>
            <a:off x="8174880" y="3355920"/>
            <a:ext cx="11692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256×256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57"/>
          <p:cNvSpPr/>
          <p:nvPr/>
        </p:nvSpPr>
        <p:spPr>
          <a:xfrm>
            <a:off x="8174880" y="3694320"/>
            <a:ext cx="11692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64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58"/>
          <p:cNvSpPr/>
          <p:nvPr/>
        </p:nvSpPr>
        <p:spPr>
          <a:xfrm>
            <a:off x="9564480" y="3566160"/>
            <a:ext cx="200160" cy="16344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59"/>
          <p:cNvSpPr/>
          <p:nvPr/>
        </p:nvSpPr>
        <p:spPr>
          <a:xfrm>
            <a:off x="9802440" y="3218760"/>
            <a:ext cx="1553400" cy="105048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60"/>
          <p:cNvSpPr/>
          <p:nvPr/>
        </p:nvSpPr>
        <p:spPr>
          <a:xfrm>
            <a:off x="9802440" y="3218760"/>
            <a:ext cx="53640" cy="105048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61"/>
          <p:cNvSpPr/>
          <p:nvPr/>
        </p:nvSpPr>
        <p:spPr>
          <a:xfrm>
            <a:off x="10003680" y="3355920"/>
            <a:ext cx="11692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512×512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62"/>
          <p:cNvSpPr/>
          <p:nvPr/>
        </p:nvSpPr>
        <p:spPr>
          <a:xfrm>
            <a:off x="10003680" y="3694320"/>
            <a:ext cx="1169280" cy="44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channels 32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63"/>
          <p:cNvSpPr/>
          <p:nvPr/>
        </p:nvSpPr>
        <p:spPr>
          <a:xfrm>
            <a:off x="658440" y="4617720"/>
            <a:ext cx="3427920" cy="9590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64"/>
          <p:cNvSpPr/>
          <p:nvPr/>
        </p:nvSpPr>
        <p:spPr>
          <a:xfrm>
            <a:off x="658440" y="4617720"/>
            <a:ext cx="53640" cy="959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65"/>
          <p:cNvSpPr/>
          <p:nvPr/>
        </p:nvSpPr>
        <p:spPr>
          <a:xfrm>
            <a:off x="859680" y="4754880"/>
            <a:ext cx="3043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Fusion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66"/>
          <p:cNvSpPr/>
          <p:nvPr/>
        </p:nvSpPr>
        <p:spPr>
          <a:xfrm>
            <a:off x="859680" y="5093280"/>
            <a:ext cx="30438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Projected CNN C5 + Transformer output → element-wise addition.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67"/>
          <p:cNvSpPr/>
          <p:nvPr/>
        </p:nvSpPr>
        <p:spPr>
          <a:xfrm>
            <a:off x="4297680" y="4617720"/>
            <a:ext cx="3427920" cy="9590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68"/>
          <p:cNvSpPr/>
          <p:nvPr/>
        </p:nvSpPr>
        <p:spPr>
          <a:xfrm>
            <a:off x="4297680" y="4617720"/>
            <a:ext cx="53640" cy="9590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69"/>
          <p:cNvSpPr/>
          <p:nvPr/>
        </p:nvSpPr>
        <p:spPr>
          <a:xfrm>
            <a:off x="4498920" y="4754880"/>
            <a:ext cx="30438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Deep supervision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70"/>
          <p:cNvSpPr/>
          <p:nvPr/>
        </p:nvSpPr>
        <p:spPr>
          <a:xfrm>
            <a:off x="4498920" y="5093280"/>
            <a:ext cx="304380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Auxiliary heads at 128² and 64²; weights 0.15 / 0.10; main = 0.75.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71"/>
          <p:cNvSpPr/>
          <p:nvPr/>
        </p:nvSpPr>
        <p:spPr>
          <a:xfrm>
            <a:off x="7936920" y="4617720"/>
            <a:ext cx="3583440" cy="9590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72"/>
          <p:cNvSpPr/>
          <p:nvPr/>
        </p:nvSpPr>
        <p:spPr>
          <a:xfrm>
            <a:off x="7936920" y="4617720"/>
            <a:ext cx="53640" cy="9590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73"/>
          <p:cNvSpPr/>
          <p:nvPr/>
        </p:nvSpPr>
        <p:spPr>
          <a:xfrm>
            <a:off x="8138160" y="4754880"/>
            <a:ext cx="3199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Output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74"/>
          <p:cNvSpPr/>
          <p:nvPr/>
        </p:nvSpPr>
        <p:spPr>
          <a:xfrm>
            <a:off x="8138160" y="5093280"/>
            <a:ext cx="3199320" cy="3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7-channel logits → pixel class + region mask + derived confidence.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sldNum" idx="10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929C2335-7026-45CA-8F4C-ABCA58ED1749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Training Objective &amp; Confidence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Training choices are shared with the controlled baseline unless explicitly marked as a later ablation.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07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3"/>
          <p:cNvSpPr/>
          <p:nvPr/>
        </p:nvSpPr>
        <p:spPr>
          <a:xfrm>
            <a:off x="658440" y="1234440"/>
            <a:ext cx="3382200" cy="14162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4"/>
          <p:cNvSpPr/>
          <p:nvPr/>
        </p:nvSpPr>
        <p:spPr>
          <a:xfrm>
            <a:off x="658440" y="1234440"/>
            <a:ext cx="53640" cy="14162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859680" y="1371600"/>
            <a:ext cx="2998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Core loss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859680" y="1710000"/>
            <a:ext cx="299808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L = 0.50 × Dice + 0.50 × Focal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Focal γ = 2.0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Foreground-only Dice; class weights from training split.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7"/>
          <p:cNvSpPr/>
          <p:nvPr/>
        </p:nvSpPr>
        <p:spPr>
          <a:xfrm>
            <a:off x="4297680" y="1234440"/>
            <a:ext cx="3382200" cy="14162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8"/>
          <p:cNvSpPr/>
          <p:nvPr/>
        </p:nvSpPr>
        <p:spPr>
          <a:xfrm>
            <a:off x="4297680" y="1234440"/>
            <a:ext cx="53640" cy="14162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9"/>
          <p:cNvSpPr/>
          <p:nvPr/>
        </p:nvSpPr>
        <p:spPr>
          <a:xfrm>
            <a:off x="4498920" y="1371600"/>
            <a:ext cx="2998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Optimization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0"/>
          <p:cNvSpPr/>
          <p:nvPr/>
        </p:nvSpPr>
        <p:spPr>
          <a:xfrm>
            <a:off x="4498920" y="1710000"/>
            <a:ext cx="299808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AdamW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LR: 1e−4 (encoder), 3e−4 (new modules)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5-epoch warm-up + cosine decay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60 epoch max / early stop 10.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1"/>
          <p:cNvSpPr/>
          <p:nvPr/>
        </p:nvSpPr>
        <p:spPr>
          <a:xfrm>
            <a:off x="7936920" y="1234440"/>
            <a:ext cx="3583440" cy="14162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2"/>
          <p:cNvSpPr/>
          <p:nvPr/>
        </p:nvSpPr>
        <p:spPr>
          <a:xfrm>
            <a:off x="7936920" y="1234440"/>
            <a:ext cx="53640" cy="1416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13"/>
          <p:cNvSpPr/>
          <p:nvPr/>
        </p:nvSpPr>
        <p:spPr>
          <a:xfrm>
            <a:off x="8138160" y="1371600"/>
            <a:ext cx="3199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Memory strategy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14"/>
          <p:cNvSpPr/>
          <p:nvPr/>
        </p:nvSpPr>
        <p:spPr>
          <a:xfrm>
            <a:off x="8138160" y="1710000"/>
            <a:ext cx="319932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Mixed precision • effective batch ≈ 4 • gradient accumulation when required • EMA • frozen BN statistics for small-batch training.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5"/>
          <p:cNvSpPr/>
          <p:nvPr/>
        </p:nvSpPr>
        <p:spPr>
          <a:xfrm>
            <a:off x="658440" y="3154680"/>
            <a:ext cx="474480" cy="29160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16"/>
          <p:cNvSpPr/>
          <p:nvPr/>
        </p:nvSpPr>
        <p:spPr>
          <a:xfrm>
            <a:off x="658440" y="3218760"/>
            <a:ext cx="474480" cy="1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C1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17"/>
          <p:cNvSpPr/>
          <p:nvPr/>
        </p:nvSpPr>
        <p:spPr>
          <a:xfrm>
            <a:off x="1243440" y="3191400"/>
            <a:ext cx="11876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Confidence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8"/>
          <p:cNvSpPr/>
          <p:nvPr/>
        </p:nvSpPr>
        <p:spPr>
          <a:xfrm>
            <a:off x="658440" y="3611880"/>
            <a:ext cx="2330640" cy="1004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9"/>
          <p:cNvSpPr/>
          <p:nvPr/>
        </p:nvSpPr>
        <p:spPr>
          <a:xfrm>
            <a:off x="658440" y="3611880"/>
            <a:ext cx="53640" cy="10047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20"/>
          <p:cNvSpPr/>
          <p:nvPr/>
        </p:nvSpPr>
        <p:spPr>
          <a:xfrm>
            <a:off x="859680" y="3749040"/>
            <a:ext cx="1946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Segmentation logits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21"/>
          <p:cNvSpPr/>
          <p:nvPr/>
        </p:nvSpPr>
        <p:spPr>
          <a:xfrm>
            <a:off x="859680" y="4087440"/>
            <a:ext cx="1946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Model evidence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22"/>
          <p:cNvSpPr/>
          <p:nvPr/>
        </p:nvSpPr>
        <p:spPr>
          <a:xfrm>
            <a:off x="3054240" y="3959280"/>
            <a:ext cx="254880" cy="163440"/>
          </a:xfrm>
          <a:prstGeom prst="chevron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Shape 23"/>
          <p:cNvSpPr/>
          <p:nvPr/>
        </p:nvSpPr>
        <p:spPr>
          <a:xfrm>
            <a:off x="3383280" y="3611880"/>
            <a:ext cx="2330640" cy="1004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24"/>
          <p:cNvSpPr/>
          <p:nvPr/>
        </p:nvSpPr>
        <p:spPr>
          <a:xfrm>
            <a:off x="3383280" y="3611880"/>
            <a:ext cx="53640" cy="100476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25"/>
          <p:cNvSpPr/>
          <p:nvPr/>
        </p:nvSpPr>
        <p:spPr>
          <a:xfrm>
            <a:off x="3584520" y="3749040"/>
            <a:ext cx="1946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Softmax probability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26"/>
          <p:cNvSpPr/>
          <p:nvPr/>
        </p:nvSpPr>
        <p:spPr>
          <a:xfrm>
            <a:off x="3584520" y="4087440"/>
            <a:ext cx="1946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Max class probability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7"/>
          <p:cNvSpPr/>
          <p:nvPr/>
        </p:nvSpPr>
        <p:spPr>
          <a:xfrm>
            <a:off x="5779080" y="3959280"/>
            <a:ext cx="254880" cy="16344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28"/>
          <p:cNvSpPr/>
          <p:nvPr/>
        </p:nvSpPr>
        <p:spPr>
          <a:xfrm>
            <a:off x="6108120" y="3611880"/>
            <a:ext cx="2330640" cy="1004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9"/>
          <p:cNvSpPr/>
          <p:nvPr/>
        </p:nvSpPr>
        <p:spPr>
          <a:xfrm>
            <a:off x="6108120" y="3611880"/>
            <a:ext cx="53640" cy="100476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30"/>
          <p:cNvSpPr/>
          <p:nvPr/>
        </p:nvSpPr>
        <p:spPr>
          <a:xfrm>
            <a:off x="6309360" y="3749040"/>
            <a:ext cx="1946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Region confidence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31"/>
          <p:cNvSpPr/>
          <p:nvPr/>
        </p:nvSpPr>
        <p:spPr>
          <a:xfrm>
            <a:off x="6309360" y="4087440"/>
            <a:ext cx="1946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Mean predicted-class probability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32"/>
          <p:cNvSpPr/>
          <p:nvPr/>
        </p:nvSpPr>
        <p:spPr>
          <a:xfrm>
            <a:off x="8503920" y="3959280"/>
            <a:ext cx="254880" cy="16344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33"/>
          <p:cNvSpPr/>
          <p:nvPr/>
        </p:nvSpPr>
        <p:spPr>
          <a:xfrm>
            <a:off x="8832960" y="3611880"/>
            <a:ext cx="2330640" cy="1004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34"/>
          <p:cNvSpPr/>
          <p:nvPr/>
        </p:nvSpPr>
        <p:spPr>
          <a:xfrm>
            <a:off x="8832960" y="3611880"/>
            <a:ext cx="53640" cy="100476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35"/>
          <p:cNvSpPr/>
          <p:nvPr/>
        </p:nvSpPr>
        <p:spPr>
          <a:xfrm>
            <a:off x="9034200" y="3749040"/>
            <a:ext cx="1946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Validation calibration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36"/>
          <p:cNvSpPr/>
          <p:nvPr/>
        </p:nvSpPr>
        <p:spPr>
          <a:xfrm>
            <a:off x="9034200" y="4087440"/>
            <a:ext cx="1946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Temperature scaling on validation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37"/>
          <p:cNvSpPr/>
          <p:nvPr/>
        </p:nvSpPr>
        <p:spPr>
          <a:xfrm>
            <a:off x="658440" y="4892040"/>
            <a:ext cx="5256720" cy="89496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38"/>
          <p:cNvSpPr/>
          <p:nvPr/>
        </p:nvSpPr>
        <p:spPr>
          <a:xfrm>
            <a:off x="658440" y="4892040"/>
            <a:ext cx="53640" cy="894960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39"/>
          <p:cNvSpPr/>
          <p:nvPr/>
        </p:nvSpPr>
        <p:spPr>
          <a:xfrm>
            <a:off x="859680" y="5029200"/>
            <a:ext cx="4872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Important separation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40"/>
          <p:cNvSpPr/>
          <p:nvPr/>
        </p:nvSpPr>
        <p:spPr>
          <a:xfrm>
            <a:off x="859680" y="5367600"/>
            <a:ext cx="4872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8212f"/>
                </a:solidFill>
                <a:latin typeface="Aptos"/>
                <a:ea typeface="Aptos"/>
              </a:rPr>
              <a:t>Low confidence ≠ poor photo. A quality failure is handled by the classical image-quality gate; model uncertainty is handled after segmentation.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41"/>
          <p:cNvSpPr/>
          <p:nvPr/>
        </p:nvSpPr>
        <p:spPr>
          <a:xfrm>
            <a:off x="6144840" y="4892040"/>
            <a:ext cx="5375520" cy="89496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42"/>
          <p:cNvSpPr/>
          <p:nvPr/>
        </p:nvSpPr>
        <p:spPr>
          <a:xfrm>
            <a:off x="6144840" y="4892040"/>
            <a:ext cx="53640" cy="89496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43"/>
          <p:cNvSpPr/>
          <p:nvPr/>
        </p:nvSpPr>
        <p:spPr>
          <a:xfrm>
            <a:off x="6346080" y="5029200"/>
            <a:ext cx="4991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Product consequence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44"/>
          <p:cNvSpPr/>
          <p:nvPr/>
        </p:nvSpPr>
        <p:spPr>
          <a:xfrm>
            <a:off x="6346080" y="5367600"/>
            <a:ext cx="4991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18212f"/>
                </a:solidFill>
                <a:latin typeface="Aptos"/>
                <a:ea typeface="Aptos"/>
              </a:rPr>
              <a:t>The calibrated evidence can trigger clarification / retake guidance; the LLM never invents an unsupported damage class.</a:t>
            </a:r>
            <a:endParaRPr b="0" lang="en-US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sldNum" idx="11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F02ADCE0-9193-432A-A4AE-6974F0B740E7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Research Experiments &amp; Ablation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The core comparison isolates the Transformer contribution.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08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"/>
          <p:cNvSpPr/>
          <p:nvPr/>
        </p:nvSpPr>
        <p:spPr>
          <a:xfrm>
            <a:off x="658440" y="1234440"/>
            <a:ext cx="3245040" cy="182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4"/>
          <p:cNvSpPr/>
          <p:nvPr/>
        </p:nvSpPr>
        <p:spPr>
          <a:xfrm>
            <a:off x="658440" y="1234440"/>
            <a:ext cx="53640" cy="18277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859680" y="1371600"/>
            <a:ext cx="286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A — Controlled baseline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859680" y="1710000"/>
            <a:ext cx="2860920" cy="12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ResNet34 encoder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U-Net decoder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shared loss / augmentation / EMA / sampling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+ 7-channel output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7"/>
          <p:cNvSpPr/>
          <p:nvPr/>
        </p:nvSpPr>
        <p:spPr>
          <a:xfrm>
            <a:off x="4096440" y="1856160"/>
            <a:ext cx="501840" cy="25488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Shape 8"/>
          <p:cNvSpPr/>
          <p:nvPr/>
        </p:nvSpPr>
        <p:spPr>
          <a:xfrm>
            <a:off x="4709160" y="1234440"/>
            <a:ext cx="3245040" cy="182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9"/>
          <p:cNvSpPr/>
          <p:nvPr/>
        </p:nvSpPr>
        <p:spPr>
          <a:xfrm>
            <a:off x="4709160" y="1234440"/>
            <a:ext cx="53640" cy="18277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10"/>
          <p:cNvSpPr/>
          <p:nvPr/>
        </p:nvSpPr>
        <p:spPr>
          <a:xfrm>
            <a:off x="4910400" y="1371600"/>
            <a:ext cx="286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B — Proposed hybrid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11"/>
          <p:cNvSpPr/>
          <p:nvPr/>
        </p:nvSpPr>
        <p:spPr>
          <a:xfrm>
            <a:off x="4910400" y="1710000"/>
            <a:ext cx="2860920" cy="12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Same ResNet34 + decoder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+ 16×16 bottleneck Transformer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projected additive fusion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+ same training protocol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2"/>
          <p:cNvSpPr/>
          <p:nvPr/>
        </p:nvSpPr>
        <p:spPr>
          <a:xfrm>
            <a:off x="8156520" y="1856160"/>
            <a:ext cx="501840" cy="25488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13"/>
          <p:cNvSpPr/>
          <p:nvPr/>
        </p:nvSpPr>
        <p:spPr>
          <a:xfrm>
            <a:off x="8778240" y="1234440"/>
            <a:ext cx="2742120" cy="182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4"/>
          <p:cNvSpPr/>
          <p:nvPr/>
        </p:nvSpPr>
        <p:spPr>
          <a:xfrm>
            <a:off x="8778240" y="1234440"/>
            <a:ext cx="53640" cy="18277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15"/>
          <p:cNvSpPr/>
          <p:nvPr/>
        </p:nvSpPr>
        <p:spPr>
          <a:xfrm>
            <a:off x="8979480" y="1371600"/>
            <a:ext cx="23580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Evidence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16"/>
          <p:cNvSpPr/>
          <p:nvPr/>
        </p:nvSpPr>
        <p:spPr>
          <a:xfrm>
            <a:off x="8979480" y="1710000"/>
            <a:ext cx="2358000" cy="12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Overall mIoU / Dice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Per-class results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Small-damage analysis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pc="-1" strike="noStrike">
                <a:solidFill>
                  <a:srgbClr val="18212f"/>
                </a:solidFill>
                <a:latin typeface="Aptos"/>
                <a:ea typeface="Aptos"/>
              </a:rPr>
              <a:t>Latency / VRAM / parameters</a:t>
            </a:r>
            <a:endParaRPr b="0" lang="en-U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7"/>
          <p:cNvSpPr/>
          <p:nvPr/>
        </p:nvSpPr>
        <p:spPr>
          <a:xfrm>
            <a:off x="658440" y="3474720"/>
            <a:ext cx="474480" cy="29160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18"/>
          <p:cNvSpPr/>
          <p:nvPr/>
        </p:nvSpPr>
        <p:spPr>
          <a:xfrm>
            <a:off x="658440" y="3538800"/>
            <a:ext cx="474480" cy="1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Abl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19"/>
          <p:cNvSpPr/>
          <p:nvPr/>
        </p:nvSpPr>
        <p:spPr>
          <a:xfrm>
            <a:off x="1243440" y="3511440"/>
            <a:ext cx="1919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Optional later experiments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20"/>
          <p:cNvSpPr/>
          <p:nvPr/>
        </p:nvSpPr>
        <p:spPr>
          <a:xfrm>
            <a:off x="658440" y="3950280"/>
            <a:ext cx="5211000" cy="73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21"/>
          <p:cNvSpPr/>
          <p:nvPr/>
        </p:nvSpPr>
        <p:spPr>
          <a:xfrm>
            <a:off x="658440" y="3950280"/>
            <a:ext cx="53640" cy="730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22"/>
          <p:cNvSpPr/>
          <p:nvPr/>
        </p:nvSpPr>
        <p:spPr>
          <a:xfrm>
            <a:off x="859680" y="4087440"/>
            <a:ext cx="4826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Boundary loss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23"/>
          <p:cNvSpPr/>
          <p:nvPr/>
        </p:nvSpPr>
        <p:spPr>
          <a:xfrm>
            <a:off x="859680" y="4425840"/>
            <a:ext cx="4826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Only after core A/B comparison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24"/>
          <p:cNvSpPr/>
          <p:nvPr/>
        </p:nvSpPr>
        <p:spPr>
          <a:xfrm>
            <a:off x="6144840" y="3950280"/>
            <a:ext cx="5211000" cy="73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25"/>
          <p:cNvSpPr/>
          <p:nvPr/>
        </p:nvSpPr>
        <p:spPr>
          <a:xfrm>
            <a:off x="6144840" y="3950280"/>
            <a:ext cx="53640" cy="7304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26"/>
          <p:cNvSpPr/>
          <p:nvPr/>
        </p:nvSpPr>
        <p:spPr>
          <a:xfrm>
            <a:off x="6346080" y="4087440"/>
            <a:ext cx="4826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YOLO11-seg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27"/>
          <p:cNvSpPr/>
          <p:nvPr/>
        </p:nvSpPr>
        <p:spPr>
          <a:xfrm>
            <a:off x="6346080" y="4425840"/>
            <a:ext cx="4826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Practical comparator if time permits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28"/>
          <p:cNvSpPr/>
          <p:nvPr/>
        </p:nvSpPr>
        <p:spPr>
          <a:xfrm>
            <a:off x="658440" y="4864680"/>
            <a:ext cx="5211000" cy="73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29"/>
          <p:cNvSpPr/>
          <p:nvPr/>
        </p:nvSpPr>
        <p:spPr>
          <a:xfrm>
            <a:off x="658440" y="4864680"/>
            <a:ext cx="53640" cy="7304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30"/>
          <p:cNvSpPr/>
          <p:nvPr/>
        </p:nvSpPr>
        <p:spPr>
          <a:xfrm>
            <a:off x="859680" y="5001840"/>
            <a:ext cx="4826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Mask2Former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31"/>
          <p:cNvSpPr/>
          <p:nvPr/>
        </p:nvSpPr>
        <p:spPr>
          <a:xfrm>
            <a:off x="859680" y="5340240"/>
            <a:ext cx="4826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Pretrained fine-tuning stretch goal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32"/>
          <p:cNvSpPr/>
          <p:nvPr/>
        </p:nvSpPr>
        <p:spPr>
          <a:xfrm>
            <a:off x="6144840" y="4864680"/>
            <a:ext cx="5211000" cy="73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33"/>
          <p:cNvSpPr/>
          <p:nvPr/>
        </p:nvSpPr>
        <p:spPr>
          <a:xfrm>
            <a:off x="6144840" y="4864680"/>
            <a:ext cx="53640" cy="7304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34"/>
          <p:cNvSpPr/>
          <p:nvPr/>
        </p:nvSpPr>
        <p:spPr>
          <a:xfrm>
            <a:off x="6346080" y="5001840"/>
            <a:ext cx="4826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35"/>
          <p:cNvSpPr/>
          <p:nvPr/>
        </p:nvSpPr>
        <p:spPr>
          <a:xfrm>
            <a:off x="6346080" y="5340240"/>
            <a:ext cx="4826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Separate secondary evaluation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1"/>
          <p:cNvSpPr>
            <a:spLocks noGrp="1"/>
          </p:cNvSpPr>
          <p:nvPr>
            <p:ph type="sldNum" idx="12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24D6616-5DC1-4264-92EA-23CE4671BDB5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Evaluation Plan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Measure segmentation quality, class behavior, small-damage performance and practical efficiency.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09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3"/>
          <p:cNvSpPr/>
          <p:nvPr/>
        </p:nvSpPr>
        <p:spPr>
          <a:xfrm>
            <a:off x="658440" y="1234440"/>
            <a:ext cx="525672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4"/>
          <p:cNvSpPr/>
          <p:nvPr/>
        </p:nvSpPr>
        <p:spPr>
          <a:xfrm>
            <a:off x="658440" y="1234440"/>
            <a:ext cx="53640" cy="114192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5"/>
          <p:cNvSpPr/>
          <p:nvPr/>
        </p:nvSpPr>
        <p:spPr>
          <a:xfrm>
            <a:off x="859680" y="1371600"/>
            <a:ext cx="4872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Primary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6"/>
          <p:cNvSpPr/>
          <p:nvPr/>
        </p:nvSpPr>
        <p:spPr>
          <a:xfrm>
            <a:off x="859680" y="1710000"/>
            <a:ext cx="48726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Foreground mIoU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Foreground mean Dice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7"/>
          <p:cNvSpPr/>
          <p:nvPr/>
        </p:nvSpPr>
        <p:spPr>
          <a:xfrm>
            <a:off x="6190560" y="1234440"/>
            <a:ext cx="525672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8"/>
          <p:cNvSpPr/>
          <p:nvPr/>
        </p:nvSpPr>
        <p:spPr>
          <a:xfrm>
            <a:off x="6190560" y="1234440"/>
            <a:ext cx="53640" cy="11419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9"/>
          <p:cNvSpPr/>
          <p:nvPr/>
        </p:nvSpPr>
        <p:spPr>
          <a:xfrm>
            <a:off x="6391800" y="1371600"/>
            <a:ext cx="4872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Per class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0"/>
          <p:cNvSpPr/>
          <p:nvPr/>
        </p:nvSpPr>
        <p:spPr>
          <a:xfrm>
            <a:off x="6391800" y="1710000"/>
            <a:ext cx="48726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IoU + Dice for all six classes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1"/>
          <p:cNvSpPr/>
          <p:nvPr/>
        </p:nvSpPr>
        <p:spPr>
          <a:xfrm>
            <a:off x="658440" y="2651760"/>
            <a:ext cx="525672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12"/>
          <p:cNvSpPr/>
          <p:nvPr/>
        </p:nvSpPr>
        <p:spPr>
          <a:xfrm>
            <a:off x="658440" y="2651760"/>
            <a:ext cx="53640" cy="114192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13"/>
          <p:cNvSpPr/>
          <p:nvPr/>
        </p:nvSpPr>
        <p:spPr>
          <a:xfrm>
            <a:off x="859680" y="2788920"/>
            <a:ext cx="4872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Small damage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14"/>
          <p:cNvSpPr/>
          <p:nvPr/>
        </p:nvSpPr>
        <p:spPr>
          <a:xfrm>
            <a:off x="859680" y="3127320"/>
            <a:ext cx="48726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Small / medium / large mask strata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15"/>
          <p:cNvSpPr/>
          <p:nvPr/>
        </p:nvSpPr>
        <p:spPr>
          <a:xfrm>
            <a:off x="6190560" y="2651760"/>
            <a:ext cx="525672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16"/>
          <p:cNvSpPr/>
          <p:nvPr/>
        </p:nvSpPr>
        <p:spPr>
          <a:xfrm>
            <a:off x="6190560" y="2651760"/>
            <a:ext cx="53640" cy="114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17"/>
          <p:cNvSpPr/>
          <p:nvPr/>
        </p:nvSpPr>
        <p:spPr>
          <a:xfrm>
            <a:off x="6391800" y="2788920"/>
            <a:ext cx="4872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Efficiency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18"/>
          <p:cNvSpPr/>
          <p:nvPr/>
        </p:nvSpPr>
        <p:spPr>
          <a:xfrm>
            <a:off x="6391800" y="3127320"/>
            <a:ext cx="48726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Parameters • VRAM • latency • training time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9"/>
          <p:cNvSpPr/>
          <p:nvPr/>
        </p:nvSpPr>
        <p:spPr>
          <a:xfrm>
            <a:off x="658440" y="4251960"/>
            <a:ext cx="474480" cy="29160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20"/>
          <p:cNvSpPr/>
          <p:nvPr/>
        </p:nvSpPr>
        <p:spPr>
          <a:xfrm>
            <a:off x="658440" y="4316040"/>
            <a:ext cx="474480" cy="1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E1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21"/>
          <p:cNvSpPr/>
          <p:nvPr/>
        </p:nvSpPr>
        <p:spPr>
          <a:xfrm>
            <a:off x="1243440" y="4288680"/>
            <a:ext cx="1141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Robustness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22"/>
          <p:cNvSpPr/>
          <p:nvPr/>
        </p:nvSpPr>
        <p:spPr>
          <a:xfrm>
            <a:off x="658440" y="4663440"/>
            <a:ext cx="3245040" cy="91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3"/>
          <p:cNvSpPr/>
          <p:nvPr/>
        </p:nvSpPr>
        <p:spPr>
          <a:xfrm>
            <a:off x="658440" y="4663440"/>
            <a:ext cx="53640" cy="91332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24"/>
          <p:cNvSpPr/>
          <p:nvPr/>
        </p:nvSpPr>
        <p:spPr>
          <a:xfrm>
            <a:off x="859680" y="4800600"/>
            <a:ext cx="286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2 seeds per architecture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25"/>
          <p:cNvSpPr/>
          <p:nvPr/>
        </p:nvSpPr>
        <p:spPr>
          <a:xfrm>
            <a:off x="859680" y="5139000"/>
            <a:ext cx="2860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42 • 1337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Report per-seed spread; third seed outstanding.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26"/>
          <p:cNvSpPr/>
          <p:nvPr/>
        </p:nvSpPr>
        <p:spPr>
          <a:xfrm>
            <a:off x="4187880" y="4663440"/>
            <a:ext cx="3245040" cy="91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7"/>
          <p:cNvSpPr/>
          <p:nvPr/>
        </p:nvSpPr>
        <p:spPr>
          <a:xfrm>
            <a:off x="4187880" y="4663440"/>
            <a:ext cx="53640" cy="913320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28"/>
          <p:cNvSpPr/>
          <p:nvPr/>
        </p:nvSpPr>
        <p:spPr>
          <a:xfrm>
            <a:off x="4389120" y="4800600"/>
            <a:ext cx="286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Error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29"/>
          <p:cNvSpPr/>
          <p:nvPr/>
        </p:nvSpPr>
        <p:spPr>
          <a:xfrm>
            <a:off x="4389120" y="5139000"/>
            <a:ext cx="2860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False positives, false negatives, thin damage and confusing visual patterns.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30"/>
          <p:cNvSpPr/>
          <p:nvPr/>
        </p:nvSpPr>
        <p:spPr>
          <a:xfrm>
            <a:off x="7717680" y="4663440"/>
            <a:ext cx="3802680" cy="913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31"/>
          <p:cNvSpPr/>
          <p:nvPr/>
        </p:nvSpPr>
        <p:spPr>
          <a:xfrm>
            <a:off x="7717680" y="4663440"/>
            <a:ext cx="53640" cy="9133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32"/>
          <p:cNvSpPr/>
          <p:nvPr/>
        </p:nvSpPr>
        <p:spPr>
          <a:xfrm>
            <a:off x="7918560" y="4800600"/>
            <a:ext cx="3418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Test discipline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33"/>
          <p:cNvSpPr/>
          <p:nvPr/>
        </p:nvSpPr>
        <p:spPr>
          <a:xfrm>
            <a:off x="7918560" y="5139000"/>
            <a:ext cx="34189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No tuning on test. Primary result uses single-pass inference; TTA remains separate.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sldNum" idx="13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A10DE38F-FACC-4120-8B4B-E114D7BF0DEE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Product Architecture &amp; Model Boundary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Vision evidence and conversational intelligence remain separate.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10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3"/>
          <p:cNvSpPr/>
          <p:nvPr/>
        </p:nvSpPr>
        <p:spPr>
          <a:xfrm>
            <a:off x="658440" y="1417320"/>
            <a:ext cx="1919160" cy="1096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4"/>
          <p:cNvSpPr/>
          <p:nvPr/>
        </p:nvSpPr>
        <p:spPr>
          <a:xfrm>
            <a:off x="658440" y="1417320"/>
            <a:ext cx="53640" cy="10962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5"/>
          <p:cNvSpPr/>
          <p:nvPr/>
        </p:nvSpPr>
        <p:spPr>
          <a:xfrm>
            <a:off x="859680" y="1554480"/>
            <a:ext cx="15350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Photo input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6"/>
          <p:cNvSpPr/>
          <p:nvPr/>
        </p:nvSpPr>
        <p:spPr>
          <a:xfrm>
            <a:off x="859680" y="1892880"/>
            <a:ext cx="153504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Upload / camera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Preview / replace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7"/>
          <p:cNvSpPr/>
          <p:nvPr/>
        </p:nvSpPr>
        <p:spPr>
          <a:xfrm>
            <a:off x="2724840" y="1783080"/>
            <a:ext cx="410400" cy="227520"/>
          </a:xfrm>
          <a:prstGeom prst="chevron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8"/>
          <p:cNvSpPr/>
          <p:nvPr/>
        </p:nvSpPr>
        <p:spPr>
          <a:xfrm>
            <a:off x="3200400" y="1417320"/>
            <a:ext cx="1919160" cy="1096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9"/>
          <p:cNvSpPr/>
          <p:nvPr/>
        </p:nvSpPr>
        <p:spPr>
          <a:xfrm>
            <a:off x="3200400" y="1417320"/>
            <a:ext cx="53640" cy="1096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10"/>
          <p:cNvSpPr/>
          <p:nvPr/>
        </p:nvSpPr>
        <p:spPr>
          <a:xfrm>
            <a:off x="3401640" y="1554480"/>
            <a:ext cx="15350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Quality gate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11"/>
          <p:cNvSpPr/>
          <p:nvPr/>
        </p:nvSpPr>
        <p:spPr>
          <a:xfrm>
            <a:off x="3401640" y="1892880"/>
            <a:ext cx="153504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Blur / exposure / framing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Fail → retake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12"/>
          <p:cNvSpPr/>
          <p:nvPr/>
        </p:nvSpPr>
        <p:spPr>
          <a:xfrm>
            <a:off x="5285160" y="1783080"/>
            <a:ext cx="410400" cy="227520"/>
          </a:xfrm>
          <a:prstGeom prst="chevron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13"/>
          <p:cNvSpPr/>
          <p:nvPr/>
        </p:nvSpPr>
        <p:spPr>
          <a:xfrm>
            <a:off x="5760720" y="1417320"/>
            <a:ext cx="2056320" cy="1096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14"/>
          <p:cNvSpPr/>
          <p:nvPr/>
        </p:nvSpPr>
        <p:spPr>
          <a:xfrm>
            <a:off x="5760720" y="1417320"/>
            <a:ext cx="53640" cy="10962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15"/>
          <p:cNvSpPr/>
          <p:nvPr/>
        </p:nvSpPr>
        <p:spPr>
          <a:xfrm>
            <a:off x="5961960" y="1554480"/>
            <a:ext cx="167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Hybrid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16"/>
          <p:cNvSpPr/>
          <p:nvPr/>
        </p:nvSpPr>
        <p:spPr>
          <a:xfrm>
            <a:off x="5961960" y="1892880"/>
            <a:ext cx="167220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Class + mask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Confidence / uncertainty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17"/>
          <p:cNvSpPr/>
          <p:nvPr/>
        </p:nvSpPr>
        <p:spPr>
          <a:xfrm>
            <a:off x="7973640" y="1783080"/>
            <a:ext cx="410400" cy="227520"/>
          </a:xfrm>
          <a:prstGeom prst="chevron">
            <a:avLst>
              <a:gd name="adj" fmla="val 50000"/>
            </a:avLst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18"/>
          <p:cNvSpPr/>
          <p:nvPr/>
        </p:nvSpPr>
        <p:spPr>
          <a:xfrm>
            <a:off x="8458200" y="1417320"/>
            <a:ext cx="1919160" cy="1096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19"/>
          <p:cNvSpPr/>
          <p:nvPr/>
        </p:nvSpPr>
        <p:spPr>
          <a:xfrm>
            <a:off x="8458200" y="1417320"/>
            <a:ext cx="53640" cy="109620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20"/>
          <p:cNvSpPr/>
          <p:nvPr/>
        </p:nvSpPr>
        <p:spPr>
          <a:xfrm>
            <a:off x="8659440" y="1554480"/>
            <a:ext cx="15350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Structured evidence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21"/>
          <p:cNvSpPr/>
          <p:nvPr/>
        </p:nvSpPr>
        <p:spPr>
          <a:xfrm>
            <a:off x="8659440" y="1892880"/>
            <a:ext cx="153504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  <a:ea typeface="Aptos"/>
              </a:rPr>
              <a:t>Typed inspection result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2"/>
          <p:cNvSpPr/>
          <p:nvPr/>
        </p:nvSpPr>
        <p:spPr>
          <a:xfrm>
            <a:off x="10561320" y="1783080"/>
            <a:ext cx="410400" cy="227520"/>
          </a:xfrm>
          <a:prstGeom prst="chevron">
            <a:avLst>
              <a:gd name="adj" fmla="val 50000"/>
            </a:avLst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Shape 23"/>
          <p:cNvSpPr/>
          <p:nvPr/>
        </p:nvSpPr>
        <p:spPr>
          <a:xfrm>
            <a:off x="11018520" y="1417320"/>
            <a:ext cx="501840" cy="10962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24"/>
          <p:cNvSpPr/>
          <p:nvPr/>
        </p:nvSpPr>
        <p:spPr>
          <a:xfrm>
            <a:off x="11018520" y="1417320"/>
            <a:ext cx="53640" cy="109620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25"/>
          <p:cNvSpPr/>
          <p:nvPr/>
        </p:nvSpPr>
        <p:spPr>
          <a:xfrm>
            <a:off x="11219760" y="1554480"/>
            <a:ext cx="11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LLM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26"/>
          <p:cNvSpPr/>
          <p:nvPr/>
        </p:nvSpPr>
        <p:spPr>
          <a:xfrm>
            <a:off x="11219760" y="1892880"/>
            <a:ext cx="1177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18212f"/>
                </a:solidFill>
                <a:latin typeface="Aptos"/>
                <a:ea typeface="Aptos"/>
              </a:rPr>
              <a:t>Explain</a:t>
            </a:r>
            <a:endParaRPr b="0" lang="en-US" sz="7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27"/>
          <p:cNvSpPr/>
          <p:nvPr/>
        </p:nvSpPr>
        <p:spPr>
          <a:xfrm>
            <a:off x="658440" y="2971800"/>
            <a:ext cx="474480" cy="291600"/>
          </a:xfrm>
          <a:prstGeom prst="roundRect">
            <a:avLst>
              <a:gd name="adj" fmla="val 37500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28"/>
          <p:cNvSpPr/>
          <p:nvPr/>
        </p:nvSpPr>
        <p:spPr>
          <a:xfrm>
            <a:off x="658440" y="3035880"/>
            <a:ext cx="474480" cy="1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B1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29"/>
          <p:cNvSpPr/>
          <p:nvPr/>
        </p:nvSpPr>
        <p:spPr>
          <a:xfrm>
            <a:off x="1243440" y="3008520"/>
            <a:ext cx="1782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20" spc="-1" strike="noStrike">
                <a:solidFill>
                  <a:srgbClr val="14213d"/>
                </a:solidFill>
                <a:latin typeface="Aptos"/>
              </a:rPr>
              <a:t>Conversational layer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30"/>
          <p:cNvSpPr/>
          <p:nvPr/>
        </p:nvSpPr>
        <p:spPr>
          <a:xfrm>
            <a:off x="658440" y="3401640"/>
            <a:ext cx="3245040" cy="14162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31"/>
          <p:cNvSpPr/>
          <p:nvPr/>
        </p:nvSpPr>
        <p:spPr>
          <a:xfrm>
            <a:off x="658440" y="3401640"/>
            <a:ext cx="53640" cy="14162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32"/>
          <p:cNvSpPr/>
          <p:nvPr/>
        </p:nvSpPr>
        <p:spPr>
          <a:xfrm>
            <a:off x="859680" y="3538800"/>
            <a:ext cx="286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LangChain + Groq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33"/>
          <p:cNvSpPr/>
          <p:nvPr/>
        </p:nvSpPr>
        <p:spPr>
          <a:xfrm>
            <a:off x="859680" y="3877200"/>
            <a:ext cx="286092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Professional LLM persona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Evidence-grounded responses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No hard-coded production templates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API key remains server-side.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34"/>
          <p:cNvSpPr/>
          <p:nvPr/>
        </p:nvSpPr>
        <p:spPr>
          <a:xfrm>
            <a:off x="4206240" y="3401640"/>
            <a:ext cx="3245040" cy="14162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35"/>
          <p:cNvSpPr/>
          <p:nvPr/>
        </p:nvSpPr>
        <p:spPr>
          <a:xfrm>
            <a:off x="4206240" y="3401640"/>
            <a:ext cx="53640" cy="14162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36"/>
          <p:cNvSpPr/>
          <p:nvPr/>
        </p:nvSpPr>
        <p:spPr>
          <a:xfrm>
            <a:off x="4407480" y="3538800"/>
            <a:ext cx="28609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Main chat experience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37"/>
          <p:cNvSpPr/>
          <p:nvPr/>
        </p:nvSpPr>
        <p:spPr>
          <a:xfrm>
            <a:off x="4407480" y="3877200"/>
            <a:ext cx="286092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Photo attachment + analysis result + description appear in the same conversation. User can continue chatting after analysis.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38"/>
          <p:cNvSpPr/>
          <p:nvPr/>
        </p:nvSpPr>
        <p:spPr>
          <a:xfrm>
            <a:off x="7754040" y="3401640"/>
            <a:ext cx="3766320" cy="14162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39"/>
          <p:cNvSpPr/>
          <p:nvPr/>
        </p:nvSpPr>
        <p:spPr>
          <a:xfrm>
            <a:off x="7754040" y="3401640"/>
            <a:ext cx="53640" cy="1416240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40"/>
          <p:cNvSpPr/>
          <p:nvPr/>
        </p:nvSpPr>
        <p:spPr>
          <a:xfrm>
            <a:off x="7955280" y="3538800"/>
            <a:ext cx="338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No cost pathway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 41"/>
          <p:cNvSpPr/>
          <p:nvPr/>
        </p:nvSpPr>
        <p:spPr>
          <a:xfrm>
            <a:off x="7955280" y="3877200"/>
            <a:ext cx="3382200" cy="8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Cost prediction, repair quotes, P10/P50/P90 and cost-related UI/API are removed from the current scope.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42"/>
          <p:cNvSpPr/>
          <p:nvPr/>
        </p:nvSpPr>
        <p:spPr>
          <a:xfrm>
            <a:off x="658440" y="5257800"/>
            <a:ext cx="13705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67085"/>
                </a:solidFill>
                <a:latin typeface="Aptos"/>
              </a:rPr>
              <a:t>Model responsibility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43"/>
          <p:cNvSpPr/>
          <p:nvPr/>
        </p:nvSpPr>
        <p:spPr>
          <a:xfrm>
            <a:off x="1920240" y="5203080"/>
            <a:ext cx="132480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44"/>
          <p:cNvSpPr/>
          <p:nvPr/>
        </p:nvSpPr>
        <p:spPr>
          <a:xfrm>
            <a:off x="1993320" y="5266800"/>
            <a:ext cx="117864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Evidence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45"/>
          <p:cNvSpPr/>
          <p:nvPr/>
        </p:nvSpPr>
        <p:spPr>
          <a:xfrm>
            <a:off x="3410640" y="5203080"/>
            <a:ext cx="1599120" cy="30996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46"/>
          <p:cNvSpPr/>
          <p:nvPr/>
        </p:nvSpPr>
        <p:spPr>
          <a:xfrm>
            <a:off x="3483720" y="5266800"/>
            <a:ext cx="14529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Confidence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47"/>
          <p:cNvSpPr/>
          <p:nvPr/>
        </p:nvSpPr>
        <p:spPr>
          <a:xfrm>
            <a:off x="5184720" y="5203080"/>
            <a:ext cx="1416240" cy="30996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48"/>
          <p:cNvSpPr/>
          <p:nvPr/>
        </p:nvSpPr>
        <p:spPr>
          <a:xfrm>
            <a:off x="5257800" y="5266800"/>
            <a:ext cx="12700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Explanation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49"/>
          <p:cNvSpPr/>
          <p:nvPr/>
        </p:nvSpPr>
        <p:spPr>
          <a:xfrm>
            <a:off x="6766560" y="5203080"/>
            <a:ext cx="1279080" cy="309960"/>
          </a:xfrm>
          <a:prstGeom prst="roundRect">
            <a:avLst>
              <a:gd name="adj" fmla="val 41176"/>
            </a:avLst>
          </a:prstGeom>
          <a:solidFill>
            <a:srgbClr val="fff5e1"/>
          </a:solidFill>
          <a:ln w="12700">
            <a:solidFill>
              <a:srgbClr val="fff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50"/>
          <p:cNvSpPr/>
          <p:nvPr/>
        </p:nvSpPr>
        <p:spPr>
          <a:xfrm>
            <a:off x="6839640" y="5266800"/>
            <a:ext cx="113292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9e0b"/>
                </a:solidFill>
                <a:latin typeface="Aptos"/>
              </a:rPr>
              <a:t>Follow-up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1"/>
          <p:cNvSpPr>
            <a:spLocks noGrp="1"/>
          </p:cNvSpPr>
          <p:nvPr>
            <p:ph type="sldNum" idx="14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C83F8DE8-BB72-4DEB-8F61-2B0EE66C015C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Expected Demo / User Experience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ChatGPT-like photo interaction: the inspection result lives in the main conversation.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11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3"/>
          <p:cNvSpPr/>
          <p:nvPr/>
        </p:nvSpPr>
        <p:spPr>
          <a:xfrm>
            <a:off x="658440" y="1234440"/>
            <a:ext cx="3455280" cy="18734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4"/>
          <p:cNvSpPr/>
          <p:nvPr/>
        </p:nvSpPr>
        <p:spPr>
          <a:xfrm>
            <a:off x="658440" y="1234440"/>
            <a:ext cx="53640" cy="18734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5"/>
          <p:cNvSpPr/>
          <p:nvPr/>
        </p:nvSpPr>
        <p:spPr>
          <a:xfrm>
            <a:off x="859680" y="1371600"/>
            <a:ext cx="30711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1 — Attach or capture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6"/>
          <p:cNvSpPr/>
          <p:nvPr/>
        </p:nvSpPr>
        <p:spPr>
          <a:xfrm>
            <a:off x="859680" y="1710000"/>
            <a:ext cx="307116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Upload or camera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Preview image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Remove / replace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Send / Analyze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7"/>
          <p:cNvSpPr/>
          <p:nvPr/>
        </p:nvSpPr>
        <p:spPr>
          <a:xfrm>
            <a:off x="4370760" y="1234440"/>
            <a:ext cx="3455280" cy="18734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8"/>
          <p:cNvSpPr/>
          <p:nvPr/>
        </p:nvSpPr>
        <p:spPr>
          <a:xfrm>
            <a:off x="4370760" y="1234440"/>
            <a:ext cx="53640" cy="18734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9"/>
          <p:cNvSpPr/>
          <p:nvPr/>
        </p:nvSpPr>
        <p:spPr>
          <a:xfrm>
            <a:off x="4572000" y="1371600"/>
            <a:ext cx="30711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2 — Analyze in chat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10"/>
          <p:cNvSpPr/>
          <p:nvPr/>
        </p:nvSpPr>
        <p:spPr>
          <a:xfrm>
            <a:off x="4572000" y="1710000"/>
            <a:ext cx="307116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Quality gate first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Hybrid segmentation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Damage mask + class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Confidence / uncertainty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11"/>
          <p:cNvSpPr/>
          <p:nvPr/>
        </p:nvSpPr>
        <p:spPr>
          <a:xfrm>
            <a:off x="8083440" y="1234440"/>
            <a:ext cx="3455280" cy="18734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12"/>
          <p:cNvSpPr/>
          <p:nvPr/>
        </p:nvSpPr>
        <p:spPr>
          <a:xfrm>
            <a:off x="8083440" y="1234440"/>
            <a:ext cx="53640" cy="18734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13"/>
          <p:cNvSpPr/>
          <p:nvPr/>
        </p:nvSpPr>
        <p:spPr>
          <a:xfrm>
            <a:off x="8284320" y="1371600"/>
            <a:ext cx="30711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3 — Continue conversation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14"/>
          <p:cNvSpPr/>
          <p:nvPr/>
        </p:nvSpPr>
        <p:spPr>
          <a:xfrm>
            <a:off x="8284320" y="1710000"/>
            <a:ext cx="307116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Professional description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Ask follow-up questions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Clarify findings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• </a:t>
            </a:r>
            <a:r>
              <a:rPr b="0" lang="en-US" sz="1030" spc="-1" strike="noStrike">
                <a:solidFill>
                  <a:srgbClr val="18212f"/>
                </a:solidFill>
                <a:latin typeface="Aptos"/>
                <a:ea typeface="Aptos"/>
              </a:rPr>
              <a:t>Retake when needed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15"/>
          <p:cNvSpPr/>
          <p:nvPr/>
        </p:nvSpPr>
        <p:spPr>
          <a:xfrm>
            <a:off x="658440" y="3520440"/>
            <a:ext cx="18277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67085"/>
                </a:solidFill>
                <a:latin typeface="Aptos"/>
              </a:rPr>
              <a:t>Conversation example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16"/>
          <p:cNvSpPr/>
          <p:nvPr/>
        </p:nvSpPr>
        <p:spPr>
          <a:xfrm>
            <a:off x="658440" y="3858840"/>
            <a:ext cx="3747960" cy="6573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17"/>
          <p:cNvSpPr/>
          <p:nvPr/>
        </p:nvSpPr>
        <p:spPr>
          <a:xfrm>
            <a:off x="868680" y="4087440"/>
            <a:ext cx="32907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</a:rPr>
              <a:t>USER  •  [vehicle photo]  Analyze this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8"/>
          <p:cNvSpPr/>
          <p:nvPr/>
        </p:nvSpPr>
        <p:spPr>
          <a:xfrm>
            <a:off x="4590360" y="4041720"/>
            <a:ext cx="593280" cy="254880"/>
          </a:xfrm>
          <a:prstGeom prst="chevron">
            <a:avLst>
              <a:gd name="adj" fmla="val 50000"/>
            </a:avLst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Shape 19"/>
          <p:cNvSpPr/>
          <p:nvPr/>
        </p:nvSpPr>
        <p:spPr>
          <a:xfrm>
            <a:off x="5349240" y="3675960"/>
            <a:ext cx="6171120" cy="1023120"/>
          </a:xfrm>
          <a:prstGeom prst="roundRect">
            <a:avLst>
              <a:gd name="adj" fmla="val 7143"/>
            </a:avLst>
          </a:prstGeom>
          <a:solidFill>
            <a:srgbClr val="eef4ff"/>
          </a:solidFill>
          <a:ln w="12700">
            <a:solidFill>
              <a:srgbClr val="c9d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20"/>
          <p:cNvSpPr/>
          <p:nvPr/>
        </p:nvSpPr>
        <p:spPr>
          <a:xfrm>
            <a:off x="5577840" y="3858840"/>
            <a:ext cx="7761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2f67e8"/>
                </a:solidFill>
                <a:latin typeface="Aptos"/>
              </a:rPr>
              <a:t>ASSISTANT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21"/>
          <p:cNvSpPr/>
          <p:nvPr/>
        </p:nvSpPr>
        <p:spPr>
          <a:xfrm>
            <a:off x="5577840" y="4096440"/>
            <a:ext cx="5622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4213d"/>
                </a:solidFill>
                <a:latin typeface="Aptos"/>
              </a:rPr>
              <a:t>Scratch detected in the highlighted region. The image passed the quality check; model confidence is moderate. Here is what the segmentation shows…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22"/>
          <p:cNvSpPr/>
          <p:nvPr/>
        </p:nvSpPr>
        <p:spPr>
          <a:xfrm>
            <a:off x="658440" y="4983480"/>
            <a:ext cx="10861920" cy="593280"/>
          </a:xfrm>
          <a:prstGeom prst="roundRect">
            <a:avLst>
              <a:gd name="adj" fmla="val 27692"/>
            </a:avLst>
          </a:prstGeom>
          <a:solidFill>
            <a:srgbClr val="ffffff"/>
          </a:solidFill>
          <a:ln w="1270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23"/>
          <p:cNvSpPr/>
          <p:nvPr/>
        </p:nvSpPr>
        <p:spPr>
          <a:xfrm>
            <a:off x="868680" y="5175360"/>
            <a:ext cx="6390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67085"/>
                </a:solidFill>
                <a:latin typeface="Aptos"/>
              </a:rPr>
              <a:t>Composer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24"/>
          <p:cNvSpPr/>
          <p:nvPr/>
        </p:nvSpPr>
        <p:spPr>
          <a:xfrm>
            <a:off x="1828800" y="5083920"/>
            <a:ext cx="109620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25"/>
          <p:cNvSpPr/>
          <p:nvPr/>
        </p:nvSpPr>
        <p:spPr>
          <a:xfrm>
            <a:off x="1901880" y="5148000"/>
            <a:ext cx="95004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Attach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26"/>
          <p:cNvSpPr/>
          <p:nvPr/>
        </p:nvSpPr>
        <p:spPr>
          <a:xfrm>
            <a:off x="3127320" y="5083920"/>
            <a:ext cx="1004760" cy="30996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27"/>
          <p:cNvSpPr/>
          <p:nvPr/>
        </p:nvSpPr>
        <p:spPr>
          <a:xfrm>
            <a:off x="3200400" y="5148000"/>
            <a:ext cx="85860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Camera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28"/>
          <p:cNvSpPr/>
          <p:nvPr/>
        </p:nvSpPr>
        <p:spPr>
          <a:xfrm>
            <a:off x="9985320" y="5083920"/>
            <a:ext cx="959040" cy="309960"/>
          </a:xfrm>
          <a:prstGeom prst="roundRect">
            <a:avLst>
              <a:gd name="adj" fmla="val 41176"/>
            </a:avLst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29"/>
          <p:cNvSpPr/>
          <p:nvPr/>
        </p:nvSpPr>
        <p:spPr>
          <a:xfrm>
            <a:off x="10058400" y="5148000"/>
            <a:ext cx="812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Aptos"/>
              </a:rPr>
              <a:t>Send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30"/>
          <p:cNvSpPr/>
          <p:nvPr/>
        </p:nvSpPr>
        <p:spPr>
          <a:xfrm>
            <a:off x="4480560" y="5175360"/>
            <a:ext cx="29250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67085"/>
                </a:solidFill>
                <a:latin typeface="Aptos"/>
              </a:rPr>
              <a:t>Text input stays active after analysis.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1"/>
          <p:cNvSpPr>
            <a:spLocks noGrp="1"/>
          </p:cNvSpPr>
          <p:nvPr>
            <p:ph type="sldNum" idx="15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1999D2C-8904-48B9-AFB7-B10717977BE0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Implementation Structure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Training remains reusable across local, Colab and Kaggle environments; product code stays separate.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12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Text 4"/>
          <p:cNvSpPr/>
          <p:nvPr/>
        </p:nvSpPr>
        <p:spPr>
          <a:xfrm>
            <a:off x="914400" y="1463040"/>
            <a:ext cx="4982400" cy="374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AutoInspect-X/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apps/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web/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└──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api/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ml/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datasets/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models/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│   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resnet34_unet.py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│   └──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hybrid_segmentation.py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training/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inference/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evaluation/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└──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experiments/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    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final60_baseline_seed42/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│       └──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final60_hybrid_seed42/  (+3 runs)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docs/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archive/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├──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tests/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└── </a:t>
            </a:r>
            <a:r>
              <a:rPr b="0" lang="en-US" sz="1100" spc="-1" strike="noStrike">
                <a:solidFill>
                  <a:srgbClr val="000000"/>
                </a:solidFill>
                <a:latin typeface="Courier New"/>
              </a:rPr>
              <a:t>README / TASKS / MEMORY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5"/>
          <p:cNvSpPr/>
          <p:nvPr/>
        </p:nvSpPr>
        <p:spPr>
          <a:xfrm>
            <a:off x="6428160" y="1207080"/>
            <a:ext cx="2513520" cy="1279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6"/>
          <p:cNvSpPr/>
          <p:nvPr/>
        </p:nvSpPr>
        <p:spPr>
          <a:xfrm>
            <a:off x="6428160" y="1207080"/>
            <a:ext cx="53640" cy="12790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7"/>
          <p:cNvSpPr/>
          <p:nvPr/>
        </p:nvSpPr>
        <p:spPr>
          <a:xfrm>
            <a:off x="6629400" y="1344240"/>
            <a:ext cx="2129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Baseline stays separate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8"/>
          <p:cNvSpPr/>
          <p:nvPr/>
        </p:nvSpPr>
        <p:spPr>
          <a:xfrm>
            <a:off x="6629400" y="1682640"/>
            <a:ext cx="212940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6666"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Current baseline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ResNet34-U-Net is the controlled CNN baseline. Older model versions are archived rather than kept in the active model path.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9"/>
          <p:cNvSpPr/>
          <p:nvPr/>
        </p:nvSpPr>
        <p:spPr>
          <a:xfrm>
            <a:off x="9144000" y="1207080"/>
            <a:ext cx="2376360" cy="1279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10"/>
          <p:cNvSpPr/>
          <p:nvPr/>
        </p:nvSpPr>
        <p:spPr>
          <a:xfrm>
            <a:off x="9144000" y="1207080"/>
            <a:ext cx="53640" cy="127908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11"/>
          <p:cNvSpPr/>
          <p:nvPr/>
        </p:nvSpPr>
        <p:spPr>
          <a:xfrm>
            <a:off x="9345240" y="1344240"/>
            <a:ext cx="1992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Hybrid is new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12"/>
          <p:cNvSpPr/>
          <p:nvPr/>
        </p:nvSpPr>
        <p:spPr>
          <a:xfrm>
            <a:off x="9345240" y="1682640"/>
            <a:ext cx="199224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Current hybrid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ResNet34 + 16×16 bottleneck Transformer + additive fusion + lightweight decoder.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13"/>
          <p:cNvSpPr/>
          <p:nvPr/>
        </p:nvSpPr>
        <p:spPr>
          <a:xfrm>
            <a:off x="6428160" y="2743200"/>
            <a:ext cx="5092200" cy="114192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14"/>
          <p:cNvSpPr/>
          <p:nvPr/>
        </p:nvSpPr>
        <p:spPr>
          <a:xfrm>
            <a:off x="6428160" y="2743200"/>
            <a:ext cx="53640" cy="114192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15"/>
          <p:cNvSpPr/>
          <p:nvPr/>
        </p:nvSpPr>
        <p:spPr>
          <a:xfrm>
            <a:off x="6629400" y="2880360"/>
            <a:ext cx="4708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Shared infrastructure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16"/>
          <p:cNvSpPr/>
          <p:nvPr/>
        </p:nvSpPr>
        <p:spPr>
          <a:xfrm>
            <a:off x="6629400" y="3218760"/>
            <a:ext cx="470808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Shared infrastructure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One dataset adapter • one trainer • one metric implementation • one experiment record format.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17"/>
          <p:cNvSpPr/>
          <p:nvPr/>
        </p:nvSpPr>
        <p:spPr>
          <a:xfrm>
            <a:off x="6428160" y="4160520"/>
            <a:ext cx="5092200" cy="129744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18"/>
          <p:cNvSpPr/>
          <p:nvPr/>
        </p:nvSpPr>
        <p:spPr>
          <a:xfrm>
            <a:off x="6428160" y="4160520"/>
            <a:ext cx="53640" cy="129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 19"/>
          <p:cNvSpPr/>
          <p:nvPr/>
        </p:nvSpPr>
        <p:spPr>
          <a:xfrm>
            <a:off x="6629400" y="4297680"/>
            <a:ext cx="4708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Portability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20"/>
          <p:cNvSpPr/>
          <p:nvPr/>
        </p:nvSpPr>
        <p:spPr>
          <a:xfrm>
            <a:off x="6629400" y="4636080"/>
            <a:ext cx="4708080" cy="69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 lnSpcReduction="10000"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Research storage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Each catalogue run keeps its own run_record.json; large checkpoints stay external/ignored. Superseded work goes to archive/.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Colab: primary full training.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Kaggle: secondary / overflow.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8212f"/>
                </a:solidFill>
                <a:latin typeface="Aptos"/>
                <a:ea typeface="Aptos"/>
              </a:rPr>
              <a:t>Only --data-root changes.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1"/>
          <p:cNvSpPr>
            <a:spLocks noGrp="1"/>
          </p:cNvSpPr>
          <p:nvPr>
            <p:ph type="sldNum" idx="16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6338479D-25DF-4EFF-8E8B-36543CF5CE74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Current Implementation Status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The five-model catalogue is complete: four controlled runs plus one clearly marked exploratory run.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13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3"/>
          <p:cNvSpPr/>
          <p:nvPr/>
        </p:nvSpPr>
        <p:spPr>
          <a:xfrm>
            <a:off x="658440" y="1234440"/>
            <a:ext cx="1992240" cy="1233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4"/>
          <p:cNvSpPr/>
          <p:nvPr/>
        </p:nvSpPr>
        <p:spPr>
          <a:xfrm>
            <a:off x="658440" y="1234440"/>
            <a:ext cx="53640" cy="123336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5"/>
          <p:cNvSpPr/>
          <p:nvPr/>
        </p:nvSpPr>
        <p:spPr>
          <a:xfrm>
            <a:off x="859680" y="1371600"/>
            <a:ext cx="1608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Code quality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6"/>
          <p:cNvSpPr/>
          <p:nvPr/>
        </p:nvSpPr>
        <p:spPr>
          <a:xfrm>
            <a:off x="859680" y="1710000"/>
            <a:ext cx="16081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mypy 0 errors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ruff clean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pytest green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7"/>
          <p:cNvSpPr/>
          <p:nvPr/>
        </p:nvSpPr>
        <p:spPr>
          <a:xfrm>
            <a:off x="2917080" y="1234440"/>
            <a:ext cx="1992240" cy="1233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8"/>
          <p:cNvSpPr/>
          <p:nvPr/>
        </p:nvSpPr>
        <p:spPr>
          <a:xfrm>
            <a:off x="2917080" y="1234440"/>
            <a:ext cx="53640" cy="123336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9"/>
          <p:cNvSpPr/>
          <p:nvPr/>
        </p:nvSpPr>
        <p:spPr>
          <a:xfrm>
            <a:off x="3117960" y="1371600"/>
            <a:ext cx="1608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Controlled runs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10"/>
          <p:cNvSpPr/>
          <p:nvPr/>
        </p:nvSpPr>
        <p:spPr>
          <a:xfrm>
            <a:off x="3117960" y="1710000"/>
            <a:ext cx="16081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2 seeds × 2 architectures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60-epoch cap, early stop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11"/>
          <p:cNvSpPr/>
          <p:nvPr/>
        </p:nvSpPr>
        <p:spPr>
          <a:xfrm>
            <a:off x="5175360" y="1234440"/>
            <a:ext cx="1992240" cy="1233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2"/>
          <p:cNvSpPr/>
          <p:nvPr/>
        </p:nvSpPr>
        <p:spPr>
          <a:xfrm>
            <a:off x="5175360" y="1234440"/>
            <a:ext cx="53640" cy="123336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13"/>
          <p:cNvSpPr/>
          <p:nvPr/>
        </p:nvSpPr>
        <p:spPr>
          <a:xfrm>
            <a:off x="5376600" y="1371600"/>
            <a:ext cx="1608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Model smoke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14"/>
          <p:cNvSpPr/>
          <p:nvPr/>
        </p:nvSpPr>
        <p:spPr>
          <a:xfrm>
            <a:off x="5376600" y="1710000"/>
            <a:ext cx="16081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GPU forward + tiny train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green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15"/>
          <p:cNvSpPr/>
          <p:nvPr/>
        </p:nvSpPr>
        <p:spPr>
          <a:xfrm>
            <a:off x="7434000" y="1234440"/>
            <a:ext cx="1992240" cy="1233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16"/>
          <p:cNvSpPr/>
          <p:nvPr/>
        </p:nvSpPr>
        <p:spPr>
          <a:xfrm>
            <a:off x="7434000" y="1234440"/>
            <a:ext cx="53640" cy="123336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 17"/>
          <p:cNvSpPr/>
          <p:nvPr/>
        </p:nvSpPr>
        <p:spPr>
          <a:xfrm>
            <a:off x="7635240" y="1371600"/>
            <a:ext cx="1608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Best val fg mIoU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18"/>
          <p:cNvSpPr/>
          <p:nvPr/>
        </p:nvSpPr>
        <p:spPr>
          <a:xfrm>
            <a:off x="7635240" y="1710000"/>
            <a:ext cx="16081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Baseline 0.667659 / 0.668115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Hybrid 0.670167 / 0.673167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19"/>
          <p:cNvSpPr/>
          <p:nvPr/>
        </p:nvSpPr>
        <p:spPr>
          <a:xfrm>
            <a:off x="9692640" y="1234440"/>
            <a:ext cx="1992240" cy="123336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0"/>
          <p:cNvSpPr/>
          <p:nvPr/>
        </p:nvSpPr>
        <p:spPr>
          <a:xfrm>
            <a:off x="9692640" y="1234440"/>
            <a:ext cx="53640" cy="123336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21"/>
          <p:cNvSpPr/>
          <p:nvPr/>
        </p:nvSpPr>
        <p:spPr>
          <a:xfrm>
            <a:off x="9893880" y="1371600"/>
            <a:ext cx="1608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GPU tiny train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22"/>
          <p:cNvSpPr/>
          <p:nvPr/>
        </p:nvSpPr>
        <p:spPr>
          <a:xfrm>
            <a:off x="9893880" y="1710000"/>
            <a:ext cx="160812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pc="-1" strike="noStrike">
                <a:solidFill>
                  <a:srgbClr val="18212f"/>
                </a:solidFill>
                <a:latin typeface="Aptos"/>
                <a:ea typeface="Aptos"/>
              </a:rPr>
              <a:t>baseline + hybrid green</a:t>
            </a:r>
            <a:endParaRPr b="0" lang="en-US" sz="9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3"/>
          <p:cNvSpPr/>
          <p:nvPr/>
        </p:nvSpPr>
        <p:spPr>
          <a:xfrm>
            <a:off x="658440" y="2926080"/>
            <a:ext cx="3473640" cy="13248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4"/>
          <p:cNvSpPr/>
          <p:nvPr/>
        </p:nvSpPr>
        <p:spPr>
          <a:xfrm>
            <a:off x="658440" y="2926080"/>
            <a:ext cx="53640" cy="132480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25"/>
          <p:cNvSpPr/>
          <p:nvPr/>
        </p:nvSpPr>
        <p:spPr>
          <a:xfrm>
            <a:off x="859680" y="3063240"/>
            <a:ext cx="3089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Catalogue state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26"/>
          <p:cNvSpPr/>
          <p:nvPr/>
        </p:nvSpPr>
        <p:spPr>
          <a:xfrm>
            <a:off x="859680" y="3401640"/>
            <a:ext cx="308952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1111"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4 controlled + 1 exploratory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Product default: final60_hybrid_seed42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final100: partial, completed: false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Hybrid leads on both seeds; spread is comparable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Hybrid 512² peak VRAM 2.01–2.24 GB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Baseline peak VRAM 1.88 GB • hybrid 27.9M params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27"/>
          <p:cNvSpPr/>
          <p:nvPr/>
        </p:nvSpPr>
        <p:spPr>
          <a:xfrm>
            <a:off x="4370760" y="2926080"/>
            <a:ext cx="3473640" cy="13248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28"/>
          <p:cNvSpPr/>
          <p:nvPr/>
        </p:nvSpPr>
        <p:spPr>
          <a:xfrm>
            <a:off x="4370760" y="2926080"/>
            <a:ext cx="53640" cy="132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 29"/>
          <p:cNvSpPr/>
          <p:nvPr/>
        </p:nvSpPr>
        <p:spPr>
          <a:xfrm>
            <a:off x="4572000" y="3063240"/>
            <a:ext cx="3089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What the catalogue proves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30"/>
          <p:cNvSpPr/>
          <p:nvPr/>
        </p:nvSpPr>
        <p:spPr>
          <a:xfrm>
            <a:off x="4572000" y="3401640"/>
            <a:ext cx="308952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Interpretation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The hybrid leads the baseline at both seeds, by 0.0025 and 0.0051 fg mIoU.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31"/>
          <p:cNvSpPr/>
          <p:nvPr/>
        </p:nvSpPr>
        <p:spPr>
          <a:xfrm>
            <a:off x="8083440" y="2926080"/>
            <a:ext cx="3436920" cy="132480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2"/>
          <p:cNvSpPr/>
          <p:nvPr/>
        </p:nvSpPr>
        <p:spPr>
          <a:xfrm>
            <a:off x="8083440" y="2926080"/>
            <a:ext cx="53640" cy="1324800"/>
          </a:xfrm>
          <a:prstGeom prst="rect">
            <a:avLst/>
          </a:prstGeom>
          <a:solidFill>
            <a:srgbClr val="d94b4b"/>
          </a:solidFill>
          <a:ln w="12700">
            <a:solidFill>
              <a:srgbClr val="d94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33"/>
          <p:cNvSpPr/>
          <p:nvPr/>
        </p:nvSpPr>
        <p:spPr>
          <a:xfrm>
            <a:off x="8284320" y="3063240"/>
            <a:ext cx="30531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What it does NOT prove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34"/>
          <p:cNvSpPr/>
          <p:nvPr/>
        </p:nvSpPr>
        <p:spPr>
          <a:xfrm>
            <a:off x="8284320" y="3401640"/>
            <a:ext cx="305316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/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8212f"/>
                </a:solidFill>
                <a:latin typeface="Aptos"/>
                <a:ea typeface="Aptos"/>
              </a:rPr>
              <a:t>No architecture winner, no significance test and no generalisation claim: two seeds per architecture, frozen test split untouched.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35"/>
          <p:cNvSpPr/>
          <p:nvPr/>
        </p:nvSpPr>
        <p:spPr>
          <a:xfrm>
            <a:off x="658440" y="4645080"/>
            <a:ext cx="10861920" cy="867600"/>
          </a:xfrm>
          <a:prstGeom prst="roundRect">
            <a:avLst>
              <a:gd name="adj" fmla="val 8421"/>
            </a:avLst>
          </a:prstGeom>
          <a:solidFill>
            <a:srgbClr val="eaf8f5"/>
          </a:solidFill>
          <a:ln w="12700">
            <a:solidFill>
              <a:srgbClr val="bde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36"/>
          <p:cNvSpPr/>
          <p:nvPr/>
        </p:nvSpPr>
        <p:spPr>
          <a:xfrm>
            <a:off x="914400" y="4919400"/>
            <a:ext cx="50184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fa89a"/>
                </a:solidFill>
                <a:latin typeface="Aptos"/>
              </a:rPr>
              <a:t>NEXT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37"/>
          <p:cNvSpPr/>
          <p:nvPr/>
        </p:nvSpPr>
        <p:spPr>
          <a:xfrm>
            <a:off x="1600200" y="4873680"/>
            <a:ext cx="92343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6666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4213d"/>
                </a:solidFill>
                <a:latin typeface="Aptos"/>
              </a:rPr>
              <a:t>NEXT  →  third seed per architecture → close the hybrid seed-1337 record → external leakage-free validation → frozen test split.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1"/>
          <p:cNvSpPr>
            <a:spLocks noGrp="1"/>
          </p:cNvSpPr>
          <p:nvPr>
            <p:ph type="sldNum" idx="17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CEFADE3D-7CF4-4167-964A-11BF61B80E95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Timeline &amp; Research Deliverables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The model catalogue is complete and product inference is being validated; the frozen test split is still untouched.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14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3"/>
          <p:cNvSpPr/>
          <p:nvPr/>
        </p:nvSpPr>
        <p:spPr>
          <a:xfrm>
            <a:off x="567000" y="1325880"/>
            <a:ext cx="1626480" cy="1873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4"/>
          <p:cNvSpPr/>
          <p:nvPr/>
        </p:nvSpPr>
        <p:spPr>
          <a:xfrm>
            <a:off x="567000" y="1325880"/>
            <a:ext cx="53640" cy="187344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 5"/>
          <p:cNvSpPr/>
          <p:nvPr/>
        </p:nvSpPr>
        <p:spPr>
          <a:xfrm>
            <a:off x="768240" y="1463040"/>
            <a:ext cx="931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Dataset audit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6"/>
          <p:cNvSpPr/>
          <p:nvPr/>
        </p:nvSpPr>
        <p:spPr>
          <a:xfrm>
            <a:off x="768240" y="1892880"/>
            <a:ext cx="129744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CarDD split + labels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7"/>
          <p:cNvSpPr/>
          <p:nvPr/>
        </p:nvSpPr>
        <p:spPr>
          <a:xfrm>
            <a:off x="1737360" y="1481400"/>
            <a:ext cx="392040" cy="24588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8"/>
          <p:cNvSpPr/>
          <p:nvPr/>
        </p:nvSpPr>
        <p:spPr>
          <a:xfrm>
            <a:off x="1774080" y="1522440"/>
            <a:ext cx="318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1fa89a"/>
                </a:solidFill>
                <a:latin typeface="Aptos"/>
              </a:rPr>
              <a:t>Done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9"/>
          <p:cNvSpPr/>
          <p:nvPr/>
        </p:nvSpPr>
        <p:spPr>
          <a:xfrm>
            <a:off x="2441520" y="1325880"/>
            <a:ext cx="1626480" cy="1873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0"/>
          <p:cNvSpPr/>
          <p:nvPr/>
        </p:nvSpPr>
        <p:spPr>
          <a:xfrm>
            <a:off x="2441520" y="1325880"/>
            <a:ext cx="53640" cy="1873440"/>
          </a:xfrm>
          <a:prstGeom prst="rect">
            <a:avLst/>
          </a:prstGeom>
          <a:solidFill>
            <a:srgbClr val="2e9b6f"/>
          </a:solidFill>
          <a:ln w="12700">
            <a:solidFill>
              <a:srgbClr val="2e9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11"/>
          <p:cNvSpPr/>
          <p:nvPr/>
        </p:nvSpPr>
        <p:spPr>
          <a:xfrm>
            <a:off x="2642760" y="1463040"/>
            <a:ext cx="931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Architecture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12"/>
          <p:cNvSpPr/>
          <p:nvPr/>
        </p:nvSpPr>
        <p:spPr>
          <a:xfrm>
            <a:off x="2642760" y="1892880"/>
            <a:ext cx="129744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ResNet34 + hybrid implemented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13"/>
          <p:cNvSpPr/>
          <p:nvPr/>
        </p:nvSpPr>
        <p:spPr>
          <a:xfrm>
            <a:off x="3611880" y="1481400"/>
            <a:ext cx="392040" cy="24588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14"/>
          <p:cNvSpPr/>
          <p:nvPr/>
        </p:nvSpPr>
        <p:spPr>
          <a:xfrm>
            <a:off x="3648600" y="1522440"/>
            <a:ext cx="318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1fa89a"/>
                </a:solidFill>
                <a:latin typeface="Aptos"/>
              </a:rPr>
              <a:t>Done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5"/>
          <p:cNvSpPr/>
          <p:nvPr/>
        </p:nvSpPr>
        <p:spPr>
          <a:xfrm>
            <a:off x="4316040" y="1325880"/>
            <a:ext cx="1626480" cy="1873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6"/>
          <p:cNvSpPr/>
          <p:nvPr/>
        </p:nvSpPr>
        <p:spPr>
          <a:xfrm>
            <a:off x="4316040" y="1325880"/>
            <a:ext cx="53640" cy="187344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17"/>
          <p:cNvSpPr/>
          <p:nvPr/>
        </p:nvSpPr>
        <p:spPr>
          <a:xfrm>
            <a:off x="4517280" y="1463040"/>
            <a:ext cx="931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Training runs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18"/>
          <p:cNvSpPr/>
          <p:nvPr/>
        </p:nvSpPr>
        <p:spPr>
          <a:xfrm>
            <a:off x="4517280" y="1892880"/>
            <a:ext cx="129744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4 runs • 2 seeds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baseline + hybrid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19"/>
          <p:cNvSpPr/>
          <p:nvPr/>
        </p:nvSpPr>
        <p:spPr>
          <a:xfrm>
            <a:off x="5486400" y="1481400"/>
            <a:ext cx="392040" cy="2458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20"/>
          <p:cNvSpPr/>
          <p:nvPr/>
        </p:nvSpPr>
        <p:spPr>
          <a:xfrm>
            <a:off x="5523120" y="1522440"/>
            <a:ext cx="318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2f67e8"/>
                </a:solidFill>
                <a:latin typeface="Aptos"/>
              </a:rPr>
              <a:t>Done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21"/>
          <p:cNvSpPr/>
          <p:nvPr/>
        </p:nvSpPr>
        <p:spPr>
          <a:xfrm>
            <a:off x="6190560" y="1325880"/>
            <a:ext cx="1626480" cy="1873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2"/>
          <p:cNvSpPr/>
          <p:nvPr/>
        </p:nvSpPr>
        <p:spPr>
          <a:xfrm>
            <a:off x="6190560" y="1325880"/>
            <a:ext cx="53640" cy="187344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23"/>
          <p:cNvSpPr/>
          <p:nvPr/>
        </p:nvSpPr>
        <p:spPr>
          <a:xfrm>
            <a:off x="6391800" y="1463040"/>
            <a:ext cx="931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Third seed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24"/>
          <p:cNvSpPr/>
          <p:nvPr/>
        </p:nvSpPr>
        <p:spPr>
          <a:xfrm>
            <a:off x="6391800" y="1892880"/>
            <a:ext cx="129744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hybrid seed-1337 record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25"/>
          <p:cNvSpPr/>
          <p:nvPr/>
        </p:nvSpPr>
        <p:spPr>
          <a:xfrm>
            <a:off x="7360920" y="1481400"/>
            <a:ext cx="392040" cy="2458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26"/>
          <p:cNvSpPr/>
          <p:nvPr/>
        </p:nvSpPr>
        <p:spPr>
          <a:xfrm>
            <a:off x="7397640" y="1522440"/>
            <a:ext cx="318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2f67e8"/>
                </a:solidFill>
                <a:latin typeface="Aptos"/>
              </a:rPr>
              <a:t>Next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27"/>
          <p:cNvSpPr/>
          <p:nvPr/>
        </p:nvSpPr>
        <p:spPr>
          <a:xfrm>
            <a:off x="8065080" y="1325880"/>
            <a:ext cx="1626480" cy="1873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28"/>
          <p:cNvSpPr/>
          <p:nvPr/>
        </p:nvSpPr>
        <p:spPr>
          <a:xfrm>
            <a:off x="8065080" y="1325880"/>
            <a:ext cx="53640" cy="1873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29"/>
          <p:cNvSpPr/>
          <p:nvPr/>
        </p:nvSpPr>
        <p:spPr>
          <a:xfrm>
            <a:off x="8266320" y="1463040"/>
            <a:ext cx="931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Final evaluation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30"/>
          <p:cNvSpPr/>
          <p:nvPr/>
        </p:nvSpPr>
        <p:spPr>
          <a:xfrm>
            <a:off x="8266320" y="1892880"/>
            <a:ext cx="129744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frozen test split, once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31"/>
          <p:cNvSpPr/>
          <p:nvPr/>
        </p:nvSpPr>
        <p:spPr>
          <a:xfrm>
            <a:off x="9235440" y="1481400"/>
            <a:ext cx="392040" cy="2458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32"/>
          <p:cNvSpPr/>
          <p:nvPr/>
        </p:nvSpPr>
        <p:spPr>
          <a:xfrm>
            <a:off x="9272160" y="1522440"/>
            <a:ext cx="318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2f67e8"/>
                </a:solidFill>
                <a:latin typeface="Aptos"/>
              </a:rPr>
              <a:t>Next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33"/>
          <p:cNvSpPr/>
          <p:nvPr/>
        </p:nvSpPr>
        <p:spPr>
          <a:xfrm>
            <a:off x="9939600" y="1325880"/>
            <a:ext cx="1626480" cy="18734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34"/>
          <p:cNvSpPr/>
          <p:nvPr/>
        </p:nvSpPr>
        <p:spPr>
          <a:xfrm>
            <a:off x="9939600" y="1325880"/>
            <a:ext cx="53640" cy="187344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Text 35"/>
          <p:cNvSpPr/>
          <p:nvPr/>
        </p:nvSpPr>
        <p:spPr>
          <a:xfrm>
            <a:off x="10140840" y="1463040"/>
            <a:ext cx="931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4213d"/>
                </a:solidFill>
                <a:latin typeface="Aptos"/>
                <a:ea typeface="Aptos"/>
              </a:rPr>
              <a:t>Research report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36"/>
          <p:cNvSpPr/>
          <p:nvPr/>
        </p:nvSpPr>
        <p:spPr>
          <a:xfrm>
            <a:off x="10140840" y="1892880"/>
            <a:ext cx="129744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~10-page IEEE LaTeX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8212f"/>
                </a:solidFill>
                <a:latin typeface="Aptos"/>
                <a:ea typeface="Aptos"/>
              </a:rPr>
              <a:t>literature review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37"/>
          <p:cNvSpPr/>
          <p:nvPr/>
        </p:nvSpPr>
        <p:spPr>
          <a:xfrm>
            <a:off x="11109960" y="1481400"/>
            <a:ext cx="392040" cy="24588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38"/>
          <p:cNvSpPr/>
          <p:nvPr/>
        </p:nvSpPr>
        <p:spPr>
          <a:xfrm>
            <a:off x="11146680" y="1522440"/>
            <a:ext cx="318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" spc="-1" strike="noStrike">
                <a:solidFill>
                  <a:srgbClr val="2f67e8"/>
                </a:solidFill>
                <a:latin typeface="Aptos"/>
              </a:rPr>
              <a:t>Delivered</a:t>
            </a:r>
            <a:endParaRPr b="0" lang="en-US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39"/>
          <p:cNvSpPr/>
          <p:nvPr/>
        </p:nvSpPr>
        <p:spPr>
          <a:xfrm>
            <a:off x="658440" y="3749040"/>
            <a:ext cx="18277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67085"/>
                </a:solidFill>
                <a:latin typeface="Aptos"/>
              </a:rPr>
              <a:t>Literature review coverage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40"/>
          <p:cNvSpPr/>
          <p:nvPr/>
        </p:nvSpPr>
        <p:spPr>
          <a:xfrm>
            <a:off x="658440" y="4069080"/>
            <a:ext cx="324504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41"/>
          <p:cNvSpPr/>
          <p:nvPr/>
        </p:nvSpPr>
        <p:spPr>
          <a:xfrm>
            <a:off x="731520" y="4133160"/>
            <a:ext cx="3098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Vehicle damage detection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42"/>
          <p:cNvSpPr/>
          <p:nvPr/>
        </p:nvSpPr>
        <p:spPr>
          <a:xfrm>
            <a:off x="4316040" y="4069080"/>
            <a:ext cx="3245040" cy="30996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 43"/>
          <p:cNvSpPr/>
          <p:nvPr/>
        </p:nvSpPr>
        <p:spPr>
          <a:xfrm>
            <a:off x="4389120" y="4133160"/>
            <a:ext cx="3098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CNN segmentation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44"/>
          <p:cNvSpPr/>
          <p:nvPr/>
        </p:nvSpPr>
        <p:spPr>
          <a:xfrm>
            <a:off x="7973640" y="4069080"/>
            <a:ext cx="3245040" cy="30996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Text 45"/>
          <p:cNvSpPr/>
          <p:nvPr/>
        </p:nvSpPr>
        <p:spPr>
          <a:xfrm>
            <a:off x="8046720" y="4133160"/>
            <a:ext cx="3098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Transformer segmentation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46"/>
          <p:cNvSpPr/>
          <p:nvPr/>
        </p:nvSpPr>
        <p:spPr>
          <a:xfrm>
            <a:off x="658440" y="4507920"/>
            <a:ext cx="324504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 47"/>
          <p:cNvSpPr/>
          <p:nvPr/>
        </p:nvSpPr>
        <p:spPr>
          <a:xfrm>
            <a:off x="731520" y="4572000"/>
            <a:ext cx="3098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CNN–Transformer hybrids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48"/>
          <p:cNvSpPr/>
          <p:nvPr/>
        </p:nvSpPr>
        <p:spPr>
          <a:xfrm>
            <a:off x="4316040" y="4507920"/>
            <a:ext cx="3245040" cy="30996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 49"/>
          <p:cNvSpPr/>
          <p:nvPr/>
        </p:nvSpPr>
        <p:spPr>
          <a:xfrm>
            <a:off x="4389120" y="4572000"/>
            <a:ext cx="3098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Small/fine-grained damage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50"/>
          <p:cNvSpPr/>
          <p:nvPr/>
        </p:nvSpPr>
        <p:spPr>
          <a:xfrm>
            <a:off x="7973640" y="4507920"/>
            <a:ext cx="3245040" cy="30996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Text 51"/>
          <p:cNvSpPr/>
          <p:nvPr/>
        </p:nvSpPr>
        <p:spPr>
          <a:xfrm>
            <a:off x="8046720" y="4572000"/>
            <a:ext cx="3098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CarDD and automotive datasets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52"/>
          <p:cNvSpPr/>
          <p:nvPr/>
        </p:nvSpPr>
        <p:spPr>
          <a:xfrm>
            <a:off x="658440" y="4946760"/>
            <a:ext cx="3245040" cy="309960"/>
          </a:xfrm>
          <a:prstGeom prst="roundRect">
            <a:avLst>
              <a:gd name="adj" fmla="val 41176"/>
            </a:avLst>
          </a:prstGeom>
          <a:solidFill>
            <a:srgbClr val="eef4ff"/>
          </a:solidFill>
          <a:ln w="12700">
            <a:solidFill>
              <a:srgbClr val="ee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Text 53"/>
          <p:cNvSpPr/>
          <p:nvPr/>
        </p:nvSpPr>
        <p:spPr>
          <a:xfrm>
            <a:off x="731520" y="5010840"/>
            <a:ext cx="3098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2f67e8"/>
                </a:solidFill>
                <a:latin typeface="Aptos"/>
              </a:rPr>
              <a:t>Image-quality assessment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54"/>
          <p:cNvSpPr/>
          <p:nvPr/>
        </p:nvSpPr>
        <p:spPr>
          <a:xfrm>
            <a:off x="4316040" y="4946760"/>
            <a:ext cx="3245040" cy="309960"/>
          </a:xfrm>
          <a:prstGeom prst="roundRect">
            <a:avLst>
              <a:gd name="adj" fmla="val 41176"/>
            </a:avLst>
          </a:prstGeom>
          <a:solidFill>
            <a:srgbClr val="eaf8f5"/>
          </a:solidFill>
          <a:ln w="12700">
            <a:solidFill>
              <a:srgbClr val="eaf8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Text 55"/>
          <p:cNvSpPr/>
          <p:nvPr/>
        </p:nvSpPr>
        <p:spPr>
          <a:xfrm>
            <a:off x="4389120" y="5010840"/>
            <a:ext cx="3098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fa89a"/>
                </a:solidFill>
                <a:latin typeface="Aptos"/>
              </a:rPr>
              <a:t>Vision + LLM inspection assistants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56"/>
          <p:cNvSpPr/>
          <p:nvPr/>
        </p:nvSpPr>
        <p:spPr>
          <a:xfrm>
            <a:off x="7973640" y="4946760"/>
            <a:ext cx="3245040" cy="309960"/>
          </a:xfrm>
          <a:prstGeom prst="roundRect">
            <a:avLst>
              <a:gd name="adj" fmla="val 41176"/>
            </a:avLst>
          </a:prstGeom>
          <a:solidFill>
            <a:srgbClr val="f1eeff"/>
          </a:solidFill>
          <a:ln w="12700">
            <a:solidFill>
              <a:srgbClr val="f1e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Text 57"/>
          <p:cNvSpPr/>
          <p:nvPr/>
        </p:nvSpPr>
        <p:spPr>
          <a:xfrm>
            <a:off x="8046720" y="5010840"/>
            <a:ext cx="309888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7a5af8"/>
                </a:solidFill>
                <a:latin typeface="Aptos"/>
              </a:rPr>
              <a:t>Research gap + AutoInspect-X positioning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1"/>
          <p:cNvSpPr>
            <a:spLocks noGrp="1"/>
          </p:cNvSpPr>
          <p:nvPr>
            <p:ph type="sldNum" idx="18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621E8297-311F-4AEA-B3FB-884ED4D77313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Text 0"/>
          <p:cNvSpPr/>
          <p:nvPr/>
        </p:nvSpPr>
        <p:spPr>
          <a:xfrm>
            <a:off x="567000" y="292680"/>
            <a:ext cx="896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4213d"/>
                </a:solidFill>
                <a:latin typeface="Aptos Display"/>
                <a:ea typeface="Aptos Display"/>
              </a:rPr>
              <a:t>Contribution of Each Member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 1"/>
          <p:cNvSpPr/>
          <p:nvPr/>
        </p:nvSpPr>
        <p:spPr>
          <a:xfrm>
            <a:off x="585360" y="749880"/>
            <a:ext cx="10697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67085"/>
                </a:solidFill>
                <a:latin typeface="Aptos"/>
                <a:ea typeface="Aptos"/>
              </a:rPr>
              <a:t>Roles remain aligned with the ML research, product integration and evaluation needs.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2"/>
          <p:cNvSpPr/>
          <p:nvPr/>
        </p:nvSpPr>
        <p:spPr>
          <a:xfrm>
            <a:off x="10168200" y="356760"/>
            <a:ext cx="1416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72" strike="noStrike">
                <a:solidFill>
                  <a:srgbClr val="2f67e8"/>
                </a:solidFill>
                <a:latin typeface="Aptos"/>
                <a:ea typeface="Aptos"/>
              </a:rPr>
              <a:t>15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3"/>
          <p:cNvSpPr/>
          <p:nvPr/>
        </p:nvSpPr>
        <p:spPr>
          <a:xfrm>
            <a:off x="658440" y="1207080"/>
            <a:ext cx="2925000" cy="63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4"/>
          <p:cNvSpPr/>
          <p:nvPr/>
        </p:nvSpPr>
        <p:spPr>
          <a:xfrm>
            <a:off x="658440" y="1207080"/>
            <a:ext cx="53640" cy="639000"/>
          </a:xfrm>
          <a:prstGeom prst="rect">
            <a:avLst/>
          </a:prstGeom>
          <a:solidFill>
            <a:srgbClr val="2f67e8"/>
          </a:solidFill>
          <a:ln w="12700">
            <a:solidFill>
              <a:srgbClr val="2f6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Text 5"/>
          <p:cNvSpPr/>
          <p:nvPr/>
        </p:nvSpPr>
        <p:spPr>
          <a:xfrm>
            <a:off x="859680" y="1344240"/>
            <a:ext cx="2540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Janvie Verma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Text 7"/>
          <p:cNvSpPr/>
          <p:nvPr/>
        </p:nvSpPr>
        <p:spPr>
          <a:xfrm>
            <a:off x="3794760" y="137160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4213d"/>
                </a:solidFill>
                <a:latin typeface="Aptos"/>
              </a:rPr>
              <a:t>Dataset + literature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Text 8"/>
          <p:cNvSpPr/>
          <p:nvPr/>
        </p:nvSpPr>
        <p:spPr>
          <a:xfrm>
            <a:off x="5577840" y="1316880"/>
            <a:ext cx="56682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</a:rPr>
              <a:t>Dataset curation, literature matrix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9"/>
          <p:cNvSpPr/>
          <p:nvPr/>
        </p:nvSpPr>
        <p:spPr>
          <a:xfrm>
            <a:off x="658440" y="2030040"/>
            <a:ext cx="2925000" cy="63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10"/>
          <p:cNvSpPr/>
          <p:nvPr/>
        </p:nvSpPr>
        <p:spPr>
          <a:xfrm>
            <a:off x="658440" y="2030040"/>
            <a:ext cx="53640" cy="639000"/>
          </a:xfrm>
          <a:prstGeom prst="rect">
            <a:avLst/>
          </a:prstGeom>
          <a:solidFill>
            <a:srgbClr val="7a5af8"/>
          </a:solidFill>
          <a:ln w="12700">
            <a:solidFill>
              <a:srgbClr val="7a5a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 11"/>
          <p:cNvSpPr/>
          <p:nvPr/>
        </p:nvSpPr>
        <p:spPr>
          <a:xfrm>
            <a:off x="859680" y="2167200"/>
            <a:ext cx="2540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Kislay Anand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 12"/>
          <p:cNvSpPr/>
          <p:nvPr/>
        </p:nvSpPr>
        <p:spPr>
          <a:xfrm>
            <a:off x="859680" y="2395440"/>
            <a:ext cx="25686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23BAI10359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 13"/>
          <p:cNvSpPr/>
          <p:nvPr/>
        </p:nvSpPr>
        <p:spPr>
          <a:xfrm>
            <a:off x="3794760" y="219456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4213d"/>
                </a:solidFill>
                <a:latin typeface="Aptos"/>
              </a:rPr>
              <a:t>ML / research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14"/>
          <p:cNvSpPr/>
          <p:nvPr/>
        </p:nvSpPr>
        <p:spPr>
          <a:xfrm>
            <a:off x="5577840" y="2139840"/>
            <a:ext cx="56682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</a:rPr>
              <a:t>Segmentation training, hybrid architecture, experiments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15"/>
          <p:cNvSpPr/>
          <p:nvPr/>
        </p:nvSpPr>
        <p:spPr>
          <a:xfrm>
            <a:off x="658440" y="2853000"/>
            <a:ext cx="2925000" cy="63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16"/>
          <p:cNvSpPr/>
          <p:nvPr/>
        </p:nvSpPr>
        <p:spPr>
          <a:xfrm>
            <a:off x="658440" y="2853000"/>
            <a:ext cx="53640" cy="639000"/>
          </a:xfrm>
          <a:prstGeom prst="rect">
            <a:avLst/>
          </a:prstGeom>
          <a:solidFill>
            <a:srgbClr val="1fa89a"/>
          </a:solidFill>
          <a:ln w="12700">
            <a:solidFill>
              <a:srgbClr val="1fa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Text 17"/>
          <p:cNvSpPr/>
          <p:nvPr/>
        </p:nvSpPr>
        <p:spPr>
          <a:xfrm>
            <a:off x="859680" y="2990160"/>
            <a:ext cx="2540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Chandrakant Anil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Text 18"/>
          <p:cNvSpPr/>
          <p:nvPr/>
        </p:nvSpPr>
        <p:spPr>
          <a:xfrm>
            <a:off x="859680" y="3228120"/>
            <a:ext cx="2568600" cy="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7222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23BAI11269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19"/>
          <p:cNvSpPr/>
          <p:nvPr/>
        </p:nvSpPr>
        <p:spPr>
          <a:xfrm>
            <a:off x="3794760" y="301752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4213d"/>
                </a:solidFill>
                <a:latin typeface="Aptos"/>
              </a:rPr>
              <a:t>Backend / integration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 20"/>
          <p:cNvSpPr/>
          <p:nvPr/>
        </p:nvSpPr>
        <p:spPr>
          <a:xfrm>
            <a:off x="5577840" y="2962800"/>
            <a:ext cx="56682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</a:rPr>
              <a:t>FastAPI inference orchestration, report API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21"/>
          <p:cNvSpPr/>
          <p:nvPr/>
        </p:nvSpPr>
        <p:spPr>
          <a:xfrm>
            <a:off x="658440" y="3675960"/>
            <a:ext cx="2925000" cy="63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22"/>
          <p:cNvSpPr/>
          <p:nvPr/>
        </p:nvSpPr>
        <p:spPr>
          <a:xfrm>
            <a:off x="658440" y="3675960"/>
            <a:ext cx="53640" cy="639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 23"/>
          <p:cNvSpPr/>
          <p:nvPr/>
        </p:nvSpPr>
        <p:spPr>
          <a:xfrm>
            <a:off x="859680" y="3813120"/>
            <a:ext cx="2540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Parikshid Arya Poornachandra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24"/>
          <p:cNvSpPr/>
          <p:nvPr/>
        </p:nvSpPr>
        <p:spPr>
          <a:xfrm>
            <a:off x="859680" y="4041360"/>
            <a:ext cx="25686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23BAI10656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 25"/>
          <p:cNvSpPr/>
          <p:nvPr/>
        </p:nvSpPr>
        <p:spPr>
          <a:xfrm>
            <a:off x="3794760" y="384048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4213d"/>
                </a:solidFill>
                <a:latin typeface="Aptos"/>
              </a:rPr>
              <a:t>Frontend / UX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Text 26"/>
          <p:cNvSpPr/>
          <p:nvPr/>
        </p:nvSpPr>
        <p:spPr>
          <a:xfrm>
            <a:off x="5577840" y="3785760"/>
            <a:ext cx="56682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</a:rPr>
              <a:t>Inspection workflow, visualization, responsive chat experience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27"/>
          <p:cNvSpPr/>
          <p:nvPr/>
        </p:nvSpPr>
        <p:spPr>
          <a:xfrm>
            <a:off x="658440" y="4498920"/>
            <a:ext cx="2925000" cy="63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28"/>
          <p:cNvSpPr/>
          <p:nvPr/>
        </p:nvSpPr>
        <p:spPr>
          <a:xfrm>
            <a:off x="658440" y="4498920"/>
            <a:ext cx="53640" cy="6390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Text 29"/>
          <p:cNvSpPr/>
          <p:nvPr/>
        </p:nvSpPr>
        <p:spPr>
          <a:xfrm>
            <a:off x="859680" y="4636080"/>
            <a:ext cx="2540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4213d"/>
                </a:solidFill>
                <a:latin typeface="Aptos"/>
                <a:ea typeface="Aptos"/>
              </a:rPr>
              <a:t>Arya Khullar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 30"/>
          <p:cNvSpPr/>
          <p:nvPr/>
        </p:nvSpPr>
        <p:spPr>
          <a:xfrm>
            <a:off x="859680" y="4865040"/>
            <a:ext cx="25686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23BAI11198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31"/>
          <p:cNvSpPr/>
          <p:nvPr/>
        </p:nvSpPr>
        <p:spPr>
          <a:xfrm>
            <a:off x="3794760" y="466344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4213d"/>
                </a:solidFill>
                <a:latin typeface="Aptos"/>
              </a:rPr>
              <a:t>Evaluation / documentation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32"/>
          <p:cNvSpPr/>
          <p:nvPr/>
        </p:nvSpPr>
        <p:spPr>
          <a:xfrm>
            <a:off x="5577840" y="4608720"/>
            <a:ext cx="56682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0" spc="-1" strike="noStrike">
                <a:solidFill>
                  <a:srgbClr val="18212f"/>
                </a:solidFill>
                <a:latin typeface="Aptos"/>
              </a:rPr>
              <a:t>Metrics, ablations, testing, research presentation</a:t>
            </a:r>
            <a:endParaRPr b="0" lang="en-US" sz="9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1"/>
          <p:cNvSpPr>
            <a:spLocks noGrp="1"/>
          </p:cNvSpPr>
          <p:nvPr>
            <p:ph type="sldNum" idx="19"/>
          </p:nvPr>
        </p:nvSpPr>
        <p:spPr>
          <a:xfrm>
            <a:off x="11292840" y="6574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7b8494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10797E24-04E8-4159-B6A3-ECE4CD4B68EE}" type="slidenum">
              <a:rPr b="0" lang="en-US" sz="850" spc="-1" strike="noStrike">
                <a:solidFill>
                  <a:srgbClr val="7b8494"/>
                </a:solidFill>
                <a:latin typeface="Aptos"/>
                <a:ea typeface="Aptos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4" name="Text 6"/>
          <p:cNvSpPr/>
          <p:nvPr/>
        </p:nvSpPr>
        <p:spPr>
          <a:xfrm>
            <a:off x="859680" y="1600200"/>
            <a:ext cx="27972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18212f"/>
                </a:solidFill>
                <a:latin typeface="Aptos"/>
                <a:ea typeface="Aptos"/>
              </a:rPr>
              <a:t>23BAI10307</a:t>
            </a:r>
            <a:endParaRPr b="0" lang="en-US" sz="8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Text 0"/>
          <p:cNvSpPr/>
          <p:nvPr/>
        </p:nvSpPr>
        <p:spPr>
          <a:xfrm>
            <a:off x="658440" y="50292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References &amp; Closing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Text 1"/>
          <p:cNvSpPr/>
          <p:nvPr/>
        </p:nvSpPr>
        <p:spPr>
          <a:xfrm>
            <a:off x="676800" y="932760"/>
            <a:ext cx="5028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b9c7db"/>
                </a:solidFill>
                <a:latin typeface="Aptos"/>
              </a:rPr>
              <a:t>Key foundations used for the research framing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Text 2"/>
          <p:cNvSpPr/>
          <p:nvPr/>
        </p:nvSpPr>
        <p:spPr>
          <a:xfrm>
            <a:off x="685800" y="1353240"/>
            <a:ext cx="51926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1"/>
              </a:rPr>
              <a:t>1. Wang, X., Li, W., Wu, Z. “CarDD: A New Dataset for Vision-Based Car Damage Detection.” IEEE T-ITS, 2023. DOI: 10.1109/TITS.2023.3258480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Text 3"/>
          <p:cNvSpPr/>
          <p:nvPr/>
        </p:nvSpPr>
        <p:spPr>
          <a:xfrm>
            <a:off x="6309360" y="1353240"/>
            <a:ext cx="51926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2"/>
              </a:rPr>
              <a:t>2. Ronneberger, O., Fischer, P., Brox, T. “U-Net: Convolutional Networks for Biomedical Image Segmentation.” MICCAI, 2015.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Text 4"/>
          <p:cNvSpPr/>
          <p:nvPr/>
        </p:nvSpPr>
        <p:spPr>
          <a:xfrm>
            <a:off x="685800" y="2267640"/>
            <a:ext cx="51926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3"/>
              </a:rPr>
              <a:t>3. Chen, J. et al. “TransUNet: Transformers Make Strong Encoders for Medical Image Segmentation.” 2021. arXiv:2102.04306.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Text 5"/>
          <p:cNvSpPr/>
          <p:nvPr/>
        </p:nvSpPr>
        <p:spPr>
          <a:xfrm>
            <a:off x="6309360" y="2267640"/>
            <a:ext cx="51926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4"/>
              </a:rPr>
              <a:t>4. Cheng, B. et al. “Masked-Attention Mask Transformer for Universal Image Segmentation.” CVPR, 2022.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Text 6"/>
          <p:cNvSpPr/>
          <p:nvPr/>
        </p:nvSpPr>
        <p:spPr>
          <a:xfrm>
            <a:off x="685800" y="3182040"/>
            <a:ext cx="51926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5"/>
              </a:rPr>
              <a:t>5. Patil, K. et al. “Deep Learning Based Car Damage Classification.” IEEE ICMLA, 2017.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Text 7"/>
          <p:cNvSpPr/>
          <p:nvPr/>
        </p:nvSpPr>
        <p:spPr>
          <a:xfrm>
            <a:off x="6309360" y="3182040"/>
            <a:ext cx="51926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6"/>
              </a:rPr>
              <a:t>6. Venkatesh, M. et al. “Vehicle Damage Detection Using Machine Learning and Segmentation to Aid Insurance Claims.” IEEE INDICON, 2023.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Text 8"/>
          <p:cNvSpPr/>
          <p:nvPr/>
        </p:nvSpPr>
        <p:spPr>
          <a:xfrm>
            <a:off x="685800" y="4096440"/>
            <a:ext cx="51926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7"/>
              </a:rPr>
              <a:t>7. Hasan, M.J. et al. “Vehicle Damage Detection Using Artificial Intelligence: A Systematic Literature Review.” WIREs Data Mining &amp; Knowledge Discovery, 2025.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Text 9"/>
          <p:cNvSpPr/>
          <p:nvPr/>
        </p:nvSpPr>
        <p:spPr>
          <a:xfrm>
            <a:off x="6309360" y="4096440"/>
            <a:ext cx="519264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pc="-1" strike="noStrike" u="sng">
                <a:solidFill>
                  <a:srgbClr val="0563c1"/>
                </a:solidFill>
                <a:uFillTx/>
                <a:latin typeface="Aptos"/>
                <a:hlinkClick r:id="rId8"/>
              </a:rPr>
              <a:t>8. Huynh et al. “Powering AI-driven car damage identification based on VeHIDE dataset.” 2024.</a:t>
            </a:r>
            <a:endParaRPr b="0" lang="en-US" sz="88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Shape 10"/>
          <p:cNvSpPr/>
          <p:nvPr/>
        </p:nvSpPr>
        <p:spPr>
          <a:xfrm>
            <a:off x="676800" y="5212080"/>
            <a:ext cx="6582600" cy="748800"/>
          </a:xfrm>
          <a:prstGeom prst="roundRect">
            <a:avLst>
              <a:gd name="adj" fmla="val 9756"/>
            </a:avLst>
          </a:prstGeom>
          <a:solidFill>
            <a:srgbClr val="1b2b49"/>
          </a:solidFill>
          <a:ln w="12700">
            <a:solidFill>
              <a:srgbClr val="2b4a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 11"/>
          <p:cNvSpPr/>
          <p:nvPr/>
        </p:nvSpPr>
        <p:spPr>
          <a:xfrm>
            <a:off x="932760" y="5403960"/>
            <a:ext cx="14619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a9c6ff"/>
                </a:solidFill>
                <a:latin typeface="Aptos"/>
              </a:rPr>
              <a:t>AutoInspect-X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 12"/>
          <p:cNvSpPr/>
          <p:nvPr/>
        </p:nvSpPr>
        <p:spPr>
          <a:xfrm>
            <a:off x="2359080" y="5367600"/>
            <a:ext cx="45525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7222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pc="-1" strike="noStrike">
                <a:solidFill>
                  <a:srgbClr val="ffffff"/>
                </a:solidFill>
                <a:latin typeface="Aptos"/>
              </a:rPr>
              <a:t>Accurate visible-damage segmentation, grounded explanation, and a defensible research evaluation.</a:t>
            </a:r>
            <a:endParaRPr b="0" lang="en-US" sz="10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Text 13"/>
          <p:cNvSpPr/>
          <p:nvPr/>
        </p:nvSpPr>
        <p:spPr>
          <a:xfrm>
            <a:off x="8458200" y="5349240"/>
            <a:ext cx="1919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23" strike="noStrike">
                <a:solidFill>
                  <a:srgbClr val="a9c6ff"/>
                </a:solidFill>
                <a:latin typeface="Aptos"/>
              </a:rPr>
              <a:t>THANK YOU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Text 14"/>
          <p:cNvSpPr/>
          <p:nvPr/>
        </p:nvSpPr>
        <p:spPr>
          <a:xfrm>
            <a:off x="11228760" y="6217920"/>
            <a:ext cx="25488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7fa1d6"/>
                </a:solidFill>
                <a:latin typeface="Aptos"/>
              </a:rPr>
              <a:t>17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TextBox 16"/>
          <p:cNvSpPr/>
          <p:nvPr/>
        </p:nvSpPr>
        <p:spPr>
          <a:xfrm>
            <a:off x="8612640" y="777240"/>
            <a:ext cx="197568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  <Company>Capstone 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2026-09-22T07:27:23Z</dcterms:created>
  <dc:creator>AutoInspect-X</dc:creator>
  <dc:description/>
  <dc:language>en-US</dc:language>
  <cp:lastModifiedBy/>
  <dcterms:modified xsi:type="dcterms:W3CDTF">2026-09-22T21:19:41Z</dcterms:modified>
  <cp:revision>5</cp:revision>
  <dc:subject>Capstone Project</dc:subject>
  <dc:title>AutoInspect-X — CNN–Transformer Hybrid Deep Learning for Vehicle Damage Segmentation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