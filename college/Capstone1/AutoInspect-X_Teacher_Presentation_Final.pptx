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1052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AutoInspect-X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9052560" y="6510528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Capstone Project Proposal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412480" y="-1143000"/>
            <a:ext cx="4572000" cy="4572000"/>
          </a:xfrm>
          <a:prstGeom prst="arc">
            <a:avLst/>
          </a:prstGeom>
          <a:noFill/>
          <a:ln w="165100">
            <a:solidFill>
              <a:srgbClr val="60A5FA">
                <a:alpha val="4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914400"/>
            <a:ext cx="3566160" cy="3566160"/>
          </a:xfrm>
          <a:prstGeom prst="arc">
            <a:avLst/>
          </a:prstGeom>
          <a:noFill/>
          <a:ln w="114300">
            <a:solidFill>
              <a:srgbClr val="22D3EE">
                <a:alpha val="2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530352"/>
            <a:ext cx="4937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93C5FD"/>
                </a:solidFill>
              </a:rPr>
              <a:t>AUTOMOTIVE AI • COMPUTER VISION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13232" y="1033272"/>
            <a:ext cx="6126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AutoInspect-X</a:t>
            </a:r>
            <a:endParaRPr lang="en-US" sz="3900" dirty="0"/>
          </a:p>
        </p:txBody>
      </p:sp>
      <p:sp>
        <p:nvSpPr>
          <p:cNvPr id="7" name="Text 5"/>
          <p:cNvSpPr/>
          <p:nvPr/>
        </p:nvSpPr>
        <p:spPr>
          <a:xfrm>
            <a:off x="749808" y="1810512"/>
            <a:ext cx="7086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dirty="0">
                <a:solidFill>
                  <a:srgbClr val="CBD5E1"/>
                </a:solidFill>
              </a:rPr>
              <a:t>Multimodal Deep Learning for Vehicle Damage Segmentation and Uncertainty-Aware Repair Cost Estimation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49808" y="3154680"/>
            <a:ext cx="1417320" cy="310896"/>
          </a:xfrm>
          <a:prstGeom prst="roundRect">
            <a:avLst>
              <a:gd name="adj" fmla="val 23529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3218688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BFDBFE"/>
                </a:solidFill>
              </a:rPr>
              <a:t>Segmentation</a:t>
            </a:r>
            <a:endParaRPr lang="en-US" sz="930" dirty="0"/>
          </a:p>
        </p:txBody>
      </p:sp>
      <p:sp>
        <p:nvSpPr>
          <p:cNvPr id="10" name="Shape 8"/>
          <p:cNvSpPr/>
          <p:nvPr/>
        </p:nvSpPr>
        <p:spPr>
          <a:xfrm>
            <a:off x="2286000" y="3154680"/>
            <a:ext cx="1435608" cy="310896"/>
          </a:xfrm>
          <a:prstGeom prst="roundRect">
            <a:avLst>
              <a:gd name="adj" fmla="val 23529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0" y="3218688"/>
            <a:ext cx="14356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BFDBFE"/>
                </a:solidFill>
              </a:rPr>
              <a:t>Multimodal AI</a:t>
            </a:r>
            <a:endParaRPr lang="en-US" sz="930" dirty="0"/>
          </a:p>
        </p:txBody>
      </p:sp>
      <p:sp>
        <p:nvSpPr>
          <p:cNvPr id="12" name="Shape 10"/>
          <p:cNvSpPr/>
          <p:nvPr/>
        </p:nvSpPr>
        <p:spPr>
          <a:xfrm>
            <a:off x="3840480" y="3154680"/>
            <a:ext cx="1572768" cy="310896"/>
          </a:xfrm>
          <a:prstGeom prst="roundRect">
            <a:avLst>
              <a:gd name="adj" fmla="val 23529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3218688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BFDBFE"/>
                </a:solidFill>
              </a:rPr>
              <a:t>Cost Uncertainty</a:t>
            </a:r>
            <a:endParaRPr lang="en-US" sz="930" dirty="0"/>
          </a:p>
        </p:txBody>
      </p:sp>
      <p:sp>
        <p:nvSpPr>
          <p:cNvPr id="14" name="Shape 12"/>
          <p:cNvSpPr/>
          <p:nvPr/>
        </p:nvSpPr>
        <p:spPr>
          <a:xfrm>
            <a:off x="5532120" y="3154680"/>
            <a:ext cx="1344168" cy="310896"/>
          </a:xfrm>
          <a:prstGeom prst="roundRect">
            <a:avLst>
              <a:gd name="adj" fmla="val 23529"/>
            </a:avLst>
          </a:prstGeom>
          <a:solidFill>
            <a:srgbClr val="1E3A8A"/>
          </a:solidFill>
          <a:ln w="12700">
            <a:solidFill>
              <a:srgbClr val="1E3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3218688"/>
            <a:ext cx="1344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BFDBFE"/>
                </a:solidFill>
              </a:rPr>
              <a:t>Explainability</a:t>
            </a:r>
            <a:endParaRPr lang="en-US" sz="930" dirty="0"/>
          </a:p>
        </p:txBody>
      </p:sp>
      <p:sp>
        <p:nvSpPr>
          <p:cNvPr id="16" name="Text 14"/>
          <p:cNvSpPr/>
          <p:nvPr/>
        </p:nvSpPr>
        <p:spPr>
          <a:xfrm>
            <a:off x="749808" y="391363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93C5FD"/>
                </a:solidFill>
              </a:rPr>
              <a:t>TEAM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758952" y="431596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</a:rPr>
              <a:t>Janvie Verma</a:t>
            </a:r>
            <a:endParaRPr lang="en-US" sz="1130" dirty="0"/>
          </a:p>
        </p:txBody>
      </p:sp>
      <p:sp>
        <p:nvSpPr>
          <p:cNvPr id="18" name="Text 16"/>
          <p:cNvSpPr/>
          <p:nvPr/>
        </p:nvSpPr>
        <p:spPr>
          <a:xfrm>
            <a:off x="2743200" y="431596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4A3B8"/>
                </a:solidFill>
              </a:rPr>
              <a:t>23BAI10307</a:t>
            </a:r>
            <a:endParaRPr lang="en-US" sz="1030" dirty="0"/>
          </a:p>
        </p:txBody>
      </p:sp>
      <p:sp>
        <p:nvSpPr>
          <p:cNvPr id="19" name="Text 17"/>
          <p:cNvSpPr/>
          <p:nvPr/>
        </p:nvSpPr>
        <p:spPr>
          <a:xfrm>
            <a:off x="758952" y="4709160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</a:rPr>
              <a:t>Kislay Anand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2743200" y="47091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4A3B8"/>
                </a:solidFill>
              </a:rPr>
              <a:t>23BAI10359</a:t>
            </a:r>
            <a:endParaRPr lang="en-US" sz="1030" dirty="0"/>
          </a:p>
        </p:txBody>
      </p:sp>
      <p:sp>
        <p:nvSpPr>
          <p:cNvPr id="21" name="Text 19"/>
          <p:cNvSpPr/>
          <p:nvPr/>
        </p:nvSpPr>
        <p:spPr>
          <a:xfrm>
            <a:off x="758952" y="5102352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</a:rPr>
              <a:t>Chandrakant Anil</a:t>
            </a:r>
            <a:endParaRPr lang="en-US" sz="1130" dirty="0"/>
          </a:p>
        </p:txBody>
      </p:sp>
      <p:sp>
        <p:nvSpPr>
          <p:cNvPr id="22" name="Text 20"/>
          <p:cNvSpPr/>
          <p:nvPr/>
        </p:nvSpPr>
        <p:spPr>
          <a:xfrm>
            <a:off x="2743200" y="510235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4A3B8"/>
                </a:solidFill>
              </a:rPr>
              <a:t>ID not provided</a:t>
            </a:r>
            <a:endParaRPr lang="en-US" sz="1030" dirty="0"/>
          </a:p>
        </p:txBody>
      </p:sp>
      <p:sp>
        <p:nvSpPr>
          <p:cNvPr id="23" name="Text 21"/>
          <p:cNvSpPr/>
          <p:nvPr/>
        </p:nvSpPr>
        <p:spPr>
          <a:xfrm>
            <a:off x="758952" y="549554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</a:rPr>
              <a:t>Arya</a:t>
            </a:r>
            <a:endParaRPr lang="en-US" sz="1130" dirty="0"/>
          </a:p>
        </p:txBody>
      </p:sp>
      <p:sp>
        <p:nvSpPr>
          <p:cNvPr id="24" name="Text 22"/>
          <p:cNvSpPr/>
          <p:nvPr/>
        </p:nvSpPr>
        <p:spPr>
          <a:xfrm>
            <a:off x="2743200" y="54955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4A3B8"/>
                </a:solidFill>
              </a:rPr>
              <a:t>ID not provided</a:t>
            </a:r>
            <a:endParaRPr lang="en-US" sz="1030" dirty="0"/>
          </a:p>
        </p:txBody>
      </p:sp>
      <p:sp>
        <p:nvSpPr>
          <p:cNvPr id="25" name="Text 23"/>
          <p:cNvSpPr/>
          <p:nvPr/>
        </p:nvSpPr>
        <p:spPr>
          <a:xfrm>
            <a:off x="758952" y="5888736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FFFFFF"/>
                </a:solidFill>
              </a:rPr>
              <a:t>Arya</a:t>
            </a:r>
            <a:endParaRPr lang="en-US" sz="1130" dirty="0"/>
          </a:p>
        </p:txBody>
      </p:sp>
      <p:sp>
        <p:nvSpPr>
          <p:cNvPr id="26" name="Text 24"/>
          <p:cNvSpPr/>
          <p:nvPr/>
        </p:nvSpPr>
        <p:spPr>
          <a:xfrm>
            <a:off x="2743200" y="58887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dirty="0">
                <a:solidFill>
                  <a:srgbClr val="94A3B8"/>
                </a:solidFill>
              </a:rPr>
              <a:t>ID not provided</a:t>
            </a:r>
            <a:endParaRPr lang="en-US" sz="1030" dirty="0"/>
          </a:p>
        </p:txBody>
      </p:sp>
      <p:sp>
        <p:nvSpPr>
          <p:cNvPr id="27" name="Text 25"/>
          <p:cNvSpPr/>
          <p:nvPr/>
        </p:nvSpPr>
        <p:spPr>
          <a:xfrm>
            <a:off x="8183880" y="5266944"/>
            <a:ext cx="2926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30" kern="0" dirty="0">
                <a:solidFill>
                  <a:srgbClr val="67E8F9"/>
                </a:solidFill>
              </a:rPr>
              <a:t>CAPSTONE PROJECT PROPOSAL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549640" y="558698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94A3B8"/>
                </a:solidFill>
              </a:rPr>
              <a:t>September 2026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Problem Statement • Objective • Scope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The project is a decision-support system, not just a “dent detector.”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345643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298448"/>
            <a:ext cx="64008" cy="18288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3560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Problem Statement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810512"/>
            <a:ext cx="3090672" cy="12070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Vehicle damage inspection still depends heavily on manual assessment. Visual AI can localize damage, but downstream decisions—repair action and cost—remain sensitive to vehicle details, data quality, and uncertainty.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298448"/>
            <a:ext cx="345643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298448"/>
            <a:ext cx="64008" cy="18288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43560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Objective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3712" y="1810512"/>
            <a:ext cx="3090672" cy="12070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Study whether pixel-level damage representations combined with vehicle metadata improve repair-action prediction and repair-cost estimation versus vision-only and simple-fusion baselines.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298448"/>
            <a:ext cx="3456432" cy="1828800"/>
          </a:xfrm>
          <a:prstGeom prst="roundRect">
            <a:avLst>
              <a:gd name="adj" fmla="val 3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83296" y="1298448"/>
            <a:ext cx="64008" cy="182880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43560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Scope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66176" y="1810512"/>
            <a:ext cx="3090672" cy="120700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Core: visible damage segmentation, feature extraction, multimodal fusion, repair action, uncertainty-aware cost interval, explanation. Optional: hidden-damage risk only when reliable labels exist.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359359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4748B"/>
                </a:solidFill>
              </a:rPr>
              <a:t>INPUTS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" y="3904488"/>
            <a:ext cx="1847088" cy="310896"/>
          </a:xfrm>
          <a:prstGeom prst="roundRect">
            <a:avLst>
              <a:gd name="adj" fmla="val 23529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4944" y="396849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563EB"/>
                </a:solidFill>
              </a:rPr>
              <a:t>Vehicle image(s)</a:t>
            </a:r>
            <a:endParaRPr lang="en-US" sz="930" dirty="0"/>
          </a:p>
        </p:txBody>
      </p:sp>
      <p:sp>
        <p:nvSpPr>
          <p:cNvPr id="19" name="Shape 17"/>
          <p:cNvSpPr/>
          <p:nvPr/>
        </p:nvSpPr>
        <p:spPr>
          <a:xfrm>
            <a:off x="2779776" y="3904488"/>
            <a:ext cx="1847088" cy="310896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79776" y="396849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2937"/>
                </a:solidFill>
              </a:rPr>
              <a:t>Make / model / year</a:t>
            </a:r>
            <a:endParaRPr lang="en-US" sz="930" dirty="0"/>
          </a:p>
        </p:txBody>
      </p:sp>
      <p:sp>
        <p:nvSpPr>
          <p:cNvPr id="21" name="Shape 19"/>
          <p:cNvSpPr/>
          <p:nvPr/>
        </p:nvSpPr>
        <p:spPr>
          <a:xfrm>
            <a:off x="4864608" y="3904488"/>
            <a:ext cx="1847088" cy="310896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64608" y="3968496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2937"/>
                </a:solidFill>
              </a:rPr>
              <a:t>Region / labor context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7178040" y="4069080"/>
            <a:ext cx="1143000" cy="0"/>
          </a:xfrm>
          <a:prstGeom prst="line">
            <a:avLst/>
          </a:prstGeom>
          <a:noFill/>
          <a:ln w="3175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94944" y="45902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4748B"/>
                </a:solidFill>
              </a:rPr>
              <a:t>OUTPUTS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4944" y="4901184"/>
            <a:ext cx="1847088" cy="310896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4944" y="496519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2937"/>
                </a:solidFill>
              </a:rPr>
              <a:t>Damage mask</a:t>
            </a:r>
            <a:endParaRPr lang="en-US" sz="930" dirty="0"/>
          </a:p>
        </p:txBody>
      </p:sp>
      <p:sp>
        <p:nvSpPr>
          <p:cNvPr id="27" name="Shape 25"/>
          <p:cNvSpPr/>
          <p:nvPr/>
        </p:nvSpPr>
        <p:spPr>
          <a:xfrm>
            <a:off x="2779776" y="4901184"/>
            <a:ext cx="1847088" cy="310896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79776" y="496519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2937"/>
                </a:solidFill>
              </a:rPr>
              <a:t>Repair / replace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4864608" y="4901184"/>
            <a:ext cx="1847088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64608" y="4965192"/>
            <a:ext cx="184708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66534"/>
                </a:solidFill>
              </a:rPr>
              <a:t>Cost range + confidence</a:t>
            </a:r>
            <a:endParaRPr lang="en-US" sz="930" dirty="0"/>
          </a:p>
        </p:txBody>
      </p:sp>
      <p:sp>
        <p:nvSpPr>
          <p:cNvPr id="31" name="Text 29"/>
          <p:cNvSpPr/>
          <p:nvPr/>
        </p:nvSpPr>
        <p:spPr>
          <a:xfrm>
            <a:off x="612648" y="612648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i="1" dirty="0">
                <a:solidFill>
                  <a:srgbClr val="64748B"/>
                </a:solidFill>
              </a:rPr>
              <a:t>Boundary: the system provides preliminary decision support; a final repair quote or hidden structural diagnosis still requires professional inspection.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Why this is a research project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Existing work establishes the vision problem; our study tests a downstream multimodal hypothesis.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1083564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9047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CarDD</a:t>
            </a:r>
            <a:endParaRPr lang="en-US" sz="1230" dirty="0"/>
          </a:p>
        </p:txBody>
      </p:sp>
      <p:sp>
        <p:nvSpPr>
          <p:cNvPr id="6" name="Text 4"/>
          <p:cNvSpPr/>
          <p:nvPr/>
        </p:nvSpPr>
        <p:spPr>
          <a:xfrm>
            <a:off x="2743200" y="1444752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Public benchmark for damage detection + instance segmentation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903720" y="1444752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2017 → 2023+ vision foundation</a:t>
            </a:r>
            <a:endParaRPr lang="en-US" sz="1080" dirty="0"/>
          </a:p>
        </p:txBody>
      </p:sp>
      <p:sp>
        <p:nvSpPr>
          <p:cNvPr id="8" name="Shape 6"/>
          <p:cNvSpPr/>
          <p:nvPr/>
        </p:nvSpPr>
        <p:spPr>
          <a:xfrm>
            <a:off x="685800" y="2368296"/>
            <a:ext cx="1083564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328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Severity / insurance studies</a:t>
            </a:r>
            <a:endParaRPr lang="en-US" sz="1230" dirty="0"/>
          </a:p>
        </p:txBody>
      </p:sp>
      <p:sp>
        <p:nvSpPr>
          <p:cNvPr id="10" name="Text 8"/>
          <p:cNvSpPr/>
          <p:nvPr/>
        </p:nvSpPr>
        <p:spPr>
          <a:xfrm>
            <a:off x="2743200" y="2487168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Damage severity and insurance-oriented assessment already exist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6903720" y="2487168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Shows the domain is active, not empty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685800" y="3410712"/>
            <a:ext cx="10835640" cy="841248"/>
          </a:xfrm>
          <a:prstGeom prst="roundRect">
            <a:avLst>
              <a:gd name="adj" fmla="val 54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35753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Cost / payout studies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2743200" y="3529584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Image-derived features have been linked to cost/insurance prediction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903720" y="3529584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Cost prediction has prior art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85800" y="4453128"/>
            <a:ext cx="10835640" cy="841248"/>
          </a:xfrm>
          <a:prstGeom prst="roundRect">
            <a:avLst>
              <a:gd name="adj" fmla="val 5435"/>
            </a:avLst>
          </a:prstGeom>
          <a:solidFill>
            <a:srgbClr val="EFF6FF"/>
          </a:solidFill>
          <a:ln w="16510">
            <a:solidFill>
              <a:srgbClr val="BFDB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6177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563EB"/>
                </a:solidFill>
              </a:rPr>
              <a:t>Our gap</a:t>
            </a:r>
            <a:endParaRPr lang="en-US" sz="1230" dirty="0"/>
          </a:p>
        </p:txBody>
      </p:sp>
      <p:sp>
        <p:nvSpPr>
          <p:cNvPr id="18" name="Text 16"/>
          <p:cNvSpPr/>
          <p:nvPr/>
        </p:nvSpPr>
        <p:spPr>
          <a:xfrm>
            <a:off x="2743200" y="4572000"/>
            <a:ext cx="3886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</a:rPr>
              <a:t>Systematic comparison of segmentation-derived features + metadata + cost intervals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03720" y="4572000"/>
            <a:ext cx="4160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64748B"/>
                </a:solidFill>
              </a:rPr>
              <a:t>Testable research contribution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713232" y="5486400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Research framing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331720" y="5431536"/>
            <a:ext cx="8686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</a:rPr>
              <a:t>Not “Is car damage detection possible?” → “Which representation + fusion strategy improves downstream estimation, and under what data conditions?”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12648" y="612648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i="1" dirty="0">
                <a:solidFill>
                  <a:srgbClr val="64748B"/>
                </a:solidFill>
              </a:rPr>
              <a:t>Sources: CarDD (Wang et al., IEEE T-ITS, 2023); Hasan et al., WIREs Data Mining &amp; Knowledge Discovery, 2025; Qaddour &amp; Siddiqa, 2023; VehiDE, 2024.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Methodology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A staged workflow separates the computer-vision problem from the research comparison.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40080" y="1353312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1554480"/>
            <a:ext cx="493776" cy="4937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67335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481328" y="15727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Collect / curate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481328" y="1993392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Public damage images + valid metadata/cost records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4434840" y="1353312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99432" y="1554480"/>
            <a:ext cx="493776" cy="4937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9432" y="167335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276088" y="15727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Annotate / prepare</a:t>
            </a:r>
            <a:endParaRPr lang="en-US" sz="1320" dirty="0"/>
          </a:p>
        </p:txBody>
      </p:sp>
      <p:sp>
        <p:nvSpPr>
          <p:cNvPr id="13" name="Text 11"/>
          <p:cNvSpPr/>
          <p:nvPr/>
        </p:nvSpPr>
        <p:spPr>
          <a:xfrm>
            <a:off x="5276088" y="1993392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Damage masks, parts, labels; remove leakage and duplicates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8229600" y="1353312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94192" y="1554480"/>
            <a:ext cx="493776" cy="4937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1673352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070848" y="157276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Vision model</a:t>
            </a:r>
            <a:endParaRPr lang="en-US" sz="1320" dirty="0"/>
          </a:p>
        </p:txBody>
      </p:sp>
      <p:sp>
        <p:nvSpPr>
          <p:cNvPr id="18" name="Text 16"/>
          <p:cNvSpPr/>
          <p:nvPr/>
        </p:nvSpPr>
        <p:spPr>
          <a:xfrm>
            <a:off x="9070848" y="1993392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Fine-tune segmentation model; extract damage features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40080" y="3328416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04672" y="3529584"/>
            <a:ext cx="493776" cy="4937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" y="3648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481328" y="35478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Fusion study</a:t>
            </a:r>
            <a:endParaRPr lang="en-US" sz="1320" dirty="0"/>
          </a:p>
        </p:txBody>
      </p:sp>
      <p:sp>
        <p:nvSpPr>
          <p:cNvPr id="23" name="Text 21"/>
          <p:cNvSpPr/>
          <p:nvPr/>
        </p:nvSpPr>
        <p:spPr>
          <a:xfrm>
            <a:off x="1481328" y="3968496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Compare vision-only, concatenation, and cross-attention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434840" y="3328416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99432" y="3529584"/>
            <a:ext cx="493776" cy="493776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99432" y="3648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276088" y="35478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Downstream heads</a:t>
            </a:r>
            <a:endParaRPr lang="en-US" sz="1320" dirty="0"/>
          </a:p>
        </p:txBody>
      </p:sp>
      <p:sp>
        <p:nvSpPr>
          <p:cNvPr id="28" name="Text 26"/>
          <p:cNvSpPr/>
          <p:nvPr/>
        </p:nvSpPr>
        <p:spPr>
          <a:xfrm>
            <a:off x="5276088" y="3968496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Repair action + quantile cost prediction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229600" y="3328416"/>
            <a:ext cx="3401568" cy="1572768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394192" y="3529584"/>
            <a:ext cx="493776" cy="49377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394192" y="3648456"/>
            <a:ext cx="493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070848" y="354787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</a:rPr>
              <a:t>Evaluate</a:t>
            </a:r>
            <a:endParaRPr lang="en-US" sz="1320" dirty="0"/>
          </a:p>
        </p:txBody>
      </p:sp>
      <p:sp>
        <p:nvSpPr>
          <p:cNvPr id="33" name="Text 31"/>
          <p:cNvSpPr/>
          <p:nvPr/>
        </p:nvSpPr>
        <p:spPr>
          <a:xfrm>
            <a:off x="9070848" y="3968496"/>
            <a:ext cx="22128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dirty="0">
                <a:solidFill>
                  <a:srgbClr val="475569"/>
                </a:solidFill>
              </a:rPr>
              <a:t>Ablation, robustness, calibration, explainability</a:t>
            </a:r>
            <a:endParaRPr lang="en-US" sz="1080" dirty="0"/>
          </a:p>
        </p:txBody>
      </p:sp>
      <p:sp>
        <p:nvSpPr>
          <p:cNvPr id="34" name="Text 32"/>
          <p:cNvSpPr/>
          <p:nvPr/>
        </p:nvSpPr>
        <p:spPr>
          <a:xfrm>
            <a:off x="612648" y="612648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i="1" dirty="0">
                <a:solidFill>
                  <a:srgbClr val="64748B"/>
                </a:solidFill>
              </a:rPr>
              <a:t>Key methodological rule: synthetic/weak labels must remain explicitly identified and must not be presented as real-world ground truth.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Architecture / Process 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Core architecture: vision evidence + structured vehicle context → downstream decisions.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411480" y="1847088"/>
            <a:ext cx="16916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204825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F172A"/>
                </a:solidFill>
              </a:rPr>
              <a:t>Image(s)</a:t>
            </a:r>
            <a:endParaRPr lang="en-US" sz="1210" dirty="0"/>
          </a:p>
        </p:txBody>
      </p:sp>
      <p:sp>
        <p:nvSpPr>
          <p:cNvPr id="6" name="Text 4"/>
          <p:cNvSpPr/>
          <p:nvPr/>
        </p:nvSpPr>
        <p:spPr>
          <a:xfrm>
            <a:off x="502920" y="2514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Vehicle photo(s)</a:t>
            </a:r>
            <a:endParaRPr lang="en-US" sz="970" dirty="0"/>
          </a:p>
        </p:txBody>
      </p:sp>
      <p:sp>
        <p:nvSpPr>
          <p:cNvPr id="7" name="Shape 5"/>
          <p:cNvSpPr/>
          <p:nvPr/>
        </p:nvSpPr>
        <p:spPr>
          <a:xfrm>
            <a:off x="2121408" y="2468880"/>
            <a:ext cx="192024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350008" y="1847088"/>
            <a:ext cx="16916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41448" y="204825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F172A"/>
                </a:solidFill>
              </a:rPr>
              <a:t>Damage segmentation</a:t>
            </a:r>
            <a:endParaRPr lang="en-US" sz="1210" dirty="0"/>
          </a:p>
        </p:txBody>
      </p:sp>
      <p:sp>
        <p:nvSpPr>
          <p:cNvPr id="10" name="Text 8"/>
          <p:cNvSpPr/>
          <p:nvPr/>
        </p:nvSpPr>
        <p:spPr>
          <a:xfrm>
            <a:off x="2441448" y="2514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Mask + part context</a:t>
            </a:r>
            <a:endParaRPr lang="en-US" sz="970" dirty="0"/>
          </a:p>
        </p:txBody>
      </p:sp>
      <p:sp>
        <p:nvSpPr>
          <p:cNvPr id="11" name="Shape 9"/>
          <p:cNvSpPr/>
          <p:nvPr/>
        </p:nvSpPr>
        <p:spPr>
          <a:xfrm>
            <a:off x="4059936" y="2468880"/>
            <a:ext cx="192024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288536" y="1847088"/>
            <a:ext cx="16916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9976" y="204825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F172A"/>
                </a:solidFill>
              </a:rPr>
              <a:t>Feature builder</a:t>
            </a:r>
            <a:endParaRPr lang="en-US" sz="1210" dirty="0"/>
          </a:p>
        </p:txBody>
      </p:sp>
      <p:sp>
        <p:nvSpPr>
          <p:cNvPr id="14" name="Text 12"/>
          <p:cNvSpPr/>
          <p:nvPr/>
        </p:nvSpPr>
        <p:spPr>
          <a:xfrm>
            <a:off x="4379976" y="2514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Type + area ratio + location + confidence</a:t>
            </a:r>
            <a:endParaRPr lang="en-US" sz="970" dirty="0"/>
          </a:p>
        </p:txBody>
      </p:sp>
      <p:sp>
        <p:nvSpPr>
          <p:cNvPr id="15" name="Shape 13"/>
          <p:cNvSpPr/>
          <p:nvPr/>
        </p:nvSpPr>
        <p:spPr>
          <a:xfrm>
            <a:off x="5998464" y="2468880"/>
            <a:ext cx="192024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227064" y="1847088"/>
            <a:ext cx="16916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18504" y="204825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F172A"/>
                </a:solidFill>
              </a:rPr>
              <a:t>Metadata encoder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6318504" y="2514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Make + model + year + region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7936992" y="2468880"/>
            <a:ext cx="192024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165592" y="1847088"/>
            <a:ext cx="1691640" cy="1371600"/>
          </a:xfrm>
          <a:prstGeom prst="roundRect">
            <a:avLst>
              <a:gd name="adj" fmla="val 3333"/>
            </a:avLst>
          </a:prstGeom>
          <a:solidFill>
            <a:srgbClr val="EFF6FF"/>
          </a:solidFill>
          <a:ln w="21590">
            <a:solidFill>
              <a:srgbClr val="1D4E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57032" y="204825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F172A"/>
                </a:solidFill>
              </a:rPr>
              <a:t>Fusion</a:t>
            </a:r>
            <a:endParaRPr lang="en-US" sz="1210" dirty="0"/>
          </a:p>
        </p:txBody>
      </p:sp>
      <p:sp>
        <p:nvSpPr>
          <p:cNvPr id="22" name="Text 20"/>
          <p:cNvSpPr/>
          <p:nvPr/>
        </p:nvSpPr>
        <p:spPr>
          <a:xfrm>
            <a:off x="8257032" y="2514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Concat baseline → cross-attention</a:t>
            </a:r>
            <a:endParaRPr lang="en-US" sz="970" dirty="0"/>
          </a:p>
        </p:txBody>
      </p:sp>
      <p:sp>
        <p:nvSpPr>
          <p:cNvPr id="23" name="Shape 21"/>
          <p:cNvSpPr/>
          <p:nvPr/>
        </p:nvSpPr>
        <p:spPr>
          <a:xfrm>
            <a:off x="9875520" y="2468880"/>
            <a:ext cx="192024" cy="0"/>
          </a:xfrm>
          <a:prstGeom prst="line">
            <a:avLst/>
          </a:prstGeom>
          <a:noFill/>
          <a:ln w="2286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10104120" y="1847088"/>
            <a:ext cx="1691640" cy="13716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5240">
            <a:solidFill>
              <a:srgbClr val="05966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195560" y="2048256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0F172A"/>
                </a:solidFill>
              </a:rPr>
              <a:t>Outputs</a:t>
            </a:r>
            <a:endParaRPr lang="en-US" sz="1210" dirty="0"/>
          </a:p>
        </p:txBody>
      </p:sp>
      <p:sp>
        <p:nvSpPr>
          <p:cNvPr id="26" name="Text 24"/>
          <p:cNvSpPr/>
          <p:nvPr/>
        </p:nvSpPr>
        <p:spPr>
          <a:xfrm>
            <a:off x="10195560" y="2514600"/>
            <a:ext cx="1508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Repair action + cost interval</a:t>
            </a:r>
            <a:endParaRPr lang="en-US" sz="970" dirty="0"/>
          </a:p>
        </p:txBody>
      </p:sp>
      <p:sp>
        <p:nvSpPr>
          <p:cNvPr id="27" name="Shape 25"/>
          <p:cNvSpPr/>
          <p:nvPr/>
        </p:nvSpPr>
        <p:spPr>
          <a:xfrm>
            <a:off x="2011680" y="3858768"/>
            <a:ext cx="8183880" cy="82296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286000" y="4114800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Explainability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657600" y="4069080"/>
            <a:ext cx="6080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Grad-CAM / feature attribution tied to the predicted damage and downstream decision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011680" y="4864608"/>
            <a:ext cx="8183880" cy="822960"/>
          </a:xfrm>
          <a:prstGeom prst="roundRect">
            <a:avLst>
              <a:gd name="adj" fmla="val 5556"/>
            </a:avLst>
          </a:prstGeom>
          <a:solidFill>
            <a:srgbClr val="ECFDF5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86000" y="5120640"/>
            <a:ext cx="14173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6534"/>
                </a:solidFill>
              </a:rPr>
              <a:t>Uncertainty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5047488"/>
            <a:ext cx="60807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Quantile regression outputs lower / median / upper repair-cost estimates instead of a false-precision single number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Research Approach &amp; Core Mathematics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The contribution is evaluated as a set of controlled comparisons.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58368" y="1316736"/>
            <a:ext cx="34564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16736"/>
            <a:ext cx="64008" cy="196596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5389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Damage representation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828800"/>
            <a:ext cx="3090672" cy="1344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A_norm = damaged-pixel-area / part-pixel-area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Use normalized area as a robust derived feature. True physical cm² requires calibration or geometry.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316736"/>
            <a:ext cx="34564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316736"/>
            <a:ext cx="64008" cy="19659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45389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Multimodal fusion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3712" y="1828800"/>
            <a:ext cx="3090672" cy="1344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F = Fusion(Z_vision, Z_meta)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Compare simple concatenation (baseline) against cross-attention (proposed).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316736"/>
            <a:ext cx="3456432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83296" y="1316736"/>
            <a:ext cx="64008" cy="196596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453896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Cost interval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66176" y="1828800"/>
            <a:ext cx="3090672" cy="13441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Predict Ĉ0.10, Ĉ0.50, Ĉ0.90 using quantile loss.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Evaluate coverage, interval width, MAE/MAPE.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" y="37033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4748B"/>
                </a:solidFill>
              </a:rPr>
              <a:t>CONTROLLED EXPERIMENTS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" y="4005072"/>
            <a:ext cx="3337560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206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B1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289304" y="41696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Vision-only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1289304" y="44988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Damage → cost/action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4462272" y="4005072"/>
            <a:ext cx="3337560" cy="1115568"/>
          </a:xfrm>
          <a:prstGeom prst="roundRect">
            <a:avLst>
              <a:gd name="adj" fmla="val 409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90288" y="4206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B2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56632" y="41696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Simple fusion</a:t>
            </a:r>
            <a:endParaRPr lang="en-US" sz="1230" dirty="0"/>
          </a:p>
        </p:txBody>
      </p:sp>
      <p:sp>
        <p:nvSpPr>
          <p:cNvPr id="24" name="Text 22"/>
          <p:cNvSpPr/>
          <p:nvPr/>
        </p:nvSpPr>
        <p:spPr>
          <a:xfrm>
            <a:off x="5056632" y="44988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Vision + metadata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8229600" y="4005072"/>
            <a:ext cx="3337560" cy="1115568"/>
          </a:xfrm>
          <a:prstGeom prst="roundRect">
            <a:avLst>
              <a:gd name="adj" fmla="val 4098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57616" y="4206240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563EB"/>
                </a:solidFill>
              </a:rPr>
              <a:t>P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8823960" y="416966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Proposed</a:t>
            </a:r>
            <a:endParaRPr lang="en-US" sz="1230" dirty="0"/>
          </a:p>
        </p:txBody>
      </p:sp>
      <p:sp>
        <p:nvSpPr>
          <p:cNvPr id="28" name="Text 26"/>
          <p:cNvSpPr/>
          <p:nvPr/>
        </p:nvSpPr>
        <p:spPr>
          <a:xfrm>
            <a:off x="8823960" y="4498848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64748B"/>
                </a:solidFill>
              </a:rPr>
              <a:t>Segmentation + metadata + cross-attention + quantiles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612648" y="612648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i="1" dirty="0">
                <a:solidFill>
                  <a:srgbClr val="64748B"/>
                </a:solidFill>
              </a:rPr>
              <a:t>Research question: does the richer representation improve downstream outcomes enough to justify its added complexity?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Proposed Project Folder Structure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The repository keeps product code, ML research, data, and documentation separated.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85800" y="1280160"/>
            <a:ext cx="6537960" cy="4526280"/>
          </a:xfrm>
          <a:prstGeom prst="roundRect">
            <a:avLst>
              <a:gd name="adj" fmla="val 101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17904"/>
            <a:ext cx="6080760" cy="40416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AutoInspect-X/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apps/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web/                 # React/TypeScript frontend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api/                 # FastAPI backend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ml/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datasets/            # local datasets / manifests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models/              # model definitions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training/            # training pipelines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inference/           # production inference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evaluation/          # metrics / benchmarks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experiments/         # reproducible experiments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packages/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shared/              # small shared contracts/types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research/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architecture/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ml/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decisions/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tests/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integration/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e2e/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scripts/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.github/workflows/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AGENTS.md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README.md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.env.example</a:t>
            </a:r>
            <a:endParaRPr lang="en-US" sz="1130" dirty="0"/>
          </a:p>
          <a:p>
            <a:pPr indent="0" marL="0">
              <a:buNone/>
            </a:pPr>
            <a:r>
              <a:rPr lang="en-US" sz="113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pyproject.toml / package.json</a:t>
            </a:r>
            <a:endParaRPr lang="en-US" sz="1130" dirty="0"/>
          </a:p>
        </p:txBody>
      </p:sp>
      <p:sp>
        <p:nvSpPr>
          <p:cNvPr id="6" name="Shape 4"/>
          <p:cNvSpPr/>
          <p:nvPr/>
        </p:nvSpPr>
        <p:spPr>
          <a:xfrm>
            <a:off x="7543800" y="1298448"/>
            <a:ext cx="391363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543800" y="1298448"/>
            <a:ext cx="64008" cy="12344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26680" y="143560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Frontend boundary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26680" y="1810512"/>
            <a:ext cx="3547872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UI, upload flow, visualization, result presentation.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543800" y="2743200"/>
            <a:ext cx="391363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543800" y="2743200"/>
            <a:ext cx="64008" cy="12344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26680" y="2880360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Backend boundary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26680" y="3255264"/>
            <a:ext cx="3547872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API, validation, orchestration, persistence, reports.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543800" y="4187952"/>
            <a:ext cx="3913632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543800" y="4187952"/>
            <a:ext cx="64008" cy="123444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26680" y="4325112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ML boundary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26680" y="4700016"/>
            <a:ext cx="3547872" cy="6126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Training/evaluation stay separate from API runtime.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12648" y="612648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i="1" dirty="0">
                <a:solidFill>
                  <a:srgbClr val="64748B"/>
                </a:solidFill>
              </a:rPr>
              <a:t>Engineering rule: create new files only when they have a clear purpose; keep research experiments out of production modules.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Hardware / Software Requirements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The capstone is designed to run locally for development and use optional GPU acceleration for training.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58368" y="1353312"/>
            <a:ext cx="3456432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53312"/>
            <a:ext cx="64008" cy="199339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9047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Development hardware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865376"/>
            <a:ext cx="3090672" cy="1371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CPU: modern 6–8 core processor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RAM: 16 GB minimum; 32 GB preferred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Storage: SSD with dataset/model space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GPU: optional for early prototyping; recommended for segmentation training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353312"/>
            <a:ext cx="3456432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353312"/>
            <a:ext cx="64008" cy="19933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49047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Training hardware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3712" y="1865376"/>
            <a:ext cx="3090672" cy="1371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NVIDIA GPU with CUDA support preferred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8 GB+ VRAM is a practical target for experimentation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Cloud GPU can be used if local hardware is insufficient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Track seeds/configs for reproducibility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353312"/>
            <a:ext cx="3456432" cy="1993392"/>
          </a:xfrm>
          <a:prstGeom prst="roundRect">
            <a:avLst>
              <a:gd name="adj" fmla="val 32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83296" y="1353312"/>
            <a:ext cx="64008" cy="199339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490472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Software stack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66176" y="1865376"/>
            <a:ext cx="3090672" cy="1371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Python + PyTorch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FastAPI + Pydantic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React + TypeScript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PostgreSQL later if persistence is needed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pytest + Ruff + type checking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Git + GitHub + CI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" y="388620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Why this stack?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57400" y="3822192"/>
            <a:ext cx="9281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Python keeps ML and API development close; React/TypeScript supports a polished inspection workflow; testing/linting keeps the research prototype maintainable.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" y="612648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i="1" dirty="0">
                <a:solidFill>
                  <a:srgbClr val="64748B"/>
                </a:solidFill>
              </a:rPr>
              <a:t>Exact GPU memory and training time will depend on the final segmentation backbone, image resolution, and batch size.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Proposed Timeline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A phased plan reduces research risk by solving the data problem before the most complex model.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58368" y="1572768"/>
            <a:ext cx="1618488" cy="3200400"/>
          </a:xfrm>
          <a:prstGeom prst="roundRect">
            <a:avLst>
              <a:gd name="adj" fmla="val 28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8288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Phase 1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86384" y="22402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Weeks 1–2</a:t>
            </a:r>
            <a:endParaRPr lang="en-US" sz="1230" dirty="0"/>
          </a:p>
        </p:txBody>
      </p:sp>
      <p:sp>
        <p:nvSpPr>
          <p:cNvPr id="7" name="Text 5"/>
          <p:cNvSpPr/>
          <p:nvPr/>
        </p:nvSpPr>
        <p:spPr>
          <a:xfrm>
            <a:off x="786384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F2937"/>
                </a:solidFill>
              </a:rPr>
              <a:t>Literature + dataset audit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786384" y="3657600"/>
            <a:ext cx="1335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Lock problem, papers, data licenses, labels</a:t>
            </a:r>
            <a:endParaRPr lang="en-US" sz="970" dirty="0"/>
          </a:p>
        </p:txBody>
      </p:sp>
      <p:sp>
        <p:nvSpPr>
          <p:cNvPr id="9" name="Shape 7"/>
          <p:cNvSpPr/>
          <p:nvPr/>
        </p:nvSpPr>
        <p:spPr>
          <a:xfrm>
            <a:off x="2505456" y="1572768"/>
            <a:ext cx="1618488" cy="3200400"/>
          </a:xfrm>
          <a:prstGeom prst="roundRect">
            <a:avLst>
              <a:gd name="adj" fmla="val 28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33472" y="18288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Phase 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2633472" y="22402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Weeks 3–4</a:t>
            </a:r>
            <a:endParaRPr lang="en-US" sz="1230" dirty="0"/>
          </a:p>
        </p:txBody>
      </p:sp>
      <p:sp>
        <p:nvSpPr>
          <p:cNvPr id="12" name="Text 10"/>
          <p:cNvSpPr/>
          <p:nvPr/>
        </p:nvSpPr>
        <p:spPr>
          <a:xfrm>
            <a:off x="2633472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F2937"/>
                </a:solidFill>
              </a:rPr>
              <a:t>Segmentation baseline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2633472" y="3657600"/>
            <a:ext cx="1335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Prepare data, train/fine-tune, benchmark masks</a:t>
            </a:r>
            <a:endParaRPr lang="en-US" sz="970" dirty="0"/>
          </a:p>
        </p:txBody>
      </p:sp>
      <p:sp>
        <p:nvSpPr>
          <p:cNvPr id="14" name="Shape 12"/>
          <p:cNvSpPr/>
          <p:nvPr/>
        </p:nvSpPr>
        <p:spPr>
          <a:xfrm>
            <a:off x="4352544" y="1572768"/>
            <a:ext cx="1618488" cy="3200400"/>
          </a:xfrm>
          <a:prstGeom prst="roundRect">
            <a:avLst>
              <a:gd name="adj" fmla="val 28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80560" y="18288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Phase 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480560" y="22402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Weeks 5–6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4480560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F2937"/>
                </a:solidFill>
              </a:rPr>
              <a:t>Feature + metadata pipeline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4480560" y="3657600"/>
            <a:ext cx="1335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Damage features, vehicle metadata, data validation</a:t>
            </a:r>
            <a:endParaRPr lang="en-US" sz="970" dirty="0"/>
          </a:p>
        </p:txBody>
      </p:sp>
      <p:sp>
        <p:nvSpPr>
          <p:cNvPr id="19" name="Shape 17"/>
          <p:cNvSpPr/>
          <p:nvPr/>
        </p:nvSpPr>
        <p:spPr>
          <a:xfrm>
            <a:off x="6199632" y="1572768"/>
            <a:ext cx="1618488" cy="3200400"/>
          </a:xfrm>
          <a:prstGeom prst="roundRect">
            <a:avLst>
              <a:gd name="adj" fmla="val 2825"/>
            </a:avLst>
          </a:prstGeom>
          <a:solidFill>
            <a:srgbClr val="EFF6FF"/>
          </a:solidFill>
          <a:ln w="19050">
            <a:solidFill>
              <a:srgbClr val="93C5F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27648" y="18288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563EB"/>
                </a:solidFill>
              </a:rPr>
              <a:t>Phase 4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327648" y="22402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Weeks 7–8</a:t>
            </a:r>
            <a:endParaRPr lang="en-US" sz="1230" dirty="0"/>
          </a:p>
        </p:txBody>
      </p:sp>
      <p:sp>
        <p:nvSpPr>
          <p:cNvPr id="22" name="Text 20"/>
          <p:cNvSpPr/>
          <p:nvPr/>
        </p:nvSpPr>
        <p:spPr>
          <a:xfrm>
            <a:off x="6327648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F2937"/>
                </a:solidFill>
              </a:rPr>
              <a:t>Multimodal experiments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327648" y="3657600"/>
            <a:ext cx="1335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Simple fusion vs. cross-attention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8046720" y="1572768"/>
            <a:ext cx="1618488" cy="3200400"/>
          </a:xfrm>
          <a:prstGeom prst="roundRect">
            <a:avLst>
              <a:gd name="adj" fmla="val 28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174736" y="18288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Phase 5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174736" y="22402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Weeks 9–10</a:t>
            </a:r>
            <a:endParaRPr lang="en-US" sz="1230" dirty="0"/>
          </a:p>
        </p:txBody>
      </p:sp>
      <p:sp>
        <p:nvSpPr>
          <p:cNvPr id="27" name="Text 25"/>
          <p:cNvSpPr/>
          <p:nvPr/>
        </p:nvSpPr>
        <p:spPr>
          <a:xfrm>
            <a:off x="8174736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F2937"/>
                </a:solidFill>
              </a:rPr>
              <a:t>Uncertainty + XAI</a:t>
            </a:r>
            <a:endParaRPr lang="en-US" sz="1080" dirty="0"/>
          </a:p>
        </p:txBody>
      </p:sp>
      <p:sp>
        <p:nvSpPr>
          <p:cNvPr id="28" name="Text 26"/>
          <p:cNvSpPr/>
          <p:nvPr/>
        </p:nvSpPr>
        <p:spPr>
          <a:xfrm>
            <a:off x="8174736" y="3657600"/>
            <a:ext cx="1335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Quantile cost intervals, explanations, calibration</a:t>
            </a:r>
            <a:endParaRPr lang="en-US" sz="970" dirty="0"/>
          </a:p>
        </p:txBody>
      </p:sp>
      <p:sp>
        <p:nvSpPr>
          <p:cNvPr id="29" name="Shape 27"/>
          <p:cNvSpPr/>
          <p:nvPr/>
        </p:nvSpPr>
        <p:spPr>
          <a:xfrm>
            <a:off x="9893808" y="1572768"/>
            <a:ext cx="1618488" cy="3200400"/>
          </a:xfrm>
          <a:prstGeom prst="roundRect">
            <a:avLst>
              <a:gd name="adj" fmla="val 28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021824" y="1828800"/>
            <a:ext cx="1325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</a:rPr>
              <a:t>Phase 6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0021824" y="2240280"/>
            <a:ext cx="1325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30" b="1" dirty="0">
                <a:solidFill>
                  <a:srgbClr val="0F172A"/>
                </a:solidFill>
              </a:rPr>
              <a:t>Weeks 11–12</a:t>
            </a:r>
            <a:endParaRPr lang="en-US" sz="1230" dirty="0"/>
          </a:p>
        </p:txBody>
      </p:sp>
      <p:sp>
        <p:nvSpPr>
          <p:cNvPr id="32" name="Text 30"/>
          <p:cNvSpPr/>
          <p:nvPr/>
        </p:nvSpPr>
        <p:spPr>
          <a:xfrm>
            <a:off x="10021824" y="2907792"/>
            <a:ext cx="13350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F2937"/>
                </a:solidFill>
              </a:rPr>
              <a:t>Evaluation + demo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10021824" y="3657600"/>
            <a:ext cx="133502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64748B"/>
                </a:solidFill>
              </a:rPr>
              <a:t>Ablation, robustness, report, presentation</a:t>
            </a:r>
            <a:endParaRPr lang="en-US" sz="970" dirty="0"/>
          </a:p>
        </p:txBody>
      </p:sp>
      <p:sp>
        <p:nvSpPr>
          <p:cNvPr id="34" name="Text 32"/>
          <p:cNvSpPr/>
          <p:nvPr/>
        </p:nvSpPr>
        <p:spPr>
          <a:xfrm>
            <a:off x="713232" y="52303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Milestone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737360" y="5166360"/>
            <a:ext cx="9418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2563EB"/>
                </a:solidFill>
              </a:rPr>
              <a:t>By the end of Phase 2, we have a measurable vision baseline; the remaining work tests whether the added research components improve downstream results.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Usability / Applications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The output is designed as decision support for real inspection workflows.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58368" y="1325880"/>
            <a:ext cx="5230368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25880"/>
            <a:ext cx="64008" cy="157276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63040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Insurance triage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837944"/>
            <a:ext cx="4864608" cy="9509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Prioritize and pre-fill claims with visible-damage evidence.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230368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217920" y="1325880"/>
            <a:ext cx="64008" cy="15727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63040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Repair / service centers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0" y="1837944"/>
            <a:ext cx="4864608" cy="9509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Generate a preliminary repair-action recommendation and cost range.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200400"/>
            <a:ext cx="5230368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3200400"/>
            <a:ext cx="64008" cy="15727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337560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Used-car marketplaces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41248" y="3712464"/>
            <a:ext cx="4864608" cy="9509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Condition assessment before listing or acquisition.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3200400"/>
            <a:ext cx="5230368" cy="1572768"/>
          </a:xfrm>
          <a:prstGeom prst="roundRect">
            <a:avLst>
              <a:gd name="adj" fmla="val 407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3200400"/>
            <a:ext cx="64008" cy="157276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0" y="3337560"/>
            <a:ext cx="4864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Fleet / rental operations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0" y="3712464"/>
            <a:ext cx="4864608" cy="95097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Standardize check-in/check-out damage evidence.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94944" y="50749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Illustrative user flow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240280" y="501091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240280" y="50749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2937"/>
                </a:solidFill>
              </a:rPr>
              <a:t>Upload image</a:t>
            </a:r>
            <a:endParaRPr lang="en-US" sz="930" dirty="0"/>
          </a:p>
        </p:txBody>
      </p:sp>
      <p:sp>
        <p:nvSpPr>
          <p:cNvPr id="23" name="Shape 21"/>
          <p:cNvSpPr/>
          <p:nvPr/>
        </p:nvSpPr>
        <p:spPr>
          <a:xfrm>
            <a:off x="3749040" y="5157216"/>
            <a:ext cx="173736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3950208" y="501091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50208" y="50749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2937"/>
                </a:solidFill>
              </a:rPr>
              <a:t>Analyze damage</a:t>
            </a:r>
            <a:endParaRPr lang="en-US" sz="930" dirty="0"/>
          </a:p>
        </p:txBody>
      </p:sp>
      <p:sp>
        <p:nvSpPr>
          <p:cNvPr id="26" name="Shape 24"/>
          <p:cNvSpPr/>
          <p:nvPr/>
        </p:nvSpPr>
        <p:spPr>
          <a:xfrm>
            <a:off x="5458968" y="5157216"/>
            <a:ext cx="173736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5660136" y="501091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0136" y="50749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2937"/>
                </a:solidFill>
              </a:rPr>
              <a:t>Review explanation</a:t>
            </a:r>
            <a:endParaRPr lang="en-US" sz="930" dirty="0"/>
          </a:p>
        </p:txBody>
      </p:sp>
      <p:sp>
        <p:nvSpPr>
          <p:cNvPr id="29" name="Shape 27"/>
          <p:cNvSpPr/>
          <p:nvPr/>
        </p:nvSpPr>
        <p:spPr>
          <a:xfrm>
            <a:off x="7168896" y="5157216"/>
            <a:ext cx="173736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370064" y="501091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70064" y="50749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F2937"/>
                </a:solidFill>
              </a:rPr>
              <a:t>See cost range</a:t>
            </a:r>
            <a:endParaRPr lang="en-US" sz="930" dirty="0"/>
          </a:p>
        </p:txBody>
      </p:sp>
      <p:sp>
        <p:nvSpPr>
          <p:cNvPr id="32" name="Shape 30"/>
          <p:cNvSpPr/>
          <p:nvPr/>
        </p:nvSpPr>
        <p:spPr>
          <a:xfrm>
            <a:off x="8878824" y="5157216"/>
            <a:ext cx="173736" cy="0"/>
          </a:xfrm>
          <a:prstGeom prst="line">
            <a:avLst/>
          </a:prstGeom>
          <a:noFill/>
          <a:ln w="1778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9079992" y="5010912"/>
            <a:ext cx="1508760" cy="310896"/>
          </a:xfrm>
          <a:prstGeom prst="roundRect">
            <a:avLst>
              <a:gd name="adj" fmla="val 23529"/>
            </a:avLst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79992" y="5074920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166534"/>
                </a:solidFill>
              </a:rPr>
              <a:t>Export report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612648" y="612648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i="1" dirty="0">
                <a:solidFill>
                  <a:srgbClr val="64748B"/>
                </a:solidFill>
              </a:rPr>
              <a:t>The system should remain a preliminary assessment tool until validated against real-world repair outcomes and expert inspection.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Expected Demo / User Experience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A professional inspection interface keeps the research output understandable to a non-ML user.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58368" y="1298448"/>
            <a:ext cx="3429000" cy="347472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298448"/>
            <a:ext cx="64008" cy="34747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356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Upload &amp; Inspect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810512"/>
            <a:ext cx="3063240" cy="2852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Large image upload area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Detected vehicle parts and damage masks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Confidence and image-quality warnings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No clutter or unnecessary controls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9976" y="1298448"/>
            <a:ext cx="3429000" cy="347472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9976" y="1298448"/>
            <a:ext cx="64008" cy="34747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2856" y="14356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Analyze &amp; Explain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62856" y="1810512"/>
            <a:ext cx="3063240" cy="2852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Damage type + location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Normalized area ratio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Repair vs. replace recommendation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Visual explanation tied to the model output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01584" y="1298448"/>
            <a:ext cx="3429000" cy="3474720"/>
          </a:xfrm>
          <a:prstGeom prst="roundRect">
            <a:avLst>
              <a:gd name="adj" fmla="val 18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01584" y="1298448"/>
            <a:ext cx="64008" cy="3474720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84464" y="143560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Estimate &amp; Report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84464" y="1810512"/>
            <a:ext cx="3063240" cy="28529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Lower / median / upper cost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Uncertainty indicator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Vehicle metadata used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Exportable inspection summary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" y="513892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</a:rPr>
              <a:t>Design principle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965960" y="507492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563EB"/>
                </a:solidFill>
              </a:rPr>
              <a:t>“Explain the result, don’t just display the result.”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Expected Research Contribution &amp; Evaluation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The project should be judged by evidence from controlled experiments.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58368" y="1316736"/>
            <a:ext cx="3447288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58368" y="1316736"/>
            <a:ext cx="64008" cy="166420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453896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Contribution 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41248" y="1828800"/>
            <a:ext cx="3081528" cy="10424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Segmentation-derived damage representation that captures type, location, confidence and normalized area ratio.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70832" y="1316736"/>
            <a:ext cx="3447288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70832" y="1316736"/>
            <a:ext cx="64008" cy="16642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53712" y="1453896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Contribution B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53712" y="1828800"/>
            <a:ext cx="3081528" cy="10424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Controlled comparison of vision-only, simple multimodal fusion, and advanced multimodal fusion.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83296" y="1316736"/>
            <a:ext cx="3447288" cy="1664208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" dist="50800" dir="2700000">
              <a:srgbClr val="CBD5E1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83296" y="1316736"/>
            <a:ext cx="64008" cy="16642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66176" y="1453896"/>
            <a:ext cx="3081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Contribution C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66176" y="1828800"/>
            <a:ext cx="3081528" cy="10424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Uncertainty-aware repair-cost intervals evaluated for coverage and sharpness rather than only point accuracy.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94944" y="34015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10" kern="0" dirty="0">
                <a:solidFill>
                  <a:srgbClr val="64748B"/>
                </a:solidFill>
              </a:rPr>
              <a:t>EVALUATION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4944" y="3730752"/>
            <a:ext cx="33375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88620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Segmentation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020824" y="3858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Mask mAP / IoU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425696" y="3730752"/>
            <a:ext cx="33375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388620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Repair action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751576" y="3858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Macro F1 / confusion matrix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156448" y="3730752"/>
            <a:ext cx="33375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02752" y="3886200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Cost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482328" y="38587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MAE / MAPE / R²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94944" y="4718304"/>
            <a:ext cx="33375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487375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Intervals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020824" y="4846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Coverage + width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425696" y="4718304"/>
            <a:ext cx="3337560" cy="749808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0" y="487375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Robustness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751576" y="4846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Viewpoint / model / quality splits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12648" y="612648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i="1" dirty="0">
                <a:solidFill>
                  <a:srgbClr val="64748B"/>
                </a:solidFill>
              </a:rPr>
              <a:t>A successful result is not assumed; the research contribution is valid only if experiments show measurable improvement or useful trade-offs against baselines.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Contribution of Each Member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Proposed role split; final responsibilities can be adjusted after the team confirms preferences.</a:t>
            </a:r>
            <a:endParaRPr lang="en-US" sz="1220" dirty="0"/>
          </a:p>
        </p:txBody>
      </p:sp>
      <p:sp>
        <p:nvSpPr>
          <p:cNvPr id="4" name="Shape 2"/>
          <p:cNvSpPr/>
          <p:nvPr/>
        </p:nvSpPr>
        <p:spPr>
          <a:xfrm>
            <a:off x="658368" y="1261872"/>
            <a:ext cx="108356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9536" y="14356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Janvie Verma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724912" y="1435608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23BAI10307</a:t>
            </a:r>
            <a:endParaRPr lang="en-US" sz="980" dirty="0"/>
          </a:p>
        </p:txBody>
      </p:sp>
      <p:sp>
        <p:nvSpPr>
          <p:cNvPr id="7" name="Text 5"/>
          <p:cNvSpPr/>
          <p:nvPr/>
        </p:nvSpPr>
        <p:spPr>
          <a:xfrm>
            <a:off x="4187952" y="139903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Dataset + literature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70448" y="1371600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Dataset curation, annotation protocol, literature matrix</a:t>
            </a:r>
            <a:endParaRPr lang="en-US" sz="1030" dirty="0"/>
          </a:p>
        </p:txBody>
      </p:sp>
      <p:sp>
        <p:nvSpPr>
          <p:cNvPr id="9" name="Shape 7"/>
          <p:cNvSpPr/>
          <p:nvPr/>
        </p:nvSpPr>
        <p:spPr>
          <a:xfrm>
            <a:off x="658368" y="2157984"/>
            <a:ext cx="10835640" cy="713232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33172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Kislay Anand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724912" y="2331720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23BAI10359</a:t>
            </a:r>
            <a:endParaRPr lang="en-US" sz="980" dirty="0"/>
          </a:p>
        </p:txBody>
      </p:sp>
      <p:sp>
        <p:nvSpPr>
          <p:cNvPr id="12" name="Text 10"/>
          <p:cNvSpPr/>
          <p:nvPr/>
        </p:nvSpPr>
        <p:spPr>
          <a:xfrm>
            <a:off x="4187952" y="2295144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ML / research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70448" y="2267712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Segmentation training, feature extraction, experiments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658368" y="3054096"/>
            <a:ext cx="108356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9536" y="322783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Chandrakant Anil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724912" y="3227832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ID not provided</a:t>
            </a:r>
            <a:endParaRPr lang="en-US" sz="980" dirty="0"/>
          </a:p>
        </p:txBody>
      </p:sp>
      <p:sp>
        <p:nvSpPr>
          <p:cNvPr id="17" name="Text 15"/>
          <p:cNvSpPr/>
          <p:nvPr/>
        </p:nvSpPr>
        <p:spPr>
          <a:xfrm>
            <a:off x="4187952" y="3191256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Backend / integration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70448" y="3163824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FastAPI integration, inference orchestration, report API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658368" y="3950208"/>
            <a:ext cx="10835640" cy="713232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9536" y="41239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Arya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24912" y="4123944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ID not provided</a:t>
            </a:r>
            <a:endParaRPr lang="en-US" sz="980" dirty="0"/>
          </a:p>
        </p:txBody>
      </p:sp>
      <p:sp>
        <p:nvSpPr>
          <p:cNvPr id="22" name="Text 20"/>
          <p:cNvSpPr/>
          <p:nvPr/>
        </p:nvSpPr>
        <p:spPr>
          <a:xfrm>
            <a:off x="4187952" y="4087368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Frontend / UX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870448" y="4059936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Inspection workflow, visualization, responsive UI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58368" y="4846320"/>
            <a:ext cx="10835640" cy="713232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9536" y="502005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172A"/>
                </a:solidFill>
              </a:rPr>
              <a:t>Arya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724912" y="5020056"/>
            <a:ext cx="1298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64748B"/>
                </a:solidFill>
              </a:rPr>
              <a:t>ID not provided</a:t>
            </a:r>
            <a:endParaRPr lang="en-US" sz="980" dirty="0"/>
          </a:p>
        </p:txBody>
      </p:sp>
      <p:sp>
        <p:nvSpPr>
          <p:cNvPr id="27" name="Text 25"/>
          <p:cNvSpPr/>
          <p:nvPr/>
        </p:nvSpPr>
        <p:spPr>
          <a:xfrm>
            <a:off x="4187952" y="4983480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Evaluation / documentation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70448" y="4956048"/>
            <a:ext cx="5074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1F2937"/>
                </a:solidFill>
              </a:rPr>
              <a:t>Metrics, ablation tables, testing, paper/presentation support</a:t>
            </a:r>
            <a:endParaRPr lang="en-US" sz="1030" dirty="0"/>
          </a:p>
        </p:txBody>
      </p:sp>
      <p:sp>
        <p:nvSpPr>
          <p:cNvPr id="29" name="Text 27"/>
          <p:cNvSpPr/>
          <p:nvPr/>
        </p:nvSpPr>
        <p:spPr>
          <a:xfrm>
            <a:off x="612648" y="612648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i="1" dirty="0">
                <a:solidFill>
                  <a:srgbClr val="64748B"/>
                </a:solidFill>
              </a:rPr>
              <a:t>The two “Arya” entries are kept exactly as provided; student IDs were not supplied for Chandrakant Anil or either Arya.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420624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References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914400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64748B"/>
                </a:solidFill>
              </a:rPr>
              <a:t>Selected sources from the corrected research report and verification pass.</a:t>
            </a:r>
            <a:endParaRPr lang="en-US" sz="1220" dirty="0"/>
          </a:p>
        </p:txBody>
      </p:sp>
      <p:sp>
        <p:nvSpPr>
          <p:cNvPr id="4" name="Text 2"/>
          <p:cNvSpPr/>
          <p:nvPr/>
        </p:nvSpPr>
        <p:spPr>
          <a:xfrm>
            <a:off x="713232" y="1261872"/>
            <a:ext cx="1065276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1. Wang, X., Li, W., Wu, Z. “CarDD: A New Dataset for Vision-Based Car Damage Detection.” IEEE T-ITS, 2023. DOI: 10.1109/TITS.2023.3258480</a:t>
            </a:r>
            <a:endParaRPr lang="en-US" sz="1020" dirty="0"/>
          </a:p>
        </p:txBody>
      </p:sp>
      <p:sp>
        <p:nvSpPr>
          <p:cNvPr id="5" name="Text 3"/>
          <p:cNvSpPr/>
          <p:nvPr/>
        </p:nvSpPr>
        <p:spPr>
          <a:xfrm>
            <a:off x="713232" y="1874520"/>
            <a:ext cx="1065276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2. Patil, K., Kulkarni, M., Sriraman, A., Karande, S. “Deep Learning Based Car Damage Classification.” IEEE ICMLA, 2017. DOI: 10.1109/ICMLA.2017.0-179</a:t>
            </a:r>
            <a:endParaRPr lang="en-US" sz="1020" dirty="0"/>
          </a:p>
        </p:txBody>
      </p:sp>
      <p:sp>
        <p:nvSpPr>
          <p:cNvPr id="6" name="Text 4"/>
          <p:cNvSpPr/>
          <p:nvPr/>
        </p:nvSpPr>
        <p:spPr>
          <a:xfrm>
            <a:off x="713232" y="2487168"/>
            <a:ext cx="1065276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3. Weerasinghe, R.H., Vidanage, K. “Image Processing Based Severity and Cost Prediction of Damages in the Vehicle Body.” IEEE NITC, 2017. DOI: 10.1109/NITC.2017.8285649</a:t>
            </a:r>
            <a:endParaRPr lang="en-US" sz="1020" dirty="0"/>
          </a:p>
        </p:txBody>
      </p:sp>
      <p:sp>
        <p:nvSpPr>
          <p:cNvPr id="7" name="Text 5"/>
          <p:cNvSpPr/>
          <p:nvPr/>
        </p:nvSpPr>
        <p:spPr>
          <a:xfrm>
            <a:off x="713232" y="3099816"/>
            <a:ext cx="1065276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4. Qaddour, J., Siddiqa, S.A. “Automatic damaged vehicle estimator using enhanced deep learning algorithm.” Intelligent Systems with Applications, 2023, 18, 200192. DOI: 10.1016/j.iswa.2023.200192</a:t>
            </a:r>
            <a:endParaRPr lang="en-US" sz="1020" dirty="0"/>
          </a:p>
        </p:txBody>
      </p:sp>
      <p:sp>
        <p:nvSpPr>
          <p:cNvPr id="8" name="Text 6"/>
          <p:cNvSpPr/>
          <p:nvPr/>
        </p:nvSpPr>
        <p:spPr>
          <a:xfrm>
            <a:off x="713232" y="3712464"/>
            <a:ext cx="1065276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5. Venkatesh, M. et al. “Vehicle Damage Detection Using Machine Learning and Segmentation to Aid Insurance Claims.” IEEE INDICON, 2023. DOI: 10.1109/INDICON59947.2023.10440856</a:t>
            </a:r>
            <a:endParaRPr lang="en-US" sz="1020" dirty="0"/>
          </a:p>
        </p:txBody>
      </p:sp>
      <p:sp>
        <p:nvSpPr>
          <p:cNvPr id="9" name="Text 7"/>
          <p:cNvSpPr/>
          <p:nvPr/>
        </p:nvSpPr>
        <p:spPr>
          <a:xfrm>
            <a:off x="713232" y="4325112"/>
            <a:ext cx="1065276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6. “Automated Car Damage Assessment Using Computer Vision: Insurance Company Use Case.” Applied Sciences, 2024, 14(20), 9560. https://www.mdpi.com/2076-3417/14/20/9560</a:t>
            </a:r>
            <a:endParaRPr lang="en-US" sz="1020" dirty="0"/>
          </a:p>
        </p:txBody>
      </p:sp>
      <p:sp>
        <p:nvSpPr>
          <p:cNvPr id="10" name="Text 8"/>
          <p:cNvSpPr/>
          <p:nvPr/>
        </p:nvSpPr>
        <p:spPr>
          <a:xfrm>
            <a:off x="713232" y="4937760"/>
            <a:ext cx="1065276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7. Huynh et al. “Powering AI-driven car damage identification based on VeHIDE dataset.” 2024. DOI: 10.1080/24751839.2024.2367387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713232" y="5550408"/>
            <a:ext cx="10652760" cy="47548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34155"/>
                </a:solidFill>
              </a:rPr>
              <a:t>8. Hasan, M.J. et al. “Vehicle Damage Detection Using Artificial Intelligence: A Systematic Literature Review.” WIREs Data Mining &amp; Knowledge Discovery, 2025, 15:e70027. DOI: 10.1002/widm.70027</a:t>
            </a:r>
            <a:endParaRPr lang="en-US" sz="1020" dirty="0"/>
          </a:p>
        </p:txBody>
      </p:sp>
      <p:sp>
        <p:nvSpPr>
          <p:cNvPr id="12" name="Text 10"/>
          <p:cNvSpPr/>
          <p:nvPr/>
        </p:nvSpPr>
        <p:spPr>
          <a:xfrm>
            <a:off x="612648" y="612648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i="1" dirty="0">
                <a:solidFill>
                  <a:srgbClr val="64748B"/>
                </a:solidFill>
              </a:rPr>
              <a:t>Before final paper submission, verify every citation against the publisher/DOI record and follow the required citation style.</a:t>
            </a:r>
            <a:endParaRPr lang="en-US" sz="8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3232" y="71323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AutoInspect-X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13232" y="1481328"/>
            <a:ext cx="7772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 grounded capstone with a clear research question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2395728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2322576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Problem: automated inspection needs more than visible-damage detection.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999232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926080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Approach: segmentation + vehicle metadata + multimodal fusion.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77240" y="3602736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529584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Research: compare baselines and test uncertainty-aware cost estimation.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7240" y="4206240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4133088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Application: insurance triage, repair/service, used-car, fleet workflows.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77240" y="4809744"/>
            <a:ext cx="128016" cy="128016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05840" y="4736592"/>
            <a:ext cx="8961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BD5E1"/>
                </a:solidFill>
              </a:rPr>
              <a:t>Boundary: validate against real downstream labels; keep claims conservative.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49808" y="577900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60" kern="0" dirty="0">
                <a:solidFill>
                  <a:srgbClr val="67E8F9"/>
                </a:solidFill>
              </a:rPr>
              <a:t>THANK YOU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183880" y="57150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Questions &amp; discussion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31752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AutoInspect-X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AutoInspect-X — Capstone Project Proposal</dc:title>
  <dc:subject>Capstone project proposal</dc:subject>
  <dc:creator>AutoInspect-X Team</dc:creator>
  <cp:lastModifiedBy>AutoInspect-X Team</cp:lastModifiedBy>
  <cp:revision>1</cp:revision>
  <dcterms:created xsi:type="dcterms:W3CDTF">2026-09-07T09:11:03Z</dcterms:created>
  <dcterms:modified xsi:type="dcterms:W3CDTF">2026-09-07T09:11:03Z</dcterms:modified>
</cp:coreProperties>
</file>