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mov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0214717-9ED7-4495-B8F6-7F2E188DFBB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1E5D3C-3DA6-4A60-A5E4-49AB575428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C9912D-1AE8-45AF-8D97-E3FF3A1F4C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5DFE48-50F8-4A31-A09D-719715B5DC1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ADC233-6CFC-4A9E-B17D-CD200A089A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1503AD-27FD-4530-8016-E5B9440D8D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33427E-B10C-434D-93AC-0F52602EF79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A7F045-E8B9-4E0B-9EBF-09EE1D8DA8F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981979-3824-4C32-852D-F9882AA64A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D11EE0-3464-4A0F-A6CC-E88792A2D1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2D1F04-DDAF-46A7-8783-767DD994D9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CCEE52-75DF-4DEE-BF13-671B5368161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9A2B43-DDAD-4A60-B56B-F7152DB576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4742B4-06EA-4145-B8A2-5537DF0A28D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B00F4F-4E6B-41B3-9869-2778E0A144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FC3436-0C0B-4D87-8EEE-418EFF2003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5D069AE-0C49-40F1-9627-299EC0B53DC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Text 1"/>
          <p:cNvSpPr/>
          <p:nvPr/>
        </p:nvSpPr>
        <p:spPr>
          <a:xfrm>
            <a:off x="502920" y="651060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AutoInspect-X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 2"/>
          <p:cNvSpPr/>
          <p:nvPr/>
        </p:nvSpPr>
        <p:spPr>
          <a:xfrm>
            <a:off x="9052560" y="6510600"/>
            <a:ext cx="233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Capstone Project Proposal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ldNum" idx="1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06C14773-6DBD-43BE-8356-B1180A0017B9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doi.org/10.1109/TITS.2023.3258480" TargetMode="External"/><Relationship Id="rId2" Type="http://schemas.openxmlformats.org/officeDocument/2006/relationships/hyperlink" Target="https://doi.org/10.1109/ICMLA.2017.0-179" TargetMode="External"/><Relationship Id="rId3" Type="http://schemas.openxmlformats.org/officeDocument/2006/relationships/hyperlink" Target="https://doi.org/10.1109/NITC.2017.8285649" TargetMode="External"/><Relationship Id="rId4" Type="http://schemas.openxmlformats.org/officeDocument/2006/relationships/hyperlink" Target="https://doi.org/10.1016/j.iswa.2023.200192" TargetMode="External"/><Relationship Id="rId5" Type="http://schemas.openxmlformats.org/officeDocument/2006/relationships/hyperlink" Target="https://doi.org/10.1109/INDICON59947.2023.10440856" TargetMode="External"/><Relationship Id="rId6" Type="http://schemas.openxmlformats.org/officeDocument/2006/relationships/hyperlink" Target="https://doi.org/10.3390/app14209560" TargetMode="External"/><Relationship Id="rId7" Type="http://schemas.openxmlformats.org/officeDocument/2006/relationships/hyperlink" Target="https://doi.org/10.1080/24751839.2024.2367387" TargetMode="External"/><Relationship Id="rId8" Type="http://schemas.openxmlformats.org/officeDocument/2006/relationships/hyperlink" Target="https://doi.org/10.1002/widm.70027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8412480" y="-1143000"/>
            <a:ext cx="4570560" cy="4570560"/>
          </a:xfrm>
          <a:prstGeom prst="arc">
            <a:avLst>
              <a:gd name="adj1" fmla="val 16200000"/>
              <a:gd name="adj2" fmla="val 0"/>
            </a:avLst>
          </a:prstGeom>
          <a:noFill/>
          <a:ln w="165100">
            <a:solidFill>
              <a:srgbClr val="60a5fa">
                <a:alpha val="4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2"/>
          <p:cNvSpPr/>
          <p:nvPr/>
        </p:nvSpPr>
        <p:spPr>
          <a:xfrm>
            <a:off x="9144000" y="914400"/>
            <a:ext cx="3564720" cy="3564720"/>
          </a:xfrm>
          <a:prstGeom prst="arc">
            <a:avLst>
              <a:gd name="adj1" fmla="val 16200000"/>
              <a:gd name="adj2" fmla="val 0"/>
            </a:avLst>
          </a:prstGeom>
          <a:noFill/>
          <a:ln w="114300">
            <a:solidFill>
              <a:srgbClr val="22d3ee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731520" y="530280"/>
            <a:ext cx="49363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713160" y="1033200"/>
            <a:ext cx="612504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9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AutoInspect-X</a:t>
            </a:r>
            <a:br>
              <a:rPr sz="3900"/>
            </a:br>
            <a:r>
              <a:rPr b="1" lang="en-US" sz="39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Group - 160</a:t>
            </a:r>
            <a:endParaRPr b="0" lang="en-US" sz="3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739800" y="2064240"/>
            <a:ext cx="7085160" cy="10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rgbClr val="cbd5e1"/>
                </a:solidFill>
                <a:latin typeface="Aptos"/>
              </a:rPr>
              <a:t>Multimodal Deep Learning for Vehicle Damage Segmentation and Uncertainty-Aware Repair Cost Estimation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9"/>
          <p:cNvSpPr/>
          <p:nvPr/>
        </p:nvSpPr>
        <p:spPr>
          <a:xfrm>
            <a:off x="2286000" y="3218760"/>
            <a:ext cx="14342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749880" y="3913560"/>
            <a:ext cx="912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40" strike="noStrike">
                <a:solidFill>
                  <a:srgbClr val="93c5fd"/>
                </a:solidFill>
                <a:latin typeface="Aptos"/>
              </a:rPr>
              <a:t>TEAM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58880" y="4316040"/>
            <a:ext cx="19188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ffffff"/>
                </a:solidFill>
                <a:latin typeface="Aptos"/>
              </a:rPr>
              <a:t>Janvie Verma</a:t>
            </a:r>
            <a:endParaRPr b="0" lang="en-US" sz="11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2743200" y="4316040"/>
            <a:ext cx="1370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                  </a:t>
            </a: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23BAI10307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758880" y="4709160"/>
            <a:ext cx="19188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ffffff"/>
                </a:solidFill>
                <a:latin typeface="Aptos"/>
              </a:rPr>
              <a:t>Kislay Anand</a:t>
            </a:r>
            <a:endParaRPr b="0" lang="en-US" sz="11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2743200" y="4709160"/>
            <a:ext cx="1370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                  </a:t>
            </a: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23BAI10359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58880" y="5102280"/>
            <a:ext cx="19188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ffffff"/>
                </a:solidFill>
                <a:latin typeface="Aptos"/>
              </a:rPr>
              <a:t>Chandrakant Anil</a:t>
            </a:r>
            <a:endParaRPr b="0" lang="en-US" sz="11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2743200" y="5102280"/>
            <a:ext cx="1370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                  </a:t>
            </a: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23BAI11269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758880" y="5495400"/>
            <a:ext cx="2211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ffffff"/>
                </a:solidFill>
                <a:latin typeface="Aptos"/>
              </a:rPr>
              <a:t>Parikshid Arya Poornachandra</a:t>
            </a:r>
            <a:endParaRPr b="0" lang="en-US" sz="11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743200" y="5495400"/>
            <a:ext cx="1370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                  </a:t>
            </a: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23BAI10656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758880" y="5888880"/>
            <a:ext cx="19188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ffffff"/>
                </a:solidFill>
                <a:latin typeface="Aptos"/>
              </a:rPr>
              <a:t>Arya Khullar</a:t>
            </a:r>
            <a:endParaRPr b="0" lang="en-US" sz="11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2743200" y="5888880"/>
            <a:ext cx="1370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                  </a:t>
            </a:r>
            <a:r>
              <a:rPr b="0" lang="en-US" sz="1030" spc="-1" strike="noStrike">
                <a:solidFill>
                  <a:srgbClr val="94a3b8"/>
                </a:solidFill>
                <a:latin typeface="Aptos"/>
              </a:rPr>
              <a:t>23BAI11198</a:t>
            </a:r>
            <a:endParaRPr b="0" lang="en-US" sz="10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8183880" y="5266800"/>
            <a:ext cx="2924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20" strike="noStrike">
                <a:solidFill>
                  <a:srgbClr val="67e8f9"/>
                </a:solidFill>
                <a:latin typeface="Aptos"/>
              </a:rPr>
              <a:t>CAPSTONE PROJECT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8549640" y="5586840"/>
            <a:ext cx="2558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94a3b8"/>
                </a:solidFill>
                <a:latin typeface="Aptos"/>
              </a:rPr>
              <a:t>Fall Semester 2026-27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sldNum" idx="5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D3DE59E4-7C08-414E-B0E4-E7A2C52B26F1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1</a:t>
            </a:fld>
            <a:endParaRPr b="0" lang="en-US" sz="8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2. Problem Statement • Objective • Scope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The project is a decision-support system, not just a “dent detector.”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658440" y="1298520"/>
            <a:ext cx="3454920" cy="182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658440" y="1298520"/>
            <a:ext cx="62640" cy="1827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841320" y="143568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Problem Statement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841320" y="1810440"/>
            <a:ext cx="3089160" cy="12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Vehicle damage inspection still depends heavily on manual assessment. Visual AI can localize damage, but downstream decisions—repair action and cost—remain sensitive to vehicle details, data quality, and uncertainty.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6"/>
          <p:cNvSpPr/>
          <p:nvPr/>
        </p:nvSpPr>
        <p:spPr>
          <a:xfrm>
            <a:off x="4370760" y="1298520"/>
            <a:ext cx="3454920" cy="182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4370760" y="1298520"/>
            <a:ext cx="62640" cy="182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553640" y="143568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Objective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4553640" y="1810440"/>
            <a:ext cx="3089160" cy="12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Study whether pixel-level damage representations combined with vehicle metadata improve repair-action prediction and repair-cost estimation versus vision-only and simple-fusion baselines.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8083440" y="1298520"/>
            <a:ext cx="3454920" cy="182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8083440" y="1298520"/>
            <a:ext cx="62640" cy="1827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8266320" y="143568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Scope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8266320" y="1810440"/>
            <a:ext cx="3089160" cy="12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Core: visible damage segmentation, feature extraction, multimodal fusion, repair action, uncertainty-aware cost interval, explanation. Optional: hidden-damage risk only when reliable labels exist.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685800" y="3593520"/>
            <a:ext cx="2376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00" strike="noStrike">
                <a:solidFill>
                  <a:srgbClr val="64748b"/>
                </a:solidFill>
                <a:latin typeface="Aptos"/>
              </a:rPr>
              <a:t>INPUTS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694800" y="3904560"/>
            <a:ext cx="1845720" cy="309600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 w="12700">
            <a:solidFill>
              <a:srgbClr val="dbea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694800" y="3968640"/>
            <a:ext cx="18457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2563eb"/>
                </a:solidFill>
                <a:latin typeface="Aptos"/>
              </a:rPr>
              <a:t>Vehicle image(s)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17"/>
          <p:cNvSpPr/>
          <p:nvPr/>
        </p:nvSpPr>
        <p:spPr>
          <a:xfrm>
            <a:off x="2779920" y="3904560"/>
            <a:ext cx="18457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2779920" y="3968640"/>
            <a:ext cx="18457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Make / model / year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9"/>
          <p:cNvSpPr/>
          <p:nvPr/>
        </p:nvSpPr>
        <p:spPr>
          <a:xfrm>
            <a:off x="4864680" y="3904560"/>
            <a:ext cx="18457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4864680" y="3968640"/>
            <a:ext cx="18457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Region / labor context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1"/>
          <p:cNvSpPr/>
          <p:nvPr/>
        </p:nvSpPr>
        <p:spPr>
          <a:xfrm>
            <a:off x="7178040" y="4069080"/>
            <a:ext cx="1143000" cy="360"/>
          </a:xfrm>
          <a:prstGeom prst="line">
            <a:avLst/>
          </a:prstGeom>
          <a:ln w="31750">
            <a:solidFill>
              <a:srgbClr val="2563e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694800" y="4590360"/>
            <a:ext cx="2376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00" strike="noStrike">
                <a:solidFill>
                  <a:srgbClr val="64748b"/>
                </a:solidFill>
                <a:latin typeface="Aptos"/>
              </a:rPr>
              <a:t>OUTPUTS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3"/>
          <p:cNvSpPr/>
          <p:nvPr/>
        </p:nvSpPr>
        <p:spPr>
          <a:xfrm>
            <a:off x="694800" y="4901040"/>
            <a:ext cx="18457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694800" y="4965120"/>
            <a:ext cx="18457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Damage mask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25"/>
          <p:cNvSpPr/>
          <p:nvPr/>
        </p:nvSpPr>
        <p:spPr>
          <a:xfrm>
            <a:off x="2779920" y="4901040"/>
            <a:ext cx="18457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6"/>
          <p:cNvSpPr/>
          <p:nvPr/>
        </p:nvSpPr>
        <p:spPr>
          <a:xfrm>
            <a:off x="2779920" y="4965120"/>
            <a:ext cx="18457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Repair / replace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27"/>
          <p:cNvSpPr/>
          <p:nvPr/>
        </p:nvSpPr>
        <p:spPr>
          <a:xfrm>
            <a:off x="4864680" y="4901040"/>
            <a:ext cx="1845720" cy="309600"/>
          </a:xfrm>
          <a:prstGeom prst="roundRect">
            <a:avLst>
              <a:gd name="adj" fmla="val 23529"/>
            </a:avLst>
          </a:prstGeom>
          <a:solidFill>
            <a:srgbClr val="dcfce7"/>
          </a:solidFill>
          <a:ln w="12700">
            <a:solidFill>
              <a:srgbClr val="dcfc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28"/>
          <p:cNvSpPr/>
          <p:nvPr/>
        </p:nvSpPr>
        <p:spPr>
          <a:xfrm>
            <a:off x="4864680" y="4965120"/>
            <a:ext cx="18457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66534"/>
                </a:solidFill>
                <a:latin typeface="Aptos"/>
              </a:rPr>
              <a:t>Cost range + confidence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Boundary: the system provides preliminary decision support; a final repair quote or hidden structural diagnosis still requires professional inspection.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sldNum" idx="6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2019F392-49E6-4B24-A265-7E20AD66A3E8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2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3. Why this is a research project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Existing work establishes the vision problem; our study tests a downstream multimodal hypothesis.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685800" y="1325880"/>
            <a:ext cx="10834200" cy="839880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868680" y="1490400"/>
            <a:ext cx="182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CarDD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4"/>
          <p:cNvSpPr/>
          <p:nvPr/>
        </p:nvSpPr>
        <p:spPr>
          <a:xfrm>
            <a:off x="2743200" y="1444680"/>
            <a:ext cx="38847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f2937"/>
                </a:solidFill>
                <a:latin typeface="Aptos"/>
              </a:rPr>
              <a:t>Public benchmark for damage detection + instance segmentation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5"/>
          <p:cNvSpPr/>
          <p:nvPr/>
        </p:nvSpPr>
        <p:spPr>
          <a:xfrm>
            <a:off x="6903720" y="1444680"/>
            <a:ext cx="4159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64748b"/>
                </a:solidFill>
                <a:latin typeface="Aptos"/>
              </a:rPr>
              <a:t>2017 → 2023+ vision foundation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6"/>
          <p:cNvSpPr/>
          <p:nvPr/>
        </p:nvSpPr>
        <p:spPr>
          <a:xfrm>
            <a:off x="685800" y="2368440"/>
            <a:ext cx="10834200" cy="839880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7"/>
          <p:cNvSpPr/>
          <p:nvPr/>
        </p:nvSpPr>
        <p:spPr>
          <a:xfrm>
            <a:off x="868680" y="2532960"/>
            <a:ext cx="182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Severity / insurance studies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8"/>
          <p:cNvSpPr/>
          <p:nvPr/>
        </p:nvSpPr>
        <p:spPr>
          <a:xfrm>
            <a:off x="2743200" y="2487240"/>
            <a:ext cx="38847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f2937"/>
                </a:solidFill>
                <a:latin typeface="Aptos"/>
              </a:rPr>
              <a:t>Damage severity and insurance-oriented assessment already exist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9"/>
          <p:cNvSpPr/>
          <p:nvPr/>
        </p:nvSpPr>
        <p:spPr>
          <a:xfrm>
            <a:off x="6903720" y="2487240"/>
            <a:ext cx="4159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64748b"/>
                </a:solidFill>
                <a:latin typeface="Aptos"/>
              </a:rPr>
              <a:t>Shows the domain is active, not empty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0"/>
          <p:cNvSpPr/>
          <p:nvPr/>
        </p:nvSpPr>
        <p:spPr>
          <a:xfrm>
            <a:off x="685800" y="3410640"/>
            <a:ext cx="10834200" cy="839880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868680" y="3575160"/>
            <a:ext cx="182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Cost / payout studies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2743200" y="3529440"/>
            <a:ext cx="38847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f2937"/>
                </a:solidFill>
                <a:latin typeface="Aptos"/>
              </a:rPr>
              <a:t>Image-derived features have been linked to cost/insurance prediction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6903720" y="3529440"/>
            <a:ext cx="4159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64748b"/>
                </a:solidFill>
                <a:latin typeface="Aptos"/>
              </a:rPr>
              <a:t>Cost prediction has prior art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4"/>
          <p:cNvSpPr/>
          <p:nvPr/>
        </p:nvSpPr>
        <p:spPr>
          <a:xfrm>
            <a:off x="685800" y="4453200"/>
            <a:ext cx="10834200" cy="839880"/>
          </a:xfrm>
          <a:prstGeom prst="roundRect">
            <a:avLst>
              <a:gd name="adj" fmla="val 5435"/>
            </a:avLst>
          </a:prstGeom>
          <a:solidFill>
            <a:srgbClr val="eff6ff"/>
          </a:solidFill>
          <a:ln w="165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868680" y="4617720"/>
            <a:ext cx="182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2563eb"/>
                </a:solidFill>
                <a:latin typeface="Aptos"/>
              </a:rPr>
              <a:t>Our gap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2743200" y="4572000"/>
            <a:ext cx="38847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f2937"/>
                </a:solidFill>
                <a:latin typeface="Aptos"/>
              </a:rPr>
              <a:t>Systematic comparison of segmentation-derived features + metadata + cost intervals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6903720" y="4572000"/>
            <a:ext cx="4159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64748b"/>
                </a:solidFill>
                <a:latin typeface="Aptos"/>
              </a:rPr>
              <a:t>Testable research contribution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713160" y="5486400"/>
            <a:ext cx="1735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748b"/>
                </a:solidFill>
                <a:latin typeface="Aptos"/>
              </a:rPr>
              <a:t>Research framing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2331720" y="5431680"/>
            <a:ext cx="8685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563eb"/>
                </a:solidFill>
                <a:latin typeface="Aptos"/>
              </a:rPr>
              <a:t>Not “Is car damage detection possible?” → “Which representation + fusion strategy improves downstream estimation, and under what data conditions?”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Sources: CarDD (Wang et al., IEEE T-ITS, 2023); Hasan et al., WIREs Data Mining &amp; Knowledge Discovery, 2025; Qaddour &amp; Siddiqa, 2023; VehiDE, 2024.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 type="sldNum" idx="7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1A523B86-354E-488E-A7CC-A028895DEF56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3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4. Methodology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A staged workflow separates the computer-vision problem from the research comparison.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640080" y="1353240"/>
            <a:ext cx="3400200" cy="15714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804600" y="1554480"/>
            <a:ext cx="492480" cy="492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4"/>
          <p:cNvSpPr/>
          <p:nvPr/>
        </p:nvSpPr>
        <p:spPr>
          <a:xfrm>
            <a:off x="804600" y="1673280"/>
            <a:ext cx="492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01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1481400" y="157284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20" spc="-1" strike="noStrike">
                <a:solidFill>
                  <a:srgbClr val="0f172a"/>
                </a:solidFill>
                <a:latin typeface="Aptos"/>
              </a:rPr>
              <a:t>Collect / curate</a:t>
            </a:r>
            <a:endParaRPr b="0" lang="en-US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6"/>
          <p:cNvSpPr/>
          <p:nvPr/>
        </p:nvSpPr>
        <p:spPr>
          <a:xfrm>
            <a:off x="1481400" y="1993320"/>
            <a:ext cx="2211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Public damage images + valid metadata/cost records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7"/>
          <p:cNvSpPr/>
          <p:nvPr/>
        </p:nvSpPr>
        <p:spPr>
          <a:xfrm>
            <a:off x="4434840" y="1353240"/>
            <a:ext cx="3400200" cy="15714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4599360" y="1554480"/>
            <a:ext cx="492480" cy="492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9"/>
          <p:cNvSpPr/>
          <p:nvPr/>
        </p:nvSpPr>
        <p:spPr>
          <a:xfrm>
            <a:off x="4599360" y="1673280"/>
            <a:ext cx="492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5276160" y="157284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20" spc="-1" strike="noStrike">
                <a:solidFill>
                  <a:srgbClr val="0f172a"/>
                </a:solidFill>
                <a:latin typeface="Aptos"/>
              </a:rPr>
              <a:t>Annotate / prepare</a:t>
            </a:r>
            <a:endParaRPr b="0" lang="en-US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5276160" y="1993320"/>
            <a:ext cx="2211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Damage masks, parts, labels; remove leakage and duplicates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12"/>
          <p:cNvSpPr/>
          <p:nvPr/>
        </p:nvSpPr>
        <p:spPr>
          <a:xfrm>
            <a:off x="8229600" y="1353240"/>
            <a:ext cx="3400200" cy="15714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3"/>
          <p:cNvSpPr/>
          <p:nvPr/>
        </p:nvSpPr>
        <p:spPr>
          <a:xfrm>
            <a:off x="8394120" y="1554480"/>
            <a:ext cx="492480" cy="492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8394120" y="1673280"/>
            <a:ext cx="492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03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9070920" y="157284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20" spc="-1" strike="noStrike">
                <a:solidFill>
                  <a:srgbClr val="0f172a"/>
                </a:solidFill>
                <a:latin typeface="Aptos"/>
              </a:rPr>
              <a:t>Vision model</a:t>
            </a:r>
            <a:endParaRPr b="0" lang="en-US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9070920" y="1993320"/>
            <a:ext cx="2211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Fine-tune segmentation model; extract damage features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17"/>
          <p:cNvSpPr/>
          <p:nvPr/>
        </p:nvSpPr>
        <p:spPr>
          <a:xfrm>
            <a:off x="640080" y="3328560"/>
            <a:ext cx="3400200" cy="15714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8"/>
          <p:cNvSpPr/>
          <p:nvPr/>
        </p:nvSpPr>
        <p:spPr>
          <a:xfrm>
            <a:off x="804600" y="3529440"/>
            <a:ext cx="492480" cy="492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804600" y="3648600"/>
            <a:ext cx="492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04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1481400" y="35478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20" spc="-1" strike="noStrike">
                <a:solidFill>
                  <a:srgbClr val="0f172a"/>
                </a:solidFill>
                <a:latin typeface="Aptos"/>
              </a:rPr>
              <a:t>Fusion study</a:t>
            </a:r>
            <a:endParaRPr b="0" lang="en-US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1"/>
          <p:cNvSpPr/>
          <p:nvPr/>
        </p:nvSpPr>
        <p:spPr>
          <a:xfrm>
            <a:off x="1481400" y="3968640"/>
            <a:ext cx="2211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Compare vision-only, concatenation, and cross-attention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2"/>
          <p:cNvSpPr/>
          <p:nvPr/>
        </p:nvSpPr>
        <p:spPr>
          <a:xfrm>
            <a:off x="4434840" y="3328560"/>
            <a:ext cx="3400200" cy="15714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23"/>
          <p:cNvSpPr/>
          <p:nvPr/>
        </p:nvSpPr>
        <p:spPr>
          <a:xfrm>
            <a:off x="4599360" y="3529440"/>
            <a:ext cx="492480" cy="4924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4599360" y="3648600"/>
            <a:ext cx="492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05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25"/>
          <p:cNvSpPr/>
          <p:nvPr/>
        </p:nvSpPr>
        <p:spPr>
          <a:xfrm>
            <a:off x="5276160" y="35478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20" spc="-1" strike="noStrike">
                <a:solidFill>
                  <a:srgbClr val="0f172a"/>
                </a:solidFill>
                <a:latin typeface="Aptos"/>
              </a:rPr>
              <a:t>Downstream heads</a:t>
            </a:r>
            <a:endParaRPr b="0" lang="en-US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6"/>
          <p:cNvSpPr/>
          <p:nvPr/>
        </p:nvSpPr>
        <p:spPr>
          <a:xfrm>
            <a:off x="5276160" y="3968640"/>
            <a:ext cx="2211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Repair action + quantile cost prediction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7"/>
          <p:cNvSpPr/>
          <p:nvPr/>
        </p:nvSpPr>
        <p:spPr>
          <a:xfrm>
            <a:off x="8229600" y="3328560"/>
            <a:ext cx="3400200" cy="15714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28"/>
          <p:cNvSpPr/>
          <p:nvPr/>
        </p:nvSpPr>
        <p:spPr>
          <a:xfrm>
            <a:off x="8394120" y="3529440"/>
            <a:ext cx="492480" cy="492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29"/>
          <p:cNvSpPr/>
          <p:nvPr/>
        </p:nvSpPr>
        <p:spPr>
          <a:xfrm>
            <a:off x="8394120" y="3648600"/>
            <a:ext cx="492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06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30"/>
          <p:cNvSpPr/>
          <p:nvPr/>
        </p:nvSpPr>
        <p:spPr>
          <a:xfrm>
            <a:off x="9070920" y="35478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20" spc="-1" strike="noStrike">
                <a:solidFill>
                  <a:srgbClr val="0f172a"/>
                </a:solidFill>
                <a:latin typeface="Aptos"/>
              </a:rPr>
              <a:t>Evaluate</a:t>
            </a:r>
            <a:endParaRPr b="0" lang="en-US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31"/>
          <p:cNvSpPr/>
          <p:nvPr/>
        </p:nvSpPr>
        <p:spPr>
          <a:xfrm>
            <a:off x="9070920" y="3968640"/>
            <a:ext cx="2211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Ablation, robustness, calibration, explainability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32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Key methodological rule: synthetic/weak labels must remain explicitly identified and must not be presented as real-world ground truth.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sldNum" idx="8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30720E8D-7760-4A19-834E-40D5CD5135FB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4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5. Architecture / Process Flow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Core architecture: vision evidence + structured vehicle context → downstream decisions.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11480" y="1847160"/>
            <a:ext cx="1690200" cy="1370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502920" y="2048400"/>
            <a:ext cx="1507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10" spc="-1" strike="noStrike">
                <a:solidFill>
                  <a:srgbClr val="0f172a"/>
                </a:solidFill>
                <a:latin typeface="Aptos"/>
              </a:rPr>
              <a:t>Image(s)</a:t>
            </a:r>
            <a:endParaRPr b="0" lang="en-US" sz="12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502920" y="2514600"/>
            <a:ext cx="150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Vehicle photo(s)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121120" y="2468880"/>
            <a:ext cx="192240" cy="360"/>
          </a:xfrm>
          <a:prstGeom prst="line">
            <a:avLst/>
          </a:prstGeom>
          <a:ln w="228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2350080" y="1847160"/>
            <a:ext cx="1690200" cy="1370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2441520" y="2048400"/>
            <a:ext cx="1507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 lnSpcReduction="10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10" spc="-1" strike="noStrike">
                <a:solidFill>
                  <a:srgbClr val="0f172a"/>
                </a:solidFill>
                <a:latin typeface="Aptos"/>
              </a:rPr>
              <a:t>Damage segmentation</a:t>
            </a:r>
            <a:endParaRPr b="0" lang="en-US" sz="12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8"/>
          <p:cNvSpPr/>
          <p:nvPr/>
        </p:nvSpPr>
        <p:spPr>
          <a:xfrm>
            <a:off x="2441520" y="2514600"/>
            <a:ext cx="150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Mask + part context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4059720" y="2468880"/>
            <a:ext cx="192240" cy="360"/>
          </a:xfrm>
          <a:prstGeom prst="line">
            <a:avLst/>
          </a:prstGeom>
          <a:ln w="228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4288680" y="1847160"/>
            <a:ext cx="1690200" cy="1370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1"/>
          <p:cNvSpPr/>
          <p:nvPr/>
        </p:nvSpPr>
        <p:spPr>
          <a:xfrm>
            <a:off x="4380120" y="2048400"/>
            <a:ext cx="1507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10" spc="-1" strike="noStrike">
                <a:solidFill>
                  <a:srgbClr val="0f172a"/>
                </a:solidFill>
                <a:latin typeface="Aptos"/>
              </a:rPr>
              <a:t>Feature builder</a:t>
            </a:r>
            <a:endParaRPr b="0" lang="en-US" sz="12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4380120" y="2514600"/>
            <a:ext cx="150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Type + area ratio + location + confidence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5998320" y="2468880"/>
            <a:ext cx="191880" cy="360"/>
          </a:xfrm>
          <a:prstGeom prst="line">
            <a:avLst/>
          </a:prstGeom>
          <a:ln w="228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6226920" y="1847160"/>
            <a:ext cx="1690200" cy="1370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5"/>
          <p:cNvSpPr/>
          <p:nvPr/>
        </p:nvSpPr>
        <p:spPr>
          <a:xfrm>
            <a:off x="6318360" y="2048400"/>
            <a:ext cx="1507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10" spc="-1" strike="noStrike">
                <a:solidFill>
                  <a:srgbClr val="0f172a"/>
                </a:solidFill>
                <a:latin typeface="Aptos"/>
              </a:rPr>
              <a:t>Metadata encoder</a:t>
            </a:r>
            <a:endParaRPr b="0" lang="en-US" sz="12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16"/>
          <p:cNvSpPr/>
          <p:nvPr/>
        </p:nvSpPr>
        <p:spPr>
          <a:xfrm>
            <a:off x="6318360" y="2514600"/>
            <a:ext cx="150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Make + model + year + region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7936920" y="2468880"/>
            <a:ext cx="191880" cy="360"/>
          </a:xfrm>
          <a:prstGeom prst="line">
            <a:avLst/>
          </a:prstGeom>
          <a:ln w="228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8165520" y="1847160"/>
            <a:ext cx="1690200" cy="13701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2159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9"/>
          <p:cNvSpPr/>
          <p:nvPr/>
        </p:nvSpPr>
        <p:spPr>
          <a:xfrm>
            <a:off x="8256960" y="2048400"/>
            <a:ext cx="1507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10" spc="-1" strike="noStrike">
                <a:solidFill>
                  <a:srgbClr val="0f172a"/>
                </a:solidFill>
                <a:latin typeface="Aptos"/>
              </a:rPr>
              <a:t>Fusion</a:t>
            </a:r>
            <a:endParaRPr b="0" lang="en-US" sz="12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20"/>
          <p:cNvSpPr/>
          <p:nvPr/>
        </p:nvSpPr>
        <p:spPr>
          <a:xfrm>
            <a:off x="8256960" y="2514600"/>
            <a:ext cx="150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Concat baseline → cross-attention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9875520" y="2468880"/>
            <a:ext cx="191880" cy="360"/>
          </a:xfrm>
          <a:prstGeom prst="line">
            <a:avLst/>
          </a:prstGeom>
          <a:ln w="228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10104120" y="1847160"/>
            <a:ext cx="1690200" cy="1370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23"/>
          <p:cNvSpPr/>
          <p:nvPr/>
        </p:nvSpPr>
        <p:spPr>
          <a:xfrm>
            <a:off x="10195560" y="2048400"/>
            <a:ext cx="1507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10" spc="-1" strike="noStrike">
                <a:solidFill>
                  <a:srgbClr val="0f172a"/>
                </a:solidFill>
                <a:latin typeface="Aptos"/>
              </a:rPr>
              <a:t>Outputs</a:t>
            </a:r>
            <a:endParaRPr b="0" lang="en-US" sz="12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4"/>
          <p:cNvSpPr/>
          <p:nvPr/>
        </p:nvSpPr>
        <p:spPr>
          <a:xfrm>
            <a:off x="10195560" y="2514600"/>
            <a:ext cx="150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Repair action + cost interval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2011680" y="3858840"/>
            <a:ext cx="8182440" cy="8215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26"/>
          <p:cNvSpPr/>
          <p:nvPr/>
        </p:nvSpPr>
        <p:spPr>
          <a:xfrm>
            <a:off x="2286000" y="4114800"/>
            <a:ext cx="141588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Aptos"/>
              </a:rPr>
              <a:t>Explainability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7"/>
          <p:cNvSpPr/>
          <p:nvPr/>
        </p:nvSpPr>
        <p:spPr>
          <a:xfrm>
            <a:off x="3657600" y="4069080"/>
            <a:ext cx="6079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f2937"/>
                </a:solidFill>
                <a:latin typeface="Aptos"/>
              </a:rPr>
              <a:t>Grad-CAM / feature attribution tied to the predicted damage and downstream decision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2011680" y="4864680"/>
            <a:ext cx="8182440" cy="821520"/>
          </a:xfrm>
          <a:prstGeom prst="roundRect">
            <a:avLst>
              <a:gd name="adj" fmla="val 5556"/>
            </a:avLst>
          </a:prstGeom>
          <a:solidFill>
            <a:srgbClr val="ecfdf5"/>
          </a:solidFill>
          <a:ln w="12700">
            <a:solidFill>
              <a:srgbClr val="a7f3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29"/>
          <p:cNvSpPr/>
          <p:nvPr/>
        </p:nvSpPr>
        <p:spPr>
          <a:xfrm>
            <a:off x="2286000" y="5120640"/>
            <a:ext cx="141588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66534"/>
                </a:solidFill>
                <a:latin typeface="Aptos"/>
              </a:rPr>
              <a:t>Uncertainty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30"/>
          <p:cNvSpPr/>
          <p:nvPr/>
        </p:nvSpPr>
        <p:spPr>
          <a:xfrm>
            <a:off x="3657600" y="5047560"/>
            <a:ext cx="607932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f2937"/>
                </a:solidFill>
                <a:latin typeface="Aptos"/>
              </a:rPr>
              <a:t>Quantile regression outputs lower / median / upper repair-cost estimates instead of a false-precision single number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sldNum" idx="9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80719605-8B1F-40C3-8889-C54DC6840633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5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6. Research Approach &amp; Core Mathematics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The contribution is evaluated as a set of controlled comparisons.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"/>
          <p:cNvSpPr/>
          <p:nvPr/>
        </p:nvSpPr>
        <p:spPr>
          <a:xfrm>
            <a:off x="658440" y="1316880"/>
            <a:ext cx="3454920" cy="19645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"/>
          <p:cNvSpPr/>
          <p:nvPr/>
        </p:nvSpPr>
        <p:spPr>
          <a:xfrm>
            <a:off x="658440" y="1316880"/>
            <a:ext cx="62640" cy="196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4"/>
          <p:cNvSpPr/>
          <p:nvPr/>
        </p:nvSpPr>
        <p:spPr>
          <a:xfrm>
            <a:off x="841320" y="145404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Damage representation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841320" y="1828800"/>
            <a:ext cx="3089160" cy="13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A_norm = damaged-pixel-area / part-pixel-area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Use normalized area as a robust derived feature. True physical cm² requires calibration or geometry.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4370760" y="1316880"/>
            <a:ext cx="3454920" cy="19645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7"/>
          <p:cNvSpPr/>
          <p:nvPr/>
        </p:nvSpPr>
        <p:spPr>
          <a:xfrm>
            <a:off x="4370760" y="1316880"/>
            <a:ext cx="62640" cy="1964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8"/>
          <p:cNvSpPr/>
          <p:nvPr/>
        </p:nvSpPr>
        <p:spPr>
          <a:xfrm>
            <a:off x="4553640" y="145404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Multimodal fusion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4553640" y="1828800"/>
            <a:ext cx="3089160" cy="13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F = Fusion(Z_vision, Z_meta)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Compare simple concatenation (baseline) against cross-attention (proposed).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10"/>
          <p:cNvSpPr/>
          <p:nvPr/>
        </p:nvSpPr>
        <p:spPr>
          <a:xfrm>
            <a:off x="8083440" y="1316880"/>
            <a:ext cx="3454920" cy="19645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11"/>
          <p:cNvSpPr/>
          <p:nvPr/>
        </p:nvSpPr>
        <p:spPr>
          <a:xfrm>
            <a:off x="8083440" y="1316880"/>
            <a:ext cx="62640" cy="1964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12"/>
          <p:cNvSpPr/>
          <p:nvPr/>
        </p:nvSpPr>
        <p:spPr>
          <a:xfrm>
            <a:off x="8266320" y="145404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Cost interval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3"/>
          <p:cNvSpPr/>
          <p:nvPr/>
        </p:nvSpPr>
        <p:spPr>
          <a:xfrm>
            <a:off x="8266320" y="1828800"/>
            <a:ext cx="3089160" cy="13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Predict Ĉ0.10, Ĉ0.50, Ĉ0.90 using quantile loss.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Evaluate coverage, interval width, MAE/MAPE.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14"/>
          <p:cNvSpPr/>
          <p:nvPr/>
        </p:nvSpPr>
        <p:spPr>
          <a:xfrm>
            <a:off x="694800" y="3703320"/>
            <a:ext cx="2376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00" strike="noStrike">
                <a:solidFill>
                  <a:srgbClr val="64748b"/>
                </a:solidFill>
                <a:latin typeface="Aptos"/>
              </a:rPr>
              <a:t>CONTROLLED EXPERIMENTS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15"/>
          <p:cNvSpPr/>
          <p:nvPr/>
        </p:nvSpPr>
        <p:spPr>
          <a:xfrm>
            <a:off x="694800" y="4005000"/>
            <a:ext cx="3336120" cy="1114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6"/>
          <p:cNvSpPr/>
          <p:nvPr/>
        </p:nvSpPr>
        <p:spPr>
          <a:xfrm>
            <a:off x="822960" y="4206240"/>
            <a:ext cx="364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Aptos"/>
              </a:rPr>
              <a:t>B1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17"/>
          <p:cNvSpPr/>
          <p:nvPr/>
        </p:nvSpPr>
        <p:spPr>
          <a:xfrm>
            <a:off x="1289160" y="4169520"/>
            <a:ext cx="2330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Vision-only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8"/>
          <p:cNvSpPr/>
          <p:nvPr/>
        </p:nvSpPr>
        <p:spPr>
          <a:xfrm>
            <a:off x="1289160" y="4498920"/>
            <a:ext cx="24217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64748b"/>
                </a:solidFill>
                <a:latin typeface="Aptos"/>
              </a:rPr>
              <a:t>Damage → cost/action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9"/>
          <p:cNvSpPr/>
          <p:nvPr/>
        </p:nvSpPr>
        <p:spPr>
          <a:xfrm>
            <a:off x="4462200" y="4005000"/>
            <a:ext cx="3336120" cy="1114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20"/>
          <p:cNvSpPr/>
          <p:nvPr/>
        </p:nvSpPr>
        <p:spPr>
          <a:xfrm>
            <a:off x="4590360" y="4206240"/>
            <a:ext cx="364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64748b"/>
                </a:solidFill>
                <a:latin typeface="Aptos"/>
              </a:rPr>
              <a:t>B2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21"/>
          <p:cNvSpPr/>
          <p:nvPr/>
        </p:nvSpPr>
        <p:spPr>
          <a:xfrm>
            <a:off x="5056560" y="4169520"/>
            <a:ext cx="2330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Simple fusion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22"/>
          <p:cNvSpPr/>
          <p:nvPr/>
        </p:nvSpPr>
        <p:spPr>
          <a:xfrm>
            <a:off x="5056560" y="4498920"/>
            <a:ext cx="24217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64748b"/>
                </a:solidFill>
                <a:latin typeface="Aptos"/>
              </a:rPr>
              <a:t>Vision + metadata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23"/>
          <p:cNvSpPr/>
          <p:nvPr/>
        </p:nvSpPr>
        <p:spPr>
          <a:xfrm>
            <a:off x="8229600" y="4005000"/>
            <a:ext cx="3336120" cy="1114200"/>
          </a:xfrm>
          <a:prstGeom prst="roundRect">
            <a:avLst>
              <a:gd name="adj" fmla="val 4098"/>
            </a:avLst>
          </a:prstGeom>
          <a:solidFill>
            <a:srgbClr val="eff6ff"/>
          </a:solidFill>
          <a:ln w="1905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24"/>
          <p:cNvSpPr/>
          <p:nvPr/>
        </p:nvSpPr>
        <p:spPr>
          <a:xfrm>
            <a:off x="8357760" y="4206240"/>
            <a:ext cx="364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563eb"/>
                </a:solidFill>
                <a:latin typeface="Aptos"/>
              </a:rPr>
              <a:t>P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25"/>
          <p:cNvSpPr/>
          <p:nvPr/>
        </p:nvSpPr>
        <p:spPr>
          <a:xfrm>
            <a:off x="8823960" y="4169520"/>
            <a:ext cx="2330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Proposed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26"/>
          <p:cNvSpPr/>
          <p:nvPr/>
        </p:nvSpPr>
        <p:spPr>
          <a:xfrm>
            <a:off x="8823960" y="4498920"/>
            <a:ext cx="24217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64748b"/>
                </a:solidFill>
                <a:latin typeface="Aptos"/>
              </a:rPr>
              <a:t>Segmentation + metadata + cross-attention + quantiles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27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Research question: does the richer representation improve downstream outcomes enough to justify its added complexity?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sldNum" idx="10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5BB162B2-3927-4168-B32F-A42E37880F40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6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7. Proposed Project Folder Structure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The repository keeps product code, ML research, data, and documentation separated.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2"/>
          <p:cNvSpPr/>
          <p:nvPr/>
        </p:nvSpPr>
        <p:spPr>
          <a:xfrm>
            <a:off x="685800" y="1280160"/>
            <a:ext cx="6536520" cy="4524840"/>
          </a:xfrm>
          <a:prstGeom prst="roundRect">
            <a:avLst>
              <a:gd name="adj" fmla="val 1010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3"/>
          <p:cNvSpPr/>
          <p:nvPr/>
        </p:nvSpPr>
        <p:spPr>
          <a:xfrm>
            <a:off x="914400" y="1517760"/>
            <a:ext cx="6079320" cy="40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AutoInspect-X/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apps/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web/                 # React/TypeScript frontend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└──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api/                 # FastAPI backend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ml/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datasets/            # local datasets / manifests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models/              # model definitions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training/            # training pipelines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inference/           # production inference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evaluation/          # metrics / benchmarks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└──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experiments/         # reproducible experiments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packages/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└──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shared/              # small shared contracts/types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docs/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research/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architecture/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ml/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└──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decisions/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tests/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integration/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│   └──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e2e/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scripts/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.github/workflows/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AGENTS.md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README.md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├──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.env.example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└── </a:t>
            </a:r>
            <a:r>
              <a:rPr b="0" lang="en-US" sz="1130" spc="-1" strike="noStrike">
                <a:solidFill>
                  <a:srgbClr val="e2e8f0"/>
                </a:solidFill>
                <a:latin typeface="Courier New"/>
                <a:ea typeface="Courier New"/>
              </a:rPr>
              <a:t>pyproject.toml / package.json</a:t>
            </a:r>
            <a:endParaRPr b="0" lang="en-US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7543800" y="1298520"/>
            <a:ext cx="3912120" cy="12330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5"/>
          <p:cNvSpPr/>
          <p:nvPr/>
        </p:nvSpPr>
        <p:spPr>
          <a:xfrm>
            <a:off x="7543800" y="1298520"/>
            <a:ext cx="62640" cy="123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6"/>
          <p:cNvSpPr/>
          <p:nvPr/>
        </p:nvSpPr>
        <p:spPr>
          <a:xfrm>
            <a:off x="7726680" y="1435680"/>
            <a:ext cx="3546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Frontend boundary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7"/>
          <p:cNvSpPr/>
          <p:nvPr/>
        </p:nvSpPr>
        <p:spPr>
          <a:xfrm>
            <a:off x="7726680" y="1810440"/>
            <a:ext cx="3546360" cy="6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UI, upload flow, visualization, result presentation.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8"/>
          <p:cNvSpPr/>
          <p:nvPr/>
        </p:nvSpPr>
        <p:spPr>
          <a:xfrm>
            <a:off x="7543800" y="2743200"/>
            <a:ext cx="3912120" cy="12330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9"/>
          <p:cNvSpPr/>
          <p:nvPr/>
        </p:nvSpPr>
        <p:spPr>
          <a:xfrm>
            <a:off x="7543800" y="2743200"/>
            <a:ext cx="62640" cy="1233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10"/>
          <p:cNvSpPr/>
          <p:nvPr/>
        </p:nvSpPr>
        <p:spPr>
          <a:xfrm>
            <a:off x="7726680" y="2880360"/>
            <a:ext cx="3546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Backend boundary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11"/>
          <p:cNvSpPr/>
          <p:nvPr/>
        </p:nvSpPr>
        <p:spPr>
          <a:xfrm>
            <a:off x="7726680" y="3255120"/>
            <a:ext cx="3546360" cy="6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API, validation, orchestration, persistence, reports.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2"/>
          <p:cNvSpPr/>
          <p:nvPr/>
        </p:nvSpPr>
        <p:spPr>
          <a:xfrm>
            <a:off x="7543800" y="4187880"/>
            <a:ext cx="3912120" cy="12330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3"/>
          <p:cNvSpPr/>
          <p:nvPr/>
        </p:nvSpPr>
        <p:spPr>
          <a:xfrm>
            <a:off x="7543800" y="4187880"/>
            <a:ext cx="62640" cy="12330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4"/>
          <p:cNvSpPr/>
          <p:nvPr/>
        </p:nvSpPr>
        <p:spPr>
          <a:xfrm>
            <a:off x="7726680" y="4325040"/>
            <a:ext cx="3546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ML boundary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5"/>
          <p:cNvSpPr/>
          <p:nvPr/>
        </p:nvSpPr>
        <p:spPr>
          <a:xfrm>
            <a:off x="7726680" y="4700160"/>
            <a:ext cx="3546360" cy="6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Training/evaluation stay separate from API runtime.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16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Engineering rule: create new files only when they have a clear purpose; keep research experiments out of production modules.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 type="sldNum" idx="11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20AE06D9-3C24-495A-ADD0-E35183E67ED5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7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8. Hardware / Software Requirements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The capstone is designed to run locally for development and use optional GPU acceleration for training.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2"/>
          <p:cNvSpPr/>
          <p:nvPr/>
        </p:nvSpPr>
        <p:spPr>
          <a:xfrm>
            <a:off x="658440" y="1353240"/>
            <a:ext cx="3454920" cy="1991880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"/>
          <p:cNvSpPr/>
          <p:nvPr/>
        </p:nvSpPr>
        <p:spPr>
          <a:xfrm>
            <a:off x="658440" y="1353240"/>
            <a:ext cx="62640" cy="1991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4"/>
          <p:cNvSpPr/>
          <p:nvPr/>
        </p:nvSpPr>
        <p:spPr>
          <a:xfrm>
            <a:off x="841320" y="149040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Development hardware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841320" y="1865520"/>
            <a:ext cx="30891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CPU: modern 6–8 core processor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RAM: 16 GB minimum; 32 GB preferred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Storage: SSD with dataset/model space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GPU: optional for early prototyping; recommended for segmentation training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6"/>
          <p:cNvSpPr/>
          <p:nvPr/>
        </p:nvSpPr>
        <p:spPr>
          <a:xfrm>
            <a:off x="4370760" y="1353240"/>
            <a:ext cx="3454920" cy="1991880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7"/>
          <p:cNvSpPr/>
          <p:nvPr/>
        </p:nvSpPr>
        <p:spPr>
          <a:xfrm>
            <a:off x="4370760" y="1353240"/>
            <a:ext cx="62640" cy="1991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8"/>
          <p:cNvSpPr/>
          <p:nvPr/>
        </p:nvSpPr>
        <p:spPr>
          <a:xfrm>
            <a:off x="4553640" y="149040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Training hardware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9"/>
          <p:cNvSpPr/>
          <p:nvPr/>
        </p:nvSpPr>
        <p:spPr>
          <a:xfrm>
            <a:off x="4553640" y="1865520"/>
            <a:ext cx="30891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NVIDIA GPU with CUDA support preferred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8 GB+ VRAM is a practical target for experimentation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Cloud GPU can be used if local hardware is insufficient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Track seeds/configs for reproducibility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0"/>
          <p:cNvSpPr/>
          <p:nvPr/>
        </p:nvSpPr>
        <p:spPr>
          <a:xfrm>
            <a:off x="8083440" y="1353240"/>
            <a:ext cx="3454920" cy="1991880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11"/>
          <p:cNvSpPr/>
          <p:nvPr/>
        </p:nvSpPr>
        <p:spPr>
          <a:xfrm>
            <a:off x="8083440" y="1353240"/>
            <a:ext cx="62640" cy="19918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12"/>
          <p:cNvSpPr/>
          <p:nvPr/>
        </p:nvSpPr>
        <p:spPr>
          <a:xfrm>
            <a:off x="8266320" y="1490400"/>
            <a:ext cx="3089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Software stack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13"/>
          <p:cNvSpPr/>
          <p:nvPr/>
        </p:nvSpPr>
        <p:spPr>
          <a:xfrm>
            <a:off x="8266320" y="1865520"/>
            <a:ext cx="30891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Python + PyTorch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FastAPI + Pydantic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React + TypeScript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PostgreSQL later if persistence is needed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pytest + Ruff + type checking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Git + GitHub + CI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14"/>
          <p:cNvSpPr/>
          <p:nvPr/>
        </p:nvSpPr>
        <p:spPr>
          <a:xfrm>
            <a:off x="694800" y="388620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Why this stack?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15"/>
          <p:cNvSpPr/>
          <p:nvPr/>
        </p:nvSpPr>
        <p:spPr>
          <a:xfrm>
            <a:off x="2057400" y="3822120"/>
            <a:ext cx="9279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f2937"/>
                </a:solidFill>
                <a:latin typeface="Aptos"/>
              </a:rPr>
              <a:t>Python keeps ML and API development close; React/TypeScript supports a polished inspection workflow; testing/linting keeps the research prototype maintainable.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16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Exact GPU memory and training time will depend on the final segmentation backbone, image resolution, and batch size.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1"/>
          <p:cNvSpPr>
            <a:spLocks noGrp="1"/>
          </p:cNvSpPr>
          <p:nvPr>
            <p:ph type="sldNum" idx="12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EBA2BF3C-440E-4761-A30A-BB995D5FB114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8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9. Proposed Timeline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A phased plan reduces research risk by solving the data problem before the most complex model.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"/>
          <p:cNvSpPr/>
          <p:nvPr/>
        </p:nvSpPr>
        <p:spPr>
          <a:xfrm>
            <a:off x="658440" y="1572840"/>
            <a:ext cx="1617120" cy="3198960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786240" y="1828800"/>
            <a:ext cx="1324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4748b"/>
                </a:solidFill>
                <a:latin typeface="Aptos"/>
              </a:rPr>
              <a:t>Phase 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786240" y="2240280"/>
            <a:ext cx="1324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Weeks 1–2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786240" y="2907720"/>
            <a:ext cx="133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1f2937"/>
                </a:solidFill>
                <a:latin typeface="Aptos"/>
              </a:rPr>
              <a:t>Literature + dataset audit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786240" y="3657600"/>
            <a:ext cx="13334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Lock problem, papers, data licenses, labels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7"/>
          <p:cNvSpPr/>
          <p:nvPr/>
        </p:nvSpPr>
        <p:spPr>
          <a:xfrm>
            <a:off x="2505600" y="1572840"/>
            <a:ext cx="1617120" cy="3198960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8"/>
          <p:cNvSpPr/>
          <p:nvPr/>
        </p:nvSpPr>
        <p:spPr>
          <a:xfrm>
            <a:off x="2633400" y="1828800"/>
            <a:ext cx="1324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4748b"/>
                </a:solidFill>
                <a:latin typeface="Aptos"/>
              </a:rPr>
              <a:t>Phase 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9"/>
          <p:cNvSpPr/>
          <p:nvPr/>
        </p:nvSpPr>
        <p:spPr>
          <a:xfrm>
            <a:off x="2633400" y="2240280"/>
            <a:ext cx="1324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Weeks 3–4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10"/>
          <p:cNvSpPr/>
          <p:nvPr/>
        </p:nvSpPr>
        <p:spPr>
          <a:xfrm>
            <a:off x="2633400" y="2907720"/>
            <a:ext cx="133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1f2937"/>
                </a:solidFill>
                <a:latin typeface="Aptos"/>
              </a:rPr>
              <a:t>Segmentation baseline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11"/>
          <p:cNvSpPr/>
          <p:nvPr/>
        </p:nvSpPr>
        <p:spPr>
          <a:xfrm>
            <a:off x="2633400" y="3657600"/>
            <a:ext cx="13334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Prepare data, train/fine-tune, benchmark masks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2"/>
          <p:cNvSpPr/>
          <p:nvPr/>
        </p:nvSpPr>
        <p:spPr>
          <a:xfrm>
            <a:off x="4352400" y="1572840"/>
            <a:ext cx="1617120" cy="3198960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13"/>
          <p:cNvSpPr/>
          <p:nvPr/>
        </p:nvSpPr>
        <p:spPr>
          <a:xfrm>
            <a:off x="4480560" y="1828800"/>
            <a:ext cx="1324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4748b"/>
                </a:solidFill>
                <a:latin typeface="Aptos"/>
              </a:rPr>
              <a:t>Phase 3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4"/>
          <p:cNvSpPr/>
          <p:nvPr/>
        </p:nvSpPr>
        <p:spPr>
          <a:xfrm>
            <a:off x="4480560" y="2240280"/>
            <a:ext cx="1324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Weeks 5–6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5"/>
          <p:cNvSpPr/>
          <p:nvPr/>
        </p:nvSpPr>
        <p:spPr>
          <a:xfrm>
            <a:off x="4480560" y="2907720"/>
            <a:ext cx="133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1f2937"/>
                </a:solidFill>
                <a:latin typeface="Aptos"/>
              </a:rPr>
              <a:t>Feature + metadata pipeline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16"/>
          <p:cNvSpPr/>
          <p:nvPr/>
        </p:nvSpPr>
        <p:spPr>
          <a:xfrm>
            <a:off x="4480560" y="3657600"/>
            <a:ext cx="13334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Damage features, vehicle metadata, data validation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7"/>
          <p:cNvSpPr/>
          <p:nvPr/>
        </p:nvSpPr>
        <p:spPr>
          <a:xfrm>
            <a:off x="6199560" y="1572840"/>
            <a:ext cx="1617120" cy="3198960"/>
          </a:xfrm>
          <a:prstGeom prst="roundRect">
            <a:avLst>
              <a:gd name="adj" fmla="val 2825"/>
            </a:avLst>
          </a:prstGeom>
          <a:solidFill>
            <a:srgbClr val="eff6ff"/>
          </a:solidFill>
          <a:ln w="1905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6327720" y="1828800"/>
            <a:ext cx="1324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Aptos"/>
              </a:rPr>
              <a:t>Phase 4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6327720" y="2240280"/>
            <a:ext cx="1324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Weeks 7–8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20"/>
          <p:cNvSpPr/>
          <p:nvPr/>
        </p:nvSpPr>
        <p:spPr>
          <a:xfrm>
            <a:off x="6327720" y="2907720"/>
            <a:ext cx="133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1f2937"/>
                </a:solidFill>
                <a:latin typeface="Aptos"/>
              </a:rPr>
              <a:t>Multimodal experiments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21"/>
          <p:cNvSpPr/>
          <p:nvPr/>
        </p:nvSpPr>
        <p:spPr>
          <a:xfrm>
            <a:off x="6327720" y="3657600"/>
            <a:ext cx="13334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Simple fusion vs. cross-attention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22"/>
          <p:cNvSpPr/>
          <p:nvPr/>
        </p:nvSpPr>
        <p:spPr>
          <a:xfrm>
            <a:off x="8046720" y="1572840"/>
            <a:ext cx="1617120" cy="3198960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23"/>
          <p:cNvSpPr/>
          <p:nvPr/>
        </p:nvSpPr>
        <p:spPr>
          <a:xfrm>
            <a:off x="8174880" y="1828800"/>
            <a:ext cx="1324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4748b"/>
                </a:solidFill>
                <a:latin typeface="Aptos"/>
              </a:rPr>
              <a:t>Phase 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24"/>
          <p:cNvSpPr/>
          <p:nvPr/>
        </p:nvSpPr>
        <p:spPr>
          <a:xfrm>
            <a:off x="8174880" y="2240280"/>
            <a:ext cx="1324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Weeks 9–10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5"/>
          <p:cNvSpPr/>
          <p:nvPr/>
        </p:nvSpPr>
        <p:spPr>
          <a:xfrm>
            <a:off x="8174880" y="2907720"/>
            <a:ext cx="133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1f2937"/>
                </a:solidFill>
                <a:latin typeface="Aptos"/>
              </a:rPr>
              <a:t>Uncertainty + XAI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26"/>
          <p:cNvSpPr/>
          <p:nvPr/>
        </p:nvSpPr>
        <p:spPr>
          <a:xfrm>
            <a:off x="8174880" y="3657600"/>
            <a:ext cx="13334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Quantile cost intervals, explanations, calibration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7"/>
          <p:cNvSpPr/>
          <p:nvPr/>
        </p:nvSpPr>
        <p:spPr>
          <a:xfrm>
            <a:off x="9893880" y="1572840"/>
            <a:ext cx="1617120" cy="3198960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28"/>
          <p:cNvSpPr/>
          <p:nvPr/>
        </p:nvSpPr>
        <p:spPr>
          <a:xfrm>
            <a:off x="10021680" y="1828800"/>
            <a:ext cx="1324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4748b"/>
                </a:solidFill>
                <a:latin typeface="Aptos"/>
              </a:rPr>
              <a:t>Phase 6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29"/>
          <p:cNvSpPr/>
          <p:nvPr/>
        </p:nvSpPr>
        <p:spPr>
          <a:xfrm>
            <a:off x="10021680" y="2240280"/>
            <a:ext cx="1324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30" spc="-1" strike="noStrike">
                <a:solidFill>
                  <a:srgbClr val="0f172a"/>
                </a:solidFill>
                <a:latin typeface="Aptos"/>
              </a:rPr>
              <a:t>Weeks 11–12</a:t>
            </a:r>
            <a:endParaRPr b="0" lang="en-US" sz="1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30"/>
          <p:cNvSpPr/>
          <p:nvPr/>
        </p:nvSpPr>
        <p:spPr>
          <a:xfrm>
            <a:off x="10021680" y="2907720"/>
            <a:ext cx="133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1f2937"/>
                </a:solidFill>
                <a:latin typeface="Aptos"/>
              </a:rPr>
              <a:t>Evaluation + demo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31"/>
          <p:cNvSpPr/>
          <p:nvPr/>
        </p:nvSpPr>
        <p:spPr>
          <a:xfrm>
            <a:off x="10021680" y="3657600"/>
            <a:ext cx="13334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64748b"/>
                </a:solidFill>
                <a:latin typeface="Aptos"/>
              </a:rPr>
              <a:t>Ablation, robustness, report, presentation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32"/>
          <p:cNvSpPr/>
          <p:nvPr/>
        </p:nvSpPr>
        <p:spPr>
          <a:xfrm>
            <a:off x="713160" y="523044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748b"/>
                </a:solidFill>
                <a:latin typeface="Aptos"/>
              </a:rPr>
              <a:t>Milestone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33"/>
          <p:cNvSpPr/>
          <p:nvPr/>
        </p:nvSpPr>
        <p:spPr>
          <a:xfrm>
            <a:off x="1737360" y="5166360"/>
            <a:ext cx="9416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563eb"/>
                </a:solidFill>
                <a:latin typeface="Aptos"/>
              </a:rPr>
              <a:t>By the end of Phase 2, we have a measurable vision baseline; the remaining work tests whether the added research components improve downstream results.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 type="sldNum" idx="13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B55EF1E3-9F4D-460F-9BB9-3DB00A02AA8A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9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10. Usability / Applications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The output is designed as decision support for real inspection workflows.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658440" y="1325880"/>
            <a:ext cx="5229000" cy="1571400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658440" y="1325880"/>
            <a:ext cx="62640" cy="1571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841320" y="1463040"/>
            <a:ext cx="4863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Insurance triage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841320" y="1837800"/>
            <a:ext cx="486324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Prioritize and pre-fill claims with visible-damage evidence.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6"/>
          <p:cNvSpPr/>
          <p:nvPr/>
        </p:nvSpPr>
        <p:spPr>
          <a:xfrm>
            <a:off x="6217920" y="1325880"/>
            <a:ext cx="5229000" cy="1571400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7"/>
          <p:cNvSpPr/>
          <p:nvPr/>
        </p:nvSpPr>
        <p:spPr>
          <a:xfrm>
            <a:off x="6217920" y="1325880"/>
            <a:ext cx="62640" cy="1571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8"/>
          <p:cNvSpPr/>
          <p:nvPr/>
        </p:nvSpPr>
        <p:spPr>
          <a:xfrm>
            <a:off x="6400800" y="1463040"/>
            <a:ext cx="4863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Repair / service centers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9"/>
          <p:cNvSpPr/>
          <p:nvPr/>
        </p:nvSpPr>
        <p:spPr>
          <a:xfrm>
            <a:off x="6400800" y="1837800"/>
            <a:ext cx="486324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Generate a preliminary repair-action recommendation and cost range.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0"/>
          <p:cNvSpPr/>
          <p:nvPr/>
        </p:nvSpPr>
        <p:spPr>
          <a:xfrm>
            <a:off x="658440" y="3200400"/>
            <a:ext cx="5229000" cy="1571400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1"/>
          <p:cNvSpPr/>
          <p:nvPr/>
        </p:nvSpPr>
        <p:spPr>
          <a:xfrm>
            <a:off x="658440" y="3200400"/>
            <a:ext cx="62640" cy="1571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2"/>
          <p:cNvSpPr/>
          <p:nvPr/>
        </p:nvSpPr>
        <p:spPr>
          <a:xfrm>
            <a:off x="841320" y="3337560"/>
            <a:ext cx="4863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Used-car marketplaces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13"/>
          <p:cNvSpPr/>
          <p:nvPr/>
        </p:nvSpPr>
        <p:spPr>
          <a:xfrm>
            <a:off x="841320" y="3712320"/>
            <a:ext cx="486324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Condition assessment before listing or acquisition.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4"/>
          <p:cNvSpPr/>
          <p:nvPr/>
        </p:nvSpPr>
        <p:spPr>
          <a:xfrm>
            <a:off x="6217920" y="3200400"/>
            <a:ext cx="5229000" cy="1571400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5"/>
          <p:cNvSpPr/>
          <p:nvPr/>
        </p:nvSpPr>
        <p:spPr>
          <a:xfrm>
            <a:off x="6217920" y="3200400"/>
            <a:ext cx="62640" cy="1571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6"/>
          <p:cNvSpPr/>
          <p:nvPr/>
        </p:nvSpPr>
        <p:spPr>
          <a:xfrm>
            <a:off x="6400800" y="3337560"/>
            <a:ext cx="4863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Fleet / rental operations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17"/>
          <p:cNvSpPr/>
          <p:nvPr/>
        </p:nvSpPr>
        <p:spPr>
          <a:xfrm>
            <a:off x="6400800" y="3712320"/>
            <a:ext cx="486324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Standardize check-in/check-out damage evidence.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18"/>
          <p:cNvSpPr/>
          <p:nvPr/>
        </p:nvSpPr>
        <p:spPr>
          <a:xfrm>
            <a:off x="694800" y="5074920"/>
            <a:ext cx="1827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748b"/>
                </a:solidFill>
                <a:latin typeface="Aptos"/>
              </a:rPr>
              <a:t>Illustrative user flow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19"/>
          <p:cNvSpPr/>
          <p:nvPr/>
        </p:nvSpPr>
        <p:spPr>
          <a:xfrm>
            <a:off x="2240280" y="5010840"/>
            <a:ext cx="15073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20"/>
          <p:cNvSpPr/>
          <p:nvPr/>
        </p:nvSpPr>
        <p:spPr>
          <a:xfrm>
            <a:off x="2240280" y="5074920"/>
            <a:ext cx="1507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Upload image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21"/>
          <p:cNvSpPr/>
          <p:nvPr/>
        </p:nvSpPr>
        <p:spPr>
          <a:xfrm>
            <a:off x="3749040" y="5157000"/>
            <a:ext cx="173520" cy="360"/>
          </a:xfrm>
          <a:prstGeom prst="line">
            <a:avLst/>
          </a:prstGeom>
          <a:ln w="1778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22"/>
          <p:cNvSpPr/>
          <p:nvPr/>
        </p:nvSpPr>
        <p:spPr>
          <a:xfrm>
            <a:off x="3950280" y="5010840"/>
            <a:ext cx="15073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23"/>
          <p:cNvSpPr/>
          <p:nvPr/>
        </p:nvSpPr>
        <p:spPr>
          <a:xfrm>
            <a:off x="3950280" y="5074920"/>
            <a:ext cx="1507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Analyze damage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24"/>
          <p:cNvSpPr/>
          <p:nvPr/>
        </p:nvSpPr>
        <p:spPr>
          <a:xfrm>
            <a:off x="5458680" y="5157000"/>
            <a:ext cx="173880" cy="360"/>
          </a:xfrm>
          <a:prstGeom prst="line">
            <a:avLst/>
          </a:prstGeom>
          <a:ln w="1778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25"/>
          <p:cNvSpPr/>
          <p:nvPr/>
        </p:nvSpPr>
        <p:spPr>
          <a:xfrm>
            <a:off x="5660280" y="5010840"/>
            <a:ext cx="15073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26"/>
          <p:cNvSpPr/>
          <p:nvPr/>
        </p:nvSpPr>
        <p:spPr>
          <a:xfrm>
            <a:off x="5660280" y="5074920"/>
            <a:ext cx="1507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Review explanation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27"/>
          <p:cNvSpPr/>
          <p:nvPr/>
        </p:nvSpPr>
        <p:spPr>
          <a:xfrm>
            <a:off x="7168680" y="5157000"/>
            <a:ext cx="173880" cy="360"/>
          </a:xfrm>
          <a:prstGeom prst="line">
            <a:avLst/>
          </a:prstGeom>
          <a:ln w="1778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28"/>
          <p:cNvSpPr/>
          <p:nvPr/>
        </p:nvSpPr>
        <p:spPr>
          <a:xfrm>
            <a:off x="7369920" y="5010840"/>
            <a:ext cx="1507320" cy="309600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2700">
            <a:solidFill>
              <a:srgbClr val="f1f5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29"/>
          <p:cNvSpPr/>
          <p:nvPr/>
        </p:nvSpPr>
        <p:spPr>
          <a:xfrm>
            <a:off x="7369920" y="5074920"/>
            <a:ext cx="1507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f2937"/>
                </a:solidFill>
                <a:latin typeface="Aptos"/>
              </a:rPr>
              <a:t>See cost range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0"/>
          <p:cNvSpPr/>
          <p:nvPr/>
        </p:nvSpPr>
        <p:spPr>
          <a:xfrm>
            <a:off x="8878680" y="5157000"/>
            <a:ext cx="173880" cy="360"/>
          </a:xfrm>
          <a:prstGeom prst="line">
            <a:avLst/>
          </a:prstGeom>
          <a:ln w="1778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31"/>
          <p:cNvSpPr/>
          <p:nvPr/>
        </p:nvSpPr>
        <p:spPr>
          <a:xfrm>
            <a:off x="9079920" y="5010840"/>
            <a:ext cx="1507320" cy="309600"/>
          </a:xfrm>
          <a:prstGeom prst="roundRect">
            <a:avLst>
              <a:gd name="adj" fmla="val 23529"/>
            </a:avLst>
          </a:prstGeom>
          <a:solidFill>
            <a:srgbClr val="dcfce7"/>
          </a:solidFill>
          <a:ln w="12700">
            <a:solidFill>
              <a:srgbClr val="dcfc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32"/>
          <p:cNvSpPr/>
          <p:nvPr/>
        </p:nvSpPr>
        <p:spPr>
          <a:xfrm>
            <a:off x="9079920" y="5074920"/>
            <a:ext cx="1507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30" spc="-1" strike="noStrike">
                <a:solidFill>
                  <a:srgbClr val="166534"/>
                </a:solidFill>
                <a:latin typeface="Aptos"/>
              </a:rPr>
              <a:t>Export report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3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80" spc="-1" strike="noStrike">
                <a:solidFill>
                  <a:srgbClr val="64748b"/>
                </a:solidFill>
                <a:latin typeface="Aptos"/>
              </a:rPr>
              <a:t>The system should remain a preliminary assessment tool until validated against real-world repair outcomes and expert inspection.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 type="sldNum" idx="14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4C0B3649-FCA6-4457-AA01-7AFE3DFA2EFE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10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11. Expected Demo / User Experience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2"/>
          <p:cNvSpPr/>
          <p:nvPr/>
        </p:nvSpPr>
        <p:spPr>
          <a:xfrm>
            <a:off x="658440" y="1298520"/>
            <a:ext cx="3427560" cy="347328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658440" y="1298520"/>
            <a:ext cx="62640" cy="3473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4"/>
          <p:cNvSpPr/>
          <p:nvPr/>
        </p:nvSpPr>
        <p:spPr>
          <a:xfrm>
            <a:off x="841320" y="1435680"/>
            <a:ext cx="3061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Upload &amp; Inspect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841320" y="1810440"/>
            <a:ext cx="3061800" cy="28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Large image upload area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Detected vehicle parts and damage masks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Confidence and image-quality warnings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No clutter or unnecessary controls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6"/>
          <p:cNvSpPr/>
          <p:nvPr/>
        </p:nvSpPr>
        <p:spPr>
          <a:xfrm>
            <a:off x="4380120" y="1298520"/>
            <a:ext cx="3427560" cy="347328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7"/>
          <p:cNvSpPr/>
          <p:nvPr/>
        </p:nvSpPr>
        <p:spPr>
          <a:xfrm>
            <a:off x="4380120" y="1298520"/>
            <a:ext cx="62640" cy="3473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8"/>
          <p:cNvSpPr/>
          <p:nvPr/>
        </p:nvSpPr>
        <p:spPr>
          <a:xfrm>
            <a:off x="4563000" y="1435680"/>
            <a:ext cx="3061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Analyze &amp; Explain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9"/>
          <p:cNvSpPr/>
          <p:nvPr/>
        </p:nvSpPr>
        <p:spPr>
          <a:xfrm>
            <a:off x="4563000" y="1810440"/>
            <a:ext cx="3061800" cy="28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Damage type + location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Normalized area ratio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Repair vs. replace recommendation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Visual explanation tied to the model output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0"/>
          <p:cNvSpPr/>
          <p:nvPr/>
        </p:nvSpPr>
        <p:spPr>
          <a:xfrm>
            <a:off x="8101440" y="1298520"/>
            <a:ext cx="3427560" cy="347328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1"/>
          <p:cNvSpPr/>
          <p:nvPr/>
        </p:nvSpPr>
        <p:spPr>
          <a:xfrm>
            <a:off x="8101440" y="1298520"/>
            <a:ext cx="62640" cy="34732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12"/>
          <p:cNvSpPr/>
          <p:nvPr/>
        </p:nvSpPr>
        <p:spPr>
          <a:xfrm>
            <a:off x="8284320" y="1435680"/>
            <a:ext cx="3061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Estimate &amp; Report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13"/>
          <p:cNvSpPr/>
          <p:nvPr/>
        </p:nvSpPr>
        <p:spPr>
          <a:xfrm>
            <a:off x="8284320" y="1810440"/>
            <a:ext cx="3061800" cy="28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Lower / median / upper cost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Uncertainty indicator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Vehicle metadata used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Exportable inspection summary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14"/>
          <p:cNvSpPr/>
          <p:nvPr/>
        </p:nvSpPr>
        <p:spPr>
          <a:xfrm>
            <a:off x="694800" y="5139000"/>
            <a:ext cx="1461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748b"/>
                </a:solidFill>
                <a:latin typeface="Aptos"/>
              </a:rPr>
              <a:t>Design principle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15"/>
          <p:cNvSpPr/>
          <p:nvPr/>
        </p:nvSpPr>
        <p:spPr>
          <a:xfrm>
            <a:off x="1965960" y="5074920"/>
            <a:ext cx="6216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563eb"/>
                </a:solidFill>
                <a:latin typeface="Aptos"/>
              </a:rPr>
              <a:t>“</a:t>
            </a:r>
            <a:r>
              <a:rPr b="1" lang="en-US" sz="1700" spc="-1" strike="noStrike">
                <a:solidFill>
                  <a:srgbClr val="2563eb"/>
                </a:solidFill>
                <a:latin typeface="Aptos"/>
              </a:rPr>
              <a:t>Explain the result, don’t just display the result.”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1"/>
          <p:cNvSpPr>
            <a:spLocks noGrp="1"/>
          </p:cNvSpPr>
          <p:nvPr>
            <p:ph type="sldNum" idx="15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CD86D0D1-3551-4CA3-A9F4-098ABA3260FD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11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12. Expected Research Contribution &amp; Evaluation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"/>
          <p:cNvSpPr/>
          <p:nvPr/>
        </p:nvSpPr>
        <p:spPr>
          <a:xfrm>
            <a:off x="658440" y="1316880"/>
            <a:ext cx="3445920" cy="1662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658440" y="1316880"/>
            <a:ext cx="62640" cy="1662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841320" y="1454040"/>
            <a:ext cx="3080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Contribution 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841320" y="1828800"/>
            <a:ext cx="308016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Segmentation-derived damage representation that captures type, location, confidence and normalized area ratio.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6"/>
          <p:cNvSpPr/>
          <p:nvPr/>
        </p:nvSpPr>
        <p:spPr>
          <a:xfrm>
            <a:off x="4370760" y="1316880"/>
            <a:ext cx="3445920" cy="1662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7"/>
          <p:cNvSpPr/>
          <p:nvPr/>
        </p:nvSpPr>
        <p:spPr>
          <a:xfrm>
            <a:off x="4370760" y="1316880"/>
            <a:ext cx="62640" cy="1662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4553640" y="1454040"/>
            <a:ext cx="3080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Contribution 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9"/>
          <p:cNvSpPr/>
          <p:nvPr/>
        </p:nvSpPr>
        <p:spPr>
          <a:xfrm>
            <a:off x="4553640" y="1828800"/>
            <a:ext cx="308016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Controlled comparison of vision-only, simple multimodal fusion, and advanced multimodal fusion.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0"/>
          <p:cNvSpPr/>
          <p:nvPr/>
        </p:nvSpPr>
        <p:spPr>
          <a:xfrm>
            <a:off x="8083440" y="1316880"/>
            <a:ext cx="3445920" cy="1662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2600" dir="2700000" dist="49893" kx="0" ky="0" rotWithShape="0" sx="100000" sy="100000">
              <a:srgbClr val="cbd5e1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1"/>
          <p:cNvSpPr/>
          <p:nvPr/>
        </p:nvSpPr>
        <p:spPr>
          <a:xfrm>
            <a:off x="8083440" y="1316880"/>
            <a:ext cx="62640" cy="16628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12"/>
          <p:cNvSpPr/>
          <p:nvPr/>
        </p:nvSpPr>
        <p:spPr>
          <a:xfrm>
            <a:off x="8266320" y="1454040"/>
            <a:ext cx="3080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72a"/>
                </a:solidFill>
                <a:latin typeface="Aptos"/>
              </a:rPr>
              <a:t>Contribution 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13"/>
          <p:cNvSpPr/>
          <p:nvPr/>
        </p:nvSpPr>
        <p:spPr>
          <a:xfrm>
            <a:off x="8266320" y="1828800"/>
            <a:ext cx="308016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Aptos"/>
              </a:rPr>
              <a:t>Uncertainty-aware repair-cost intervals evaluated for coverage and sharpness rather than only point accuracy.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14"/>
          <p:cNvSpPr/>
          <p:nvPr/>
        </p:nvSpPr>
        <p:spPr>
          <a:xfrm>
            <a:off x="694800" y="3401640"/>
            <a:ext cx="2376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00" strike="noStrike">
                <a:solidFill>
                  <a:srgbClr val="64748b"/>
                </a:solidFill>
                <a:latin typeface="Aptos"/>
              </a:rPr>
              <a:t>EVALUATION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15"/>
          <p:cNvSpPr/>
          <p:nvPr/>
        </p:nvSpPr>
        <p:spPr>
          <a:xfrm>
            <a:off x="694800" y="3730680"/>
            <a:ext cx="3336120" cy="7484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 16"/>
          <p:cNvSpPr/>
          <p:nvPr/>
        </p:nvSpPr>
        <p:spPr>
          <a:xfrm>
            <a:off x="841320" y="3886200"/>
            <a:ext cx="114156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Aptos"/>
              </a:rPr>
              <a:t>Segmentation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17"/>
          <p:cNvSpPr/>
          <p:nvPr/>
        </p:nvSpPr>
        <p:spPr>
          <a:xfrm>
            <a:off x="2020680" y="3858840"/>
            <a:ext cx="1827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</a:rPr>
              <a:t>Mask mAP / IoU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8"/>
          <p:cNvSpPr/>
          <p:nvPr/>
        </p:nvSpPr>
        <p:spPr>
          <a:xfrm>
            <a:off x="4425840" y="3730680"/>
            <a:ext cx="3336120" cy="7484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19"/>
          <p:cNvSpPr/>
          <p:nvPr/>
        </p:nvSpPr>
        <p:spPr>
          <a:xfrm>
            <a:off x="4572000" y="3886200"/>
            <a:ext cx="114156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Aptos"/>
              </a:rPr>
              <a:t>Repair action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20"/>
          <p:cNvSpPr/>
          <p:nvPr/>
        </p:nvSpPr>
        <p:spPr>
          <a:xfrm>
            <a:off x="5751720" y="3858840"/>
            <a:ext cx="1827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</a:rPr>
              <a:t>Macro F1 / confusion matrix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1"/>
          <p:cNvSpPr/>
          <p:nvPr/>
        </p:nvSpPr>
        <p:spPr>
          <a:xfrm>
            <a:off x="8156520" y="3730680"/>
            <a:ext cx="3336120" cy="7484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22"/>
          <p:cNvSpPr/>
          <p:nvPr/>
        </p:nvSpPr>
        <p:spPr>
          <a:xfrm>
            <a:off x="8302680" y="3886200"/>
            <a:ext cx="114156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Aptos"/>
              </a:rPr>
              <a:t>Cost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23"/>
          <p:cNvSpPr/>
          <p:nvPr/>
        </p:nvSpPr>
        <p:spPr>
          <a:xfrm>
            <a:off x="9482400" y="3858840"/>
            <a:ext cx="1827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</a:rPr>
              <a:t>MAE / MAPE / R²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4"/>
          <p:cNvSpPr/>
          <p:nvPr/>
        </p:nvSpPr>
        <p:spPr>
          <a:xfrm>
            <a:off x="694800" y="4718160"/>
            <a:ext cx="3336120" cy="7484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25"/>
          <p:cNvSpPr/>
          <p:nvPr/>
        </p:nvSpPr>
        <p:spPr>
          <a:xfrm>
            <a:off x="841320" y="4873680"/>
            <a:ext cx="114156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Aptos"/>
              </a:rPr>
              <a:t>Intervals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26"/>
          <p:cNvSpPr/>
          <p:nvPr/>
        </p:nvSpPr>
        <p:spPr>
          <a:xfrm>
            <a:off x="2020680" y="4846320"/>
            <a:ext cx="1827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</a:rPr>
              <a:t>Coverage + width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27"/>
          <p:cNvSpPr/>
          <p:nvPr/>
        </p:nvSpPr>
        <p:spPr>
          <a:xfrm>
            <a:off x="4425840" y="4718160"/>
            <a:ext cx="3336120" cy="7484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28"/>
          <p:cNvSpPr/>
          <p:nvPr/>
        </p:nvSpPr>
        <p:spPr>
          <a:xfrm>
            <a:off x="4572000" y="4873680"/>
            <a:ext cx="114156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Aptos"/>
              </a:rPr>
              <a:t>Robustness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29"/>
          <p:cNvSpPr/>
          <p:nvPr/>
        </p:nvSpPr>
        <p:spPr>
          <a:xfrm>
            <a:off x="5751720" y="4846320"/>
            <a:ext cx="1827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</a:rPr>
              <a:t>Viewpoint / model / quality splits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30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sldNum" idx="16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2269908E-C06D-4FE2-AD60-70EE7BA80DAB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13. Contribution of Each Member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20" spc="-1" strike="noStrike">
                <a:solidFill>
                  <a:srgbClr val="64748b"/>
                </a:solidFill>
                <a:latin typeface="Aptos"/>
              </a:rPr>
              <a:t>Proposed role split; final responsibilities can be adjusted after the team confirms preferences.</a:t>
            </a:r>
            <a:endParaRPr b="0" lang="en-US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658440" y="1261800"/>
            <a:ext cx="10834200" cy="71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3"/>
          <p:cNvSpPr/>
          <p:nvPr/>
        </p:nvSpPr>
        <p:spPr>
          <a:xfrm>
            <a:off x="859680" y="1435680"/>
            <a:ext cx="1827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f172a"/>
                </a:solidFill>
                <a:latin typeface="Aptos"/>
              </a:rPr>
              <a:t>Janvie Verma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4"/>
          <p:cNvSpPr/>
          <p:nvPr/>
        </p:nvSpPr>
        <p:spPr>
          <a:xfrm>
            <a:off x="2724840" y="1435680"/>
            <a:ext cx="1297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                  </a:t>
            </a: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23BAI10307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4187880" y="1398960"/>
            <a:ext cx="15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563eb"/>
                </a:solidFill>
                <a:latin typeface="Aptos"/>
              </a:rPr>
              <a:t>Dataset + literature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5870520" y="1371600"/>
            <a:ext cx="50734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f2937"/>
                </a:solidFill>
                <a:latin typeface="Aptos"/>
              </a:rPr>
              <a:t>Dataset curation, annotation protocol, literature matrix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7"/>
          <p:cNvSpPr/>
          <p:nvPr/>
        </p:nvSpPr>
        <p:spPr>
          <a:xfrm>
            <a:off x="658440" y="2157840"/>
            <a:ext cx="10834200" cy="711720"/>
          </a:xfrm>
          <a:prstGeom prst="roundRect">
            <a:avLst>
              <a:gd name="adj" fmla="val 5128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859680" y="2331720"/>
            <a:ext cx="1827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f172a"/>
                </a:solidFill>
                <a:latin typeface="Aptos"/>
              </a:rPr>
              <a:t>Kislay Anand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2724840" y="2331720"/>
            <a:ext cx="1297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                  </a:t>
            </a: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23BAI10359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4187880" y="2295000"/>
            <a:ext cx="15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563eb"/>
                </a:solidFill>
                <a:latin typeface="Aptos"/>
              </a:rPr>
              <a:t>ML / research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11"/>
          <p:cNvSpPr/>
          <p:nvPr/>
        </p:nvSpPr>
        <p:spPr>
          <a:xfrm>
            <a:off x="5870520" y="2267640"/>
            <a:ext cx="50734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f2937"/>
                </a:solidFill>
                <a:latin typeface="Aptos"/>
              </a:rPr>
              <a:t>Segmentation training, feature extraction, experiments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2"/>
          <p:cNvSpPr/>
          <p:nvPr/>
        </p:nvSpPr>
        <p:spPr>
          <a:xfrm>
            <a:off x="658440" y="3054240"/>
            <a:ext cx="10834200" cy="71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13"/>
          <p:cNvSpPr/>
          <p:nvPr/>
        </p:nvSpPr>
        <p:spPr>
          <a:xfrm>
            <a:off x="859680" y="3227760"/>
            <a:ext cx="1827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f172a"/>
                </a:solidFill>
                <a:latin typeface="Aptos"/>
              </a:rPr>
              <a:t>Chandrakant Anil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14"/>
          <p:cNvSpPr/>
          <p:nvPr/>
        </p:nvSpPr>
        <p:spPr>
          <a:xfrm>
            <a:off x="2724840" y="3227760"/>
            <a:ext cx="1297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                  </a:t>
            </a: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23BAI11269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15"/>
          <p:cNvSpPr/>
          <p:nvPr/>
        </p:nvSpPr>
        <p:spPr>
          <a:xfrm>
            <a:off x="4187880" y="3191400"/>
            <a:ext cx="15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563eb"/>
                </a:solidFill>
                <a:latin typeface="Aptos"/>
              </a:rPr>
              <a:t>Backend / integration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16"/>
          <p:cNvSpPr/>
          <p:nvPr/>
        </p:nvSpPr>
        <p:spPr>
          <a:xfrm>
            <a:off x="5870520" y="3163680"/>
            <a:ext cx="50734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f2937"/>
                </a:solidFill>
                <a:latin typeface="Aptos"/>
              </a:rPr>
              <a:t>FastAPI integration, inference orchestration, report API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7"/>
          <p:cNvSpPr/>
          <p:nvPr/>
        </p:nvSpPr>
        <p:spPr>
          <a:xfrm>
            <a:off x="658440" y="3950280"/>
            <a:ext cx="10834200" cy="711720"/>
          </a:xfrm>
          <a:prstGeom prst="roundRect">
            <a:avLst>
              <a:gd name="adj" fmla="val 5128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18"/>
          <p:cNvSpPr/>
          <p:nvPr/>
        </p:nvSpPr>
        <p:spPr>
          <a:xfrm>
            <a:off x="859680" y="4123800"/>
            <a:ext cx="2339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f172a"/>
                </a:solidFill>
                <a:latin typeface="Aptos"/>
              </a:rPr>
              <a:t>Parikshid Arya Poornachandra 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19"/>
          <p:cNvSpPr/>
          <p:nvPr/>
        </p:nvSpPr>
        <p:spPr>
          <a:xfrm>
            <a:off x="2724840" y="4123800"/>
            <a:ext cx="1297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                  </a:t>
            </a: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23BAI10656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20"/>
          <p:cNvSpPr/>
          <p:nvPr/>
        </p:nvSpPr>
        <p:spPr>
          <a:xfrm>
            <a:off x="4187880" y="4087440"/>
            <a:ext cx="15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563eb"/>
                </a:solidFill>
                <a:latin typeface="Aptos"/>
              </a:rPr>
              <a:t>Frontend / UX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21"/>
          <p:cNvSpPr/>
          <p:nvPr/>
        </p:nvSpPr>
        <p:spPr>
          <a:xfrm>
            <a:off x="5870520" y="4060080"/>
            <a:ext cx="50734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f2937"/>
                </a:solidFill>
                <a:latin typeface="Aptos"/>
              </a:rPr>
              <a:t>Inspection workflow, visualization, responsive UI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22"/>
          <p:cNvSpPr/>
          <p:nvPr/>
        </p:nvSpPr>
        <p:spPr>
          <a:xfrm>
            <a:off x="658440" y="4846320"/>
            <a:ext cx="10834200" cy="71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23"/>
          <p:cNvSpPr/>
          <p:nvPr/>
        </p:nvSpPr>
        <p:spPr>
          <a:xfrm>
            <a:off x="859680" y="5020200"/>
            <a:ext cx="1827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f172a"/>
                </a:solidFill>
                <a:latin typeface="Aptos"/>
              </a:rPr>
              <a:t>Arya Khullar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24"/>
          <p:cNvSpPr/>
          <p:nvPr/>
        </p:nvSpPr>
        <p:spPr>
          <a:xfrm>
            <a:off x="2724840" y="5020200"/>
            <a:ext cx="1297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                  </a:t>
            </a:r>
            <a:r>
              <a:rPr b="0" lang="en-US" sz="980" spc="-1" strike="noStrike">
                <a:solidFill>
                  <a:srgbClr val="64748b"/>
                </a:solidFill>
                <a:latin typeface="Aptos"/>
              </a:rPr>
              <a:t>23BAI11198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25"/>
          <p:cNvSpPr/>
          <p:nvPr/>
        </p:nvSpPr>
        <p:spPr>
          <a:xfrm>
            <a:off x="4187880" y="4983480"/>
            <a:ext cx="15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563eb"/>
                </a:solidFill>
                <a:latin typeface="Aptos"/>
              </a:rPr>
              <a:t>Evaluation / documentation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26"/>
          <p:cNvSpPr/>
          <p:nvPr/>
        </p:nvSpPr>
        <p:spPr>
          <a:xfrm>
            <a:off x="5870520" y="4956120"/>
            <a:ext cx="50734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f2937"/>
                </a:solidFill>
                <a:latin typeface="Aptos"/>
              </a:rPr>
              <a:t>Metrics, ablation tables, testing, paper/presentation support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27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1"/>
          <p:cNvSpPr>
            <a:spLocks noGrp="1"/>
          </p:cNvSpPr>
          <p:nvPr>
            <p:ph type="sldNum" idx="17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3C447ACE-2423-400A-B4C8-304B49D0ABC1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594360" y="420480"/>
            <a:ext cx="10879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f172a"/>
                </a:solidFill>
                <a:latin typeface="Aptos Display"/>
                <a:ea typeface="Aptos Display"/>
              </a:rPr>
              <a:t>14. References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612720" y="914400"/>
            <a:ext cx="106056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 2"/>
          <p:cNvSpPr/>
          <p:nvPr/>
        </p:nvSpPr>
        <p:spPr>
          <a:xfrm>
            <a:off x="713160" y="126180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1"/>
              </a:rPr>
              <a:t>1. Wang, X., Li, W., Wu, Z. “CarDD: A New Dataset for Vision-Based Car Damage Detection.” IEEE T-ITS, 2023. DOI: 10.1109/TITS.2023.3258480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3"/>
          <p:cNvSpPr/>
          <p:nvPr/>
        </p:nvSpPr>
        <p:spPr>
          <a:xfrm>
            <a:off x="713160" y="187452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2"/>
              </a:rPr>
              <a:t>2. Patil, K., Kulkarni, M., Sriraman, A., Karande, S. “Deep Learning Based Car Damage Classification.” IEEE ICMLA, 2017. DOI: 10.1109/ICMLA.2017.0-179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4"/>
          <p:cNvSpPr/>
          <p:nvPr/>
        </p:nvSpPr>
        <p:spPr>
          <a:xfrm>
            <a:off x="713160" y="248724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3"/>
              </a:rPr>
              <a:t>3. Weerasinghe, R.H., Vidanage, K. “Image Processing Based Severity and Cost Prediction of Damages in the Vehicle Body.” IEEE NITC, 2017. DOI: 10.1109/NITC.2017.8285649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5"/>
          <p:cNvSpPr/>
          <p:nvPr/>
        </p:nvSpPr>
        <p:spPr>
          <a:xfrm>
            <a:off x="713160" y="309996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4"/>
              </a:rPr>
              <a:t>4. Qaddour, J., Siddiqa, S.A. “Automatic damaged vehicle estimator using enhanced deep learning algorithm.” Intelligent Systems with Applications, 2023, 18, 200192. DOI: 10.1016/j.iswa.2023.200192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713160" y="371232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5"/>
              </a:rPr>
              <a:t>5. Venkatesh, M. et al. “Vehicle Damage Detection Using Machine Learning and Segmentation to Aid Insurance Claims.” IEEE INDICON, 2023. DOI: 10.1109/INDICON59947.2023.10440856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7"/>
          <p:cNvSpPr/>
          <p:nvPr/>
        </p:nvSpPr>
        <p:spPr>
          <a:xfrm>
            <a:off x="713160" y="432504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6"/>
              </a:rPr>
              <a:t>6. “Automated Car Damage Assessment Using Computer Vision: Insurance Company Use Case.” Applied Sciences, 2024, 14(20), 9560. https://www.mdpi.com/2076-3417/14/20/9560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713160" y="493776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7"/>
              </a:rPr>
              <a:t>7. Huynh et al. “Powering AI-driven car damage identification based on VeHIDE dataset.” 2024. DOI: 10.1080/24751839.2024.2367387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9"/>
          <p:cNvSpPr/>
          <p:nvPr/>
        </p:nvSpPr>
        <p:spPr>
          <a:xfrm>
            <a:off x="713160" y="5550480"/>
            <a:ext cx="10651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 u="sng">
                <a:solidFill>
                  <a:srgbClr val="0563c1"/>
                </a:solidFill>
                <a:uFillTx/>
                <a:latin typeface="Aptos"/>
                <a:hlinkClick r:id="rId8"/>
              </a:rPr>
              <a:t>8. Hasan, M.J. et al. “Vehicle Damage Detection Using Artificial Intelligence: A Systematic Literature Review.” WIREs Data Mining &amp; Knowledge Discovery, 2025, 15:e70027. DOI: 10.1002/widm.70027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10"/>
          <p:cNvSpPr/>
          <p:nvPr/>
        </p:nvSpPr>
        <p:spPr>
          <a:xfrm>
            <a:off x="612720" y="6126480"/>
            <a:ext cx="10788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1"/>
          <p:cNvSpPr>
            <a:spLocks noGrp="1"/>
          </p:cNvSpPr>
          <p:nvPr>
            <p:ph type="sldNum" idx="18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B6DF04F1-763B-4F91-A478-DF1DDDA10788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TextBox 376"/>
          <p:cNvSpPr/>
          <p:nvPr/>
        </p:nvSpPr>
        <p:spPr>
          <a:xfrm>
            <a:off x="3377160" y="6263640"/>
            <a:ext cx="540612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0"/>
          <p:cNvSpPr/>
          <p:nvPr/>
        </p:nvSpPr>
        <p:spPr>
          <a:xfrm>
            <a:off x="713160" y="713160"/>
            <a:ext cx="4113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9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AutoInspect-X</a:t>
            </a:r>
            <a:endParaRPr b="0" lang="en-US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713160" y="148140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Aptos"/>
              </a:rPr>
              <a:t>A grounded capstone with a clear research question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Shape 2"/>
          <p:cNvSpPr/>
          <p:nvPr/>
        </p:nvSpPr>
        <p:spPr>
          <a:xfrm>
            <a:off x="777240" y="2395800"/>
            <a:ext cx="126720" cy="12672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3"/>
          <p:cNvSpPr/>
          <p:nvPr/>
        </p:nvSpPr>
        <p:spPr>
          <a:xfrm>
            <a:off x="1005840" y="2322720"/>
            <a:ext cx="8959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cbd5e1"/>
                </a:solidFill>
                <a:latin typeface="Aptos"/>
              </a:rPr>
              <a:t>Problem: automated inspection needs more than visible-damage detection.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Shape 4"/>
          <p:cNvSpPr/>
          <p:nvPr/>
        </p:nvSpPr>
        <p:spPr>
          <a:xfrm>
            <a:off x="777240" y="2999160"/>
            <a:ext cx="126720" cy="12672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5"/>
          <p:cNvSpPr/>
          <p:nvPr/>
        </p:nvSpPr>
        <p:spPr>
          <a:xfrm>
            <a:off x="1005840" y="2926080"/>
            <a:ext cx="8959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cbd5e1"/>
                </a:solidFill>
                <a:latin typeface="Aptos"/>
              </a:rPr>
              <a:t>Approach: segmentation + vehicle metadata + multimodal fusion.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777240" y="3602880"/>
            <a:ext cx="126720" cy="12672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7"/>
          <p:cNvSpPr/>
          <p:nvPr/>
        </p:nvSpPr>
        <p:spPr>
          <a:xfrm>
            <a:off x="1005840" y="3529440"/>
            <a:ext cx="8959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cbd5e1"/>
                </a:solidFill>
                <a:latin typeface="Aptos"/>
              </a:rPr>
              <a:t>Research: compare baselines and test uncertainty-aware cost estimation.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Shape 8"/>
          <p:cNvSpPr/>
          <p:nvPr/>
        </p:nvSpPr>
        <p:spPr>
          <a:xfrm>
            <a:off x="777240" y="4206240"/>
            <a:ext cx="126720" cy="12672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9"/>
          <p:cNvSpPr/>
          <p:nvPr/>
        </p:nvSpPr>
        <p:spPr>
          <a:xfrm>
            <a:off x="1005840" y="4133160"/>
            <a:ext cx="8959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cbd5e1"/>
                </a:solidFill>
                <a:latin typeface="Aptos"/>
              </a:rPr>
              <a:t>Application: insurance triage, repair/service, used-car, fleet workflows.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777240" y="4809600"/>
            <a:ext cx="126720" cy="12672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 11"/>
          <p:cNvSpPr/>
          <p:nvPr/>
        </p:nvSpPr>
        <p:spPr>
          <a:xfrm>
            <a:off x="1005840" y="4736520"/>
            <a:ext cx="8959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cbd5e1"/>
                </a:solidFill>
                <a:latin typeface="Aptos"/>
              </a:rPr>
              <a:t>Boundary: validate against real downstream labels; keep claims conservative.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 12"/>
          <p:cNvSpPr/>
          <p:nvPr/>
        </p:nvSpPr>
        <p:spPr>
          <a:xfrm>
            <a:off x="749880" y="5779080"/>
            <a:ext cx="2010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67e8f9"/>
                </a:solidFill>
                <a:latin typeface="Aptos"/>
              </a:rPr>
              <a:t>THANK YOU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13"/>
          <p:cNvSpPr/>
          <p:nvPr/>
        </p:nvSpPr>
        <p:spPr>
          <a:xfrm>
            <a:off x="8183880" y="5715000"/>
            <a:ext cx="27417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PlaceHolder 1"/>
          <p:cNvSpPr>
            <a:spLocks noGrp="1"/>
          </p:cNvSpPr>
          <p:nvPr>
            <p:ph type="sldNum" idx="19"/>
          </p:nvPr>
        </p:nvSpPr>
        <p:spPr>
          <a:xfrm>
            <a:off x="11731680" y="6492240"/>
            <a:ext cx="798480" cy="29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64748b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ABE60168-D395-4C7E-94B6-E3C896ABCD27}" type="slidenum">
              <a:rPr b="0" lang="en-US" sz="850" spc="-1" strike="noStrike">
                <a:solidFill>
                  <a:srgbClr val="64748b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LibreOffice/24.2.7.2$Linux_X86_64 LibreOffice_project/420$Build-2</Application>
  <AppVersion>15.0000</AppVersion>
  <Words>0</Words>
  <Paragraphs>0</Paragraphs>
  <Company>AutoInspect-X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2026-09-07T09:11:03Z</dcterms:created>
  <dc:creator>AutoInspect-X Team</dc:creator>
  <dc:description/>
  <dc:language>en-US</dc:language>
  <cp:lastModifiedBy/>
  <dcterms:modified xsi:type="dcterms:W3CDTF">2026-09-07T20:39:51Z</dcterms:modified>
  <cp:revision>6</cp:revision>
  <dc:subject>Capstone project proposal</dc:subject>
  <dc:title>AutoInspect-X — Capstone Project Proposal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