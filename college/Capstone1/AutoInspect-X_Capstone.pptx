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17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0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dt" idx="2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ftr" idx="3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6"/>
          <p:cNvSpPr>
            <a:spLocks noGrp="1"/>
          </p:cNvSpPr>
          <p:nvPr>
            <p:ph type="sldNum" idx="4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9F9D3E90-E47A-4637-97F7-F00560508F01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2B28AEB-6333-43A6-A41F-4A6A884CBC0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8B1AF5D-4730-449A-9F24-49C75F7CDDC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5C8B8FB-54C0-429E-82FC-12A1669D9AF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28C1338-77DC-4208-A1E4-96240B3E3738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B90FD49-E620-4F2E-A5A1-A4FB1C51C8E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8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2C53F9C-E57C-4F0A-B1CD-FDF1EF9AA59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1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77AD393-34AD-4C2F-A819-40D8340B81D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4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266CC84-2186-4EB4-8043-1FDA454BE09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7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4212325-588D-4D20-A62E-24F204BCB66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0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8F3C1FF-913A-40CD-A289-E2179654385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A213DDB-F2FB-4DC4-B311-88FB45237D4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D49BEAE-AB38-420F-8EB4-D240BB776C0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8BDFEE8-1A87-4819-A6D5-1FDFB622AD9A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97522A7-2BE1-4BE3-A9FE-9D5BA94834B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5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865E47F-70FC-4803-8BAE-A3BCAEE3CDA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C0CECBE-E9F0-447B-9C4A-6C7DAD8CE9D6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7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320" cy="3599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70720" cy="45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2559B65-CE8B-49F5-83C9-C9315B1FFAC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24D52B40-2DF8-4F57-AB3C-AD7FF100C0CB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0680" cy="72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" name="Shape 1"/>
          <p:cNvSpPr/>
          <p:nvPr/>
        </p:nvSpPr>
        <p:spPr>
          <a:xfrm>
            <a:off x="548640" y="6565320"/>
            <a:ext cx="11064240" cy="360"/>
          </a:xfrm>
          <a:prstGeom prst="line">
            <a:avLst/>
          </a:prstGeom>
          <a:ln w="889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Text 2"/>
          <p:cNvSpPr/>
          <p:nvPr/>
        </p:nvSpPr>
        <p:spPr>
          <a:xfrm>
            <a:off x="567000" y="6602040"/>
            <a:ext cx="201060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7b8494"/>
                </a:solidFill>
                <a:latin typeface="Aptos"/>
                <a:ea typeface="Aptos"/>
              </a:rPr>
              <a:t>AutoInspect-X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Text 3"/>
          <p:cNvSpPr/>
          <p:nvPr/>
        </p:nvSpPr>
        <p:spPr>
          <a:xfrm>
            <a:off x="4663440" y="6602040"/>
            <a:ext cx="292500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7b8494"/>
                </a:solidFill>
                <a:latin typeface="Aptos"/>
                <a:ea typeface="Aptos"/>
              </a:rPr>
              <a:t>Capstone Project • Fall 2026–27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1"/>
          <p:cNvSpPr>
            <a:spLocks noGrp="1"/>
          </p:cNvSpPr>
          <p:nvPr>
            <p:ph type="sldNum" idx="1"/>
          </p:nvPr>
        </p:nvSpPr>
        <p:spPr>
          <a:xfrm>
            <a:off x="11292840" y="6574680"/>
            <a:ext cx="798840" cy="29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7b8494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F35AE902-37F7-4270-B9F5-2D4E789B55D4}" type="slidenum">
              <a:rPr b="0" lang="en-US" sz="850" spc="-1" strike="noStrike">
                <a:solidFill>
                  <a:srgbClr val="7b8494"/>
                </a:solidFill>
                <a:latin typeface="Aptos"/>
                <a:ea typeface="Aptos"/>
              </a:rPr>
              <a:t>&lt;number&gt;</a:t>
            </a:fld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hyperlink" Target="https://doi.org/10.1109/TITS.2023.3258480" TargetMode="External"/><Relationship Id="rId2" Type="http://schemas.openxmlformats.org/officeDocument/2006/relationships/hyperlink" Target="https://lmb.informatik.uni-freiburg.de/people/ronneber/u-net/" TargetMode="External"/><Relationship Id="rId3" Type="http://schemas.openxmlformats.org/officeDocument/2006/relationships/hyperlink" Target="https://arxiv.org/abs/2102.04306" TargetMode="External"/><Relationship Id="rId4" Type="http://schemas.openxmlformats.org/officeDocument/2006/relationships/hyperlink" Target="https://openaccess.thecvf.com/content/CVPR2022/html/Cheng_Masked-Attention_Mask_Transformer_for_Universal_Image_Segmentation_CVPR_2022_paper.html" TargetMode="External"/><Relationship Id="rId5" Type="http://schemas.openxmlformats.org/officeDocument/2006/relationships/hyperlink" Target="https://doi.org/10.1109/ICMLA.2017.0-179" TargetMode="External"/><Relationship Id="rId6" Type="http://schemas.openxmlformats.org/officeDocument/2006/relationships/hyperlink" Target="https://doi.org/10.1109/INDICON59947.2023.10440856" TargetMode="External"/><Relationship Id="rId7" Type="http://schemas.openxmlformats.org/officeDocument/2006/relationships/hyperlink" Target="https://doi.org/10.1002/widm.70027" TargetMode="External"/><Relationship Id="rId8" Type="http://schemas.openxmlformats.org/officeDocument/2006/relationships/hyperlink" Target="https://doi.org/10.1080/24751839.2024.2367387" TargetMode="External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Shape 0"/>
          <p:cNvSpPr/>
          <p:nvPr/>
        </p:nvSpPr>
        <p:spPr>
          <a:xfrm>
            <a:off x="8869680" y="-731520"/>
            <a:ext cx="3747960" cy="3747960"/>
          </a:xfrm>
          <a:prstGeom prst="arc">
            <a:avLst>
              <a:gd name="adj1" fmla="val 16200000"/>
              <a:gd name="adj2" fmla="val 0"/>
            </a:avLst>
          </a:prstGeom>
          <a:noFill/>
          <a:ln w="88900">
            <a:solidFill>
              <a:srgbClr val="2c4b7b">
                <a:alpha val="90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1"/>
          <p:cNvSpPr/>
          <p:nvPr/>
        </p:nvSpPr>
        <p:spPr>
          <a:xfrm>
            <a:off x="9555480" y="228600"/>
            <a:ext cx="2833560" cy="2833560"/>
          </a:xfrm>
          <a:prstGeom prst="arc">
            <a:avLst>
              <a:gd name="adj1" fmla="val 16200000"/>
              <a:gd name="adj2" fmla="val 0"/>
            </a:avLst>
          </a:prstGeom>
          <a:noFill/>
          <a:ln w="50800">
            <a:solidFill>
              <a:srgbClr val="2e8c93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Text 2"/>
          <p:cNvSpPr/>
          <p:nvPr/>
        </p:nvSpPr>
        <p:spPr>
          <a:xfrm>
            <a:off x="676800" y="530280"/>
            <a:ext cx="3656520" cy="41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a9c6ff"/>
                </a:solidFill>
                <a:latin typeface="Aptos"/>
              </a:rPr>
              <a:t>AutoInspect-X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Text 3"/>
          <p:cNvSpPr/>
          <p:nvPr/>
        </p:nvSpPr>
        <p:spPr>
          <a:xfrm>
            <a:off x="676800" y="941760"/>
            <a:ext cx="2294280" cy="20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d5deed"/>
                </a:solidFill>
                <a:latin typeface="Aptos"/>
              </a:rPr>
              <a:t>Group – 160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Text 4"/>
          <p:cNvSpPr/>
          <p:nvPr/>
        </p:nvSpPr>
        <p:spPr>
          <a:xfrm>
            <a:off x="676800" y="1417320"/>
            <a:ext cx="6399720" cy="173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Aptos Display"/>
                <a:ea typeface="Aptos Display"/>
              </a:rPr>
              <a:t>CNN–Transformer Hybrid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Aptos Display"/>
                <a:ea typeface="Aptos Display"/>
              </a:rPr>
              <a:t>Deep Learning for Vehicle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800" spc="-1" strike="noStrike">
                <a:solidFill>
                  <a:srgbClr val="ffffff"/>
                </a:solidFill>
                <a:latin typeface="Aptos Display"/>
                <a:ea typeface="Aptos Display"/>
              </a:rPr>
              <a:t>Damage Segmentation</a:t>
            </a:r>
            <a:endParaRPr b="0" lang="en-US" sz="2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Text 5"/>
          <p:cNvSpPr/>
          <p:nvPr/>
        </p:nvSpPr>
        <p:spPr>
          <a:xfrm>
            <a:off x="713160" y="3355920"/>
            <a:ext cx="6491160" cy="474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d8e2f0"/>
                </a:solidFill>
                <a:latin typeface="Aptos"/>
              </a:rPr>
              <a:t>Global vehicle context + local visual detail → precise pixel-level damage segmentation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Text 6"/>
          <p:cNvSpPr/>
          <p:nvPr/>
        </p:nvSpPr>
        <p:spPr>
          <a:xfrm>
            <a:off x="713160" y="4160520"/>
            <a:ext cx="73044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111" strike="noStrike">
                <a:solidFill>
                  <a:srgbClr val="7fa1d6"/>
                </a:solidFill>
                <a:latin typeface="Aptos"/>
              </a:rPr>
              <a:t>TEAM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Text 7"/>
          <p:cNvSpPr/>
          <p:nvPr/>
        </p:nvSpPr>
        <p:spPr>
          <a:xfrm>
            <a:off x="713160" y="4443840"/>
            <a:ext cx="255924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Aptos"/>
              </a:rPr>
              <a:t>Janvie Verma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Text 8"/>
          <p:cNvSpPr/>
          <p:nvPr/>
        </p:nvSpPr>
        <p:spPr>
          <a:xfrm>
            <a:off x="2743200" y="4443840"/>
            <a:ext cx="118764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8c7db"/>
                </a:solidFill>
                <a:latin typeface="Aptos"/>
              </a:rPr>
              <a:t>23BAI10307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Text 9"/>
          <p:cNvSpPr/>
          <p:nvPr/>
        </p:nvSpPr>
        <p:spPr>
          <a:xfrm>
            <a:off x="713160" y="4736520"/>
            <a:ext cx="255924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Aptos"/>
              </a:rPr>
              <a:t>Kislay Anand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Text 10"/>
          <p:cNvSpPr/>
          <p:nvPr/>
        </p:nvSpPr>
        <p:spPr>
          <a:xfrm>
            <a:off x="2743200" y="4736520"/>
            <a:ext cx="118764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8c7db"/>
                </a:solidFill>
                <a:latin typeface="Aptos"/>
              </a:rPr>
              <a:t>23BAI10359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Text 11"/>
          <p:cNvSpPr/>
          <p:nvPr/>
        </p:nvSpPr>
        <p:spPr>
          <a:xfrm>
            <a:off x="713160" y="5029200"/>
            <a:ext cx="255924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Aptos"/>
              </a:rPr>
              <a:t>Chandrakant Anil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Text 12"/>
          <p:cNvSpPr/>
          <p:nvPr/>
        </p:nvSpPr>
        <p:spPr>
          <a:xfrm>
            <a:off x="2743200" y="5029200"/>
            <a:ext cx="118764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8c7db"/>
                </a:solidFill>
                <a:latin typeface="Aptos"/>
              </a:rPr>
              <a:t>23BAI11269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Text 13"/>
          <p:cNvSpPr/>
          <p:nvPr/>
        </p:nvSpPr>
        <p:spPr>
          <a:xfrm>
            <a:off x="713160" y="5321880"/>
            <a:ext cx="255924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Aptos"/>
              </a:rPr>
              <a:t>Parikshid Arya Poornachandra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Text 14"/>
          <p:cNvSpPr/>
          <p:nvPr/>
        </p:nvSpPr>
        <p:spPr>
          <a:xfrm>
            <a:off x="2743200" y="5321880"/>
            <a:ext cx="118764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8c7db"/>
                </a:solidFill>
                <a:latin typeface="Aptos"/>
              </a:rPr>
              <a:t>23BAI10656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Text 15"/>
          <p:cNvSpPr/>
          <p:nvPr/>
        </p:nvSpPr>
        <p:spPr>
          <a:xfrm>
            <a:off x="713160" y="5614560"/>
            <a:ext cx="255924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ffffff"/>
                </a:solidFill>
                <a:latin typeface="Aptos"/>
              </a:rPr>
              <a:t>Arya Khullar</a:t>
            </a:r>
            <a:endParaRPr b="0" lang="en-US" sz="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Text 16"/>
          <p:cNvSpPr/>
          <p:nvPr/>
        </p:nvSpPr>
        <p:spPr>
          <a:xfrm>
            <a:off x="2743200" y="5614560"/>
            <a:ext cx="118764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b8c7db"/>
                </a:solidFill>
                <a:latin typeface="Aptos"/>
              </a:rPr>
              <a:t>23BAI11198</a:t>
            </a:r>
            <a:endParaRPr b="0" lang="en-US" sz="9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Text 17"/>
          <p:cNvSpPr/>
          <p:nvPr/>
        </p:nvSpPr>
        <p:spPr>
          <a:xfrm>
            <a:off x="8458200" y="5349240"/>
            <a:ext cx="255924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103" strike="noStrike">
                <a:solidFill>
                  <a:srgbClr val="7fa1d6"/>
                </a:solidFill>
                <a:latin typeface="Aptos"/>
              </a:rPr>
              <a:t>CAPSTONE PROJECT</a:t>
            </a:r>
            <a:endParaRPr b="0" lang="en-US" sz="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Text 18"/>
          <p:cNvSpPr/>
          <p:nvPr/>
        </p:nvSpPr>
        <p:spPr>
          <a:xfrm>
            <a:off x="8458200" y="5650920"/>
            <a:ext cx="2467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ffffff"/>
                </a:solidFill>
                <a:latin typeface="Aptos"/>
              </a:rPr>
              <a:t>Fall Semester 2026–27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Text 19"/>
          <p:cNvSpPr/>
          <p:nvPr/>
        </p:nvSpPr>
        <p:spPr>
          <a:xfrm>
            <a:off x="11155680" y="6181200"/>
            <a:ext cx="31896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7fa1d6"/>
                </a:solidFill>
                <a:latin typeface="Aptos"/>
              </a:rPr>
              <a:t>01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0"/>
          <p:cNvSpPr/>
          <p:nvPr/>
        </p:nvSpPr>
        <p:spPr>
          <a:xfrm>
            <a:off x="567000" y="292680"/>
            <a:ext cx="8960040" cy="40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14213d"/>
                </a:solidFill>
                <a:latin typeface="Aptos Display"/>
                <a:ea typeface="Aptos Display"/>
              </a:rPr>
              <a:t>Problem Statement • Objective • Scope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Text 1"/>
          <p:cNvSpPr/>
          <p:nvPr/>
        </p:nvSpPr>
        <p:spPr>
          <a:xfrm>
            <a:off x="585360" y="749880"/>
            <a:ext cx="1069740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667085"/>
                </a:solidFill>
                <a:latin typeface="Aptos"/>
                <a:ea typeface="Aptos"/>
              </a:rPr>
              <a:t>Direct photo inspection → damage segmentation → professional explanation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Text 2"/>
          <p:cNvSpPr/>
          <p:nvPr/>
        </p:nvSpPr>
        <p:spPr>
          <a:xfrm>
            <a:off x="10168200" y="356760"/>
            <a:ext cx="14162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72" strike="noStrike">
                <a:solidFill>
                  <a:srgbClr val="2f67e8"/>
                </a:solidFill>
                <a:latin typeface="Aptos"/>
                <a:ea typeface="Aptos"/>
              </a:rPr>
              <a:t>01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Shape 3"/>
          <p:cNvSpPr/>
          <p:nvPr/>
        </p:nvSpPr>
        <p:spPr>
          <a:xfrm>
            <a:off x="594360" y="1143000"/>
            <a:ext cx="3519360" cy="1827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Shape 4"/>
          <p:cNvSpPr/>
          <p:nvPr/>
        </p:nvSpPr>
        <p:spPr>
          <a:xfrm>
            <a:off x="594360" y="1143000"/>
            <a:ext cx="53640" cy="1827720"/>
          </a:xfrm>
          <a:prstGeom prst="rect">
            <a:avLst/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Shape 5"/>
          <p:cNvSpPr/>
          <p:nvPr/>
        </p:nvSpPr>
        <p:spPr>
          <a:xfrm>
            <a:off x="740520" y="1289160"/>
            <a:ext cx="309960" cy="309960"/>
          </a:xfrm>
          <a:prstGeom prst="ellipse">
            <a:avLst/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Text 6"/>
          <p:cNvSpPr/>
          <p:nvPr/>
        </p:nvSpPr>
        <p:spPr>
          <a:xfrm>
            <a:off x="740520" y="1316880"/>
            <a:ext cx="30996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Aptos"/>
              </a:rPr>
              <a:t>P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Text 7"/>
          <p:cNvSpPr/>
          <p:nvPr/>
        </p:nvSpPr>
        <p:spPr>
          <a:xfrm>
            <a:off x="1161360" y="1280160"/>
            <a:ext cx="27694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Problem statement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Text 8"/>
          <p:cNvSpPr/>
          <p:nvPr/>
        </p:nvSpPr>
        <p:spPr>
          <a:xfrm>
            <a:off x="795600" y="1618560"/>
            <a:ext cx="3135240" cy="122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70" spc="-1" strike="noStrike">
                <a:solidFill>
                  <a:srgbClr val="18212f"/>
                </a:solidFill>
                <a:latin typeface="Aptos"/>
                <a:ea typeface="Aptos"/>
              </a:rPr>
              <a:t>A single vehicle photo may contain normal curves, reflections, shadows and genuine damage. Reliable inspection therefore requires both local visual evidence and surrounding context.</a:t>
            </a:r>
            <a:endParaRPr b="0" lang="en-US" sz="10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Shape 9"/>
          <p:cNvSpPr/>
          <p:nvPr/>
        </p:nvSpPr>
        <p:spPr>
          <a:xfrm>
            <a:off x="4343400" y="1143000"/>
            <a:ext cx="3519360" cy="1827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Shape 10"/>
          <p:cNvSpPr/>
          <p:nvPr/>
        </p:nvSpPr>
        <p:spPr>
          <a:xfrm>
            <a:off x="4343400" y="1143000"/>
            <a:ext cx="53640" cy="182772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Shape 11"/>
          <p:cNvSpPr/>
          <p:nvPr/>
        </p:nvSpPr>
        <p:spPr>
          <a:xfrm>
            <a:off x="4489560" y="1289160"/>
            <a:ext cx="309960" cy="309960"/>
          </a:xfrm>
          <a:prstGeom prst="ellipse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Text 12"/>
          <p:cNvSpPr/>
          <p:nvPr/>
        </p:nvSpPr>
        <p:spPr>
          <a:xfrm>
            <a:off x="4489560" y="1316880"/>
            <a:ext cx="30996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Aptos"/>
              </a:rPr>
              <a:t>O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Text 13"/>
          <p:cNvSpPr/>
          <p:nvPr/>
        </p:nvSpPr>
        <p:spPr>
          <a:xfrm>
            <a:off x="4910400" y="1280160"/>
            <a:ext cx="27694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Objective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Text 14"/>
          <p:cNvSpPr/>
          <p:nvPr/>
        </p:nvSpPr>
        <p:spPr>
          <a:xfrm>
            <a:off x="4544640" y="1618560"/>
            <a:ext cx="3135240" cy="122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70" spc="-1" strike="noStrike">
                <a:solidFill>
                  <a:srgbClr val="18212f"/>
                </a:solidFill>
                <a:latin typeface="Aptos"/>
                <a:ea typeface="Aptos"/>
              </a:rPr>
              <a:t>Develop and evaluate a lightweight CNN–Transformer model that produces detailed damage masks, class labels and confidence-aware evidence from one photo.</a:t>
            </a:r>
            <a:endParaRPr b="0" lang="en-US" sz="10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Shape 15"/>
          <p:cNvSpPr/>
          <p:nvPr/>
        </p:nvSpPr>
        <p:spPr>
          <a:xfrm>
            <a:off x="8092440" y="1143000"/>
            <a:ext cx="3519360" cy="1827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Shape 16"/>
          <p:cNvSpPr/>
          <p:nvPr/>
        </p:nvSpPr>
        <p:spPr>
          <a:xfrm>
            <a:off x="8092440" y="1143000"/>
            <a:ext cx="53640" cy="1827720"/>
          </a:xfrm>
          <a:prstGeom prst="rect">
            <a:avLst/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Shape 17"/>
          <p:cNvSpPr/>
          <p:nvPr/>
        </p:nvSpPr>
        <p:spPr>
          <a:xfrm>
            <a:off x="8238600" y="1289160"/>
            <a:ext cx="309960" cy="309960"/>
          </a:xfrm>
          <a:prstGeom prst="ellipse">
            <a:avLst/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Text 18"/>
          <p:cNvSpPr/>
          <p:nvPr/>
        </p:nvSpPr>
        <p:spPr>
          <a:xfrm>
            <a:off x="8238600" y="1316880"/>
            <a:ext cx="30996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Aptos"/>
              </a:rPr>
              <a:t>S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Text 19"/>
          <p:cNvSpPr/>
          <p:nvPr/>
        </p:nvSpPr>
        <p:spPr>
          <a:xfrm>
            <a:off x="8659440" y="1280160"/>
            <a:ext cx="27694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Scope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Text 20"/>
          <p:cNvSpPr/>
          <p:nvPr/>
        </p:nvSpPr>
        <p:spPr>
          <a:xfrm>
            <a:off x="8293680" y="1618560"/>
            <a:ext cx="3135240" cy="122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8212f"/>
                </a:solidFill>
                <a:latin typeface="Aptos"/>
                <a:ea typeface="Aptos"/>
              </a:rPr>
              <a:t>Photo quality check • hybrid segmentation • visual damage flagging • structured findings • professional LangChain explanation in the main chat.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Text 21"/>
          <p:cNvSpPr/>
          <p:nvPr/>
        </p:nvSpPr>
        <p:spPr>
          <a:xfrm>
            <a:off x="621720" y="3337560"/>
            <a:ext cx="73044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111" strike="noStrike">
                <a:solidFill>
                  <a:srgbClr val="667085"/>
                </a:solidFill>
                <a:latin typeface="Aptos"/>
              </a:rPr>
              <a:t>INPUT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Shape 22"/>
          <p:cNvSpPr/>
          <p:nvPr/>
        </p:nvSpPr>
        <p:spPr>
          <a:xfrm>
            <a:off x="621720" y="3602880"/>
            <a:ext cx="1416240" cy="309960"/>
          </a:xfrm>
          <a:prstGeom prst="roundRect">
            <a:avLst>
              <a:gd name="adj" fmla="val 41176"/>
            </a:avLst>
          </a:prstGeom>
          <a:solidFill>
            <a:srgbClr val="eef4ff"/>
          </a:solidFill>
          <a:ln w="12700">
            <a:solidFill>
              <a:srgbClr val="eef4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Text 23"/>
          <p:cNvSpPr/>
          <p:nvPr/>
        </p:nvSpPr>
        <p:spPr>
          <a:xfrm>
            <a:off x="694800" y="3666600"/>
            <a:ext cx="1270080" cy="1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2f67e8"/>
                </a:solidFill>
                <a:latin typeface="Aptos"/>
              </a:rPr>
              <a:t>Vehicle photo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Shape 24"/>
          <p:cNvSpPr/>
          <p:nvPr/>
        </p:nvSpPr>
        <p:spPr>
          <a:xfrm>
            <a:off x="2194560" y="3602880"/>
            <a:ext cx="1599120" cy="309960"/>
          </a:xfrm>
          <a:prstGeom prst="roundRect">
            <a:avLst>
              <a:gd name="adj" fmla="val 41176"/>
            </a:avLst>
          </a:prstGeom>
          <a:solidFill>
            <a:srgbClr val="eaf8f5"/>
          </a:solidFill>
          <a:ln w="12700">
            <a:solidFill>
              <a:srgbClr val="eaf8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Text 25"/>
          <p:cNvSpPr/>
          <p:nvPr/>
        </p:nvSpPr>
        <p:spPr>
          <a:xfrm>
            <a:off x="2267640" y="3666600"/>
            <a:ext cx="1452960" cy="1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1fa89a"/>
                </a:solidFill>
                <a:latin typeface="Aptos"/>
              </a:rPr>
              <a:t>Optional camera capture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Shape 26"/>
          <p:cNvSpPr/>
          <p:nvPr/>
        </p:nvSpPr>
        <p:spPr>
          <a:xfrm>
            <a:off x="3977640" y="3630240"/>
            <a:ext cx="410400" cy="218520"/>
          </a:xfrm>
          <a:prstGeom prst="chevron">
            <a:avLst>
              <a:gd name="adj" fmla="val 50000"/>
            </a:avLst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Shape 27"/>
          <p:cNvSpPr/>
          <p:nvPr/>
        </p:nvSpPr>
        <p:spPr>
          <a:xfrm>
            <a:off x="4526280" y="3602880"/>
            <a:ext cx="1507680" cy="309960"/>
          </a:xfrm>
          <a:prstGeom prst="roundRect">
            <a:avLst>
              <a:gd name="adj" fmla="val 41176"/>
            </a:avLst>
          </a:prstGeom>
          <a:solidFill>
            <a:srgbClr val="fff5e1"/>
          </a:solidFill>
          <a:ln w="12700">
            <a:solidFill>
              <a:srgbClr val="fff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Text 28"/>
          <p:cNvSpPr/>
          <p:nvPr/>
        </p:nvSpPr>
        <p:spPr>
          <a:xfrm>
            <a:off x="4599360" y="3666600"/>
            <a:ext cx="1361520" cy="1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59e0b"/>
                </a:solidFill>
                <a:latin typeface="Aptos"/>
              </a:rPr>
              <a:t>Quality gate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Shape 29"/>
          <p:cNvSpPr/>
          <p:nvPr/>
        </p:nvSpPr>
        <p:spPr>
          <a:xfrm>
            <a:off x="6172200" y="3630240"/>
            <a:ext cx="410400" cy="218520"/>
          </a:xfrm>
          <a:prstGeom prst="chevron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Shape 30"/>
          <p:cNvSpPr/>
          <p:nvPr/>
        </p:nvSpPr>
        <p:spPr>
          <a:xfrm>
            <a:off x="6720840" y="3602880"/>
            <a:ext cx="1690560" cy="309960"/>
          </a:xfrm>
          <a:prstGeom prst="roundRect">
            <a:avLst>
              <a:gd name="adj" fmla="val 41176"/>
            </a:avLst>
          </a:prstGeom>
          <a:solidFill>
            <a:srgbClr val="f1eeff"/>
          </a:solidFill>
          <a:ln w="12700">
            <a:solidFill>
              <a:srgbClr val="f1ee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Text 31"/>
          <p:cNvSpPr/>
          <p:nvPr/>
        </p:nvSpPr>
        <p:spPr>
          <a:xfrm>
            <a:off x="6793920" y="3666600"/>
            <a:ext cx="1544400" cy="1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7a5af8"/>
                </a:solidFill>
                <a:latin typeface="Aptos"/>
              </a:rPr>
              <a:t>Hybrid segmentation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Shape 32"/>
          <p:cNvSpPr/>
          <p:nvPr/>
        </p:nvSpPr>
        <p:spPr>
          <a:xfrm>
            <a:off x="8540640" y="3630240"/>
            <a:ext cx="410400" cy="218520"/>
          </a:xfrm>
          <a:prstGeom prst="chevron">
            <a:avLst>
              <a:gd name="adj" fmla="val 50000"/>
            </a:avLst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Shape 33"/>
          <p:cNvSpPr/>
          <p:nvPr/>
        </p:nvSpPr>
        <p:spPr>
          <a:xfrm>
            <a:off x="9098280" y="3602880"/>
            <a:ext cx="1416240" cy="309960"/>
          </a:xfrm>
          <a:prstGeom prst="roundRect">
            <a:avLst>
              <a:gd name="adj" fmla="val 41176"/>
            </a:avLst>
          </a:prstGeom>
          <a:solidFill>
            <a:srgbClr val="eaf8f5"/>
          </a:solidFill>
          <a:ln w="12700">
            <a:solidFill>
              <a:srgbClr val="eaf8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Text 34"/>
          <p:cNvSpPr/>
          <p:nvPr/>
        </p:nvSpPr>
        <p:spPr>
          <a:xfrm>
            <a:off x="9171360" y="3666600"/>
            <a:ext cx="1270080" cy="1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1fa89a"/>
                </a:solidFill>
                <a:latin typeface="Aptos"/>
              </a:rPr>
              <a:t>Damage evidence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Shape 35"/>
          <p:cNvSpPr/>
          <p:nvPr/>
        </p:nvSpPr>
        <p:spPr>
          <a:xfrm>
            <a:off x="10680120" y="3630240"/>
            <a:ext cx="410400" cy="218520"/>
          </a:xfrm>
          <a:prstGeom prst="chevron">
            <a:avLst>
              <a:gd name="adj" fmla="val 50000"/>
            </a:avLst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Shape 36"/>
          <p:cNvSpPr/>
          <p:nvPr/>
        </p:nvSpPr>
        <p:spPr>
          <a:xfrm>
            <a:off x="11137320" y="3602880"/>
            <a:ext cx="593280" cy="309960"/>
          </a:xfrm>
          <a:prstGeom prst="roundRect">
            <a:avLst>
              <a:gd name="adj" fmla="val 41176"/>
            </a:avLst>
          </a:prstGeom>
          <a:solidFill>
            <a:srgbClr val="eef4ff"/>
          </a:solidFill>
          <a:ln w="12700">
            <a:solidFill>
              <a:srgbClr val="eef4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Text 37"/>
          <p:cNvSpPr/>
          <p:nvPr/>
        </p:nvSpPr>
        <p:spPr>
          <a:xfrm>
            <a:off x="11210400" y="3666600"/>
            <a:ext cx="447120" cy="1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2f67e8"/>
                </a:solidFill>
                <a:latin typeface="Aptos"/>
              </a:rPr>
              <a:t>Chat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Shape 38"/>
          <p:cNvSpPr/>
          <p:nvPr/>
        </p:nvSpPr>
        <p:spPr>
          <a:xfrm>
            <a:off x="594360" y="4251960"/>
            <a:ext cx="5439600" cy="123336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hape 39"/>
          <p:cNvSpPr/>
          <p:nvPr/>
        </p:nvSpPr>
        <p:spPr>
          <a:xfrm>
            <a:off x="594360" y="4251960"/>
            <a:ext cx="53640" cy="1233360"/>
          </a:xfrm>
          <a:prstGeom prst="rect">
            <a:avLst/>
          </a:prstGeom>
          <a:solidFill>
            <a:srgbClr val="d94b4b"/>
          </a:solidFill>
          <a:ln w="12700">
            <a:solidFill>
              <a:srgbClr val="d94b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" name="Text 40"/>
          <p:cNvSpPr/>
          <p:nvPr/>
        </p:nvSpPr>
        <p:spPr>
          <a:xfrm>
            <a:off x="795600" y="4389120"/>
            <a:ext cx="50554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Explicitly out of scope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Text 41"/>
          <p:cNvSpPr/>
          <p:nvPr/>
        </p:nvSpPr>
        <p:spPr>
          <a:xfrm>
            <a:off x="795600" y="4727520"/>
            <a:ext cx="5055480" cy="63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Repair-cost prediction • repair-action prediction • vehicle-part segmentation without additional labels • reference-image comparison against a perfect vehicle.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Shape 42"/>
          <p:cNvSpPr/>
          <p:nvPr/>
        </p:nvSpPr>
        <p:spPr>
          <a:xfrm>
            <a:off x="6263640" y="4251960"/>
            <a:ext cx="5348160" cy="123336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Shape 43"/>
          <p:cNvSpPr/>
          <p:nvPr/>
        </p:nvSpPr>
        <p:spPr>
          <a:xfrm>
            <a:off x="6263640" y="4251960"/>
            <a:ext cx="53640" cy="123336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Text 44"/>
          <p:cNvSpPr/>
          <p:nvPr/>
        </p:nvSpPr>
        <p:spPr>
          <a:xfrm>
            <a:off x="6464880" y="4389120"/>
            <a:ext cx="49640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Core product boundary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Text 45"/>
          <p:cNvSpPr/>
          <p:nvPr/>
        </p:nvSpPr>
        <p:spPr>
          <a:xfrm>
            <a:off x="6464880" y="4727520"/>
            <a:ext cx="4964040" cy="63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The vision model supplies evidence. The LLM explains that evidence, guides retakes when quality fails, and supports follow-up conversation.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1"/>
          <p:cNvSpPr>
            <a:spLocks noGrp="1"/>
          </p:cNvSpPr>
          <p:nvPr>
            <p:ph type="sldNum" idx="5"/>
          </p:nvPr>
        </p:nvSpPr>
        <p:spPr>
          <a:xfrm>
            <a:off x="11292840" y="6574680"/>
            <a:ext cx="798840" cy="29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7b8494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89F8BD01-5646-4F62-BDD9-FFF48F1D1F28}" type="slidenum">
              <a:rPr b="0" lang="en-US" sz="850" spc="-1" strike="noStrike">
                <a:solidFill>
                  <a:srgbClr val="7b8494"/>
                </a:solidFill>
                <a:latin typeface="Aptos"/>
                <a:ea typeface="Aptos"/>
              </a:rPr>
              <a:t>&lt;number&gt;</a:t>
            </a:fld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ext 0"/>
          <p:cNvSpPr/>
          <p:nvPr/>
        </p:nvSpPr>
        <p:spPr>
          <a:xfrm>
            <a:off x="567000" y="292680"/>
            <a:ext cx="8960040" cy="40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14213d"/>
                </a:solidFill>
                <a:latin typeface="Aptos Display"/>
                <a:ea typeface="Aptos Display"/>
              </a:rPr>
              <a:t>Why this is a research project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Text 1"/>
          <p:cNvSpPr/>
          <p:nvPr/>
        </p:nvSpPr>
        <p:spPr>
          <a:xfrm>
            <a:off x="585360" y="749880"/>
            <a:ext cx="1069740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667085"/>
                </a:solidFill>
                <a:latin typeface="Aptos"/>
                <a:ea typeface="Aptos"/>
              </a:rPr>
              <a:t>The contribution is the model design and controlled evaluation — not the chatbot itself.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Text 2"/>
          <p:cNvSpPr/>
          <p:nvPr/>
        </p:nvSpPr>
        <p:spPr>
          <a:xfrm>
            <a:off x="10168200" y="356760"/>
            <a:ext cx="14162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72" strike="noStrike">
                <a:solidFill>
                  <a:srgbClr val="2f67e8"/>
                </a:solidFill>
                <a:latin typeface="Aptos"/>
                <a:ea typeface="Aptos"/>
              </a:rPr>
              <a:t>02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Shape 3"/>
          <p:cNvSpPr/>
          <p:nvPr/>
        </p:nvSpPr>
        <p:spPr>
          <a:xfrm>
            <a:off x="621720" y="1143000"/>
            <a:ext cx="3473640" cy="150768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4"/>
          <p:cNvSpPr/>
          <p:nvPr/>
        </p:nvSpPr>
        <p:spPr>
          <a:xfrm>
            <a:off x="621720" y="1143000"/>
            <a:ext cx="53640" cy="1507680"/>
          </a:xfrm>
          <a:prstGeom prst="rect">
            <a:avLst/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7" name="Text 5"/>
          <p:cNvSpPr/>
          <p:nvPr/>
        </p:nvSpPr>
        <p:spPr>
          <a:xfrm>
            <a:off x="822960" y="1280160"/>
            <a:ext cx="30895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Real problem in the data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Text 6"/>
          <p:cNvSpPr/>
          <p:nvPr/>
        </p:nvSpPr>
        <p:spPr>
          <a:xfrm>
            <a:off x="822960" y="1618560"/>
            <a:ext cx="3089520" cy="90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CarDD contains six damage classes, unequal class frequencies, and wide variation in damage area. Small cracks and scratches are particularly challenging.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7"/>
          <p:cNvSpPr/>
          <p:nvPr/>
        </p:nvSpPr>
        <p:spPr>
          <a:xfrm>
            <a:off x="4370760" y="1143000"/>
            <a:ext cx="3473640" cy="150768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Shape 8"/>
          <p:cNvSpPr/>
          <p:nvPr/>
        </p:nvSpPr>
        <p:spPr>
          <a:xfrm>
            <a:off x="4370760" y="1143000"/>
            <a:ext cx="53640" cy="150768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Text 9"/>
          <p:cNvSpPr/>
          <p:nvPr/>
        </p:nvSpPr>
        <p:spPr>
          <a:xfrm>
            <a:off x="4572000" y="1280160"/>
            <a:ext cx="30895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Architectural question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 10"/>
          <p:cNvSpPr/>
          <p:nvPr/>
        </p:nvSpPr>
        <p:spPr>
          <a:xfrm>
            <a:off x="4572000" y="1618560"/>
            <a:ext cx="3089520" cy="90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Can global contextual modelling from a lightweight Transformer complement CNN local features and improve pixel-level damage segmentation?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Shape 11"/>
          <p:cNvSpPr/>
          <p:nvPr/>
        </p:nvSpPr>
        <p:spPr>
          <a:xfrm>
            <a:off x="8119800" y="1143000"/>
            <a:ext cx="3473640" cy="150768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Shape 12"/>
          <p:cNvSpPr/>
          <p:nvPr/>
        </p:nvSpPr>
        <p:spPr>
          <a:xfrm>
            <a:off x="8119800" y="1143000"/>
            <a:ext cx="53640" cy="1507680"/>
          </a:xfrm>
          <a:prstGeom prst="rect">
            <a:avLst/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Text 13"/>
          <p:cNvSpPr/>
          <p:nvPr/>
        </p:nvSpPr>
        <p:spPr>
          <a:xfrm>
            <a:off x="8321040" y="1280160"/>
            <a:ext cx="30895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Testable contribution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Text 14"/>
          <p:cNvSpPr/>
          <p:nvPr/>
        </p:nvSpPr>
        <p:spPr>
          <a:xfrm>
            <a:off x="8321040" y="1618560"/>
            <a:ext cx="3089520" cy="90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Compare a controlled ResNet34-U-Net baseline with the same backbone + bottleneck Transformer, using identical training and evaluation procedures.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Shape 15"/>
          <p:cNvSpPr/>
          <p:nvPr/>
        </p:nvSpPr>
        <p:spPr>
          <a:xfrm>
            <a:off x="621720" y="3063240"/>
            <a:ext cx="474480" cy="291600"/>
          </a:xfrm>
          <a:prstGeom prst="roundRect">
            <a:avLst>
              <a:gd name="adj" fmla="val 37500"/>
            </a:avLst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Text 16"/>
          <p:cNvSpPr/>
          <p:nvPr/>
        </p:nvSpPr>
        <p:spPr>
          <a:xfrm>
            <a:off x="621720" y="3127320"/>
            <a:ext cx="474480" cy="10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Aptos"/>
              </a:rPr>
              <a:t>R1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Text 17"/>
          <p:cNvSpPr/>
          <p:nvPr/>
        </p:nvSpPr>
        <p:spPr>
          <a:xfrm>
            <a:off x="1207080" y="3099960"/>
            <a:ext cx="173628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20" spc="-1" strike="noStrike">
                <a:solidFill>
                  <a:srgbClr val="14213d"/>
                </a:solidFill>
                <a:latin typeface="Aptos"/>
              </a:rPr>
              <a:t>Research question</a:t>
            </a:r>
            <a:endParaRPr b="0" lang="en-US" sz="11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Shape 18"/>
          <p:cNvSpPr/>
          <p:nvPr/>
        </p:nvSpPr>
        <p:spPr>
          <a:xfrm>
            <a:off x="621720" y="3520440"/>
            <a:ext cx="10971720" cy="1050480"/>
          </a:xfrm>
          <a:prstGeom prst="roundRect">
            <a:avLst>
              <a:gd name="adj" fmla="val 6957"/>
            </a:avLst>
          </a:prstGeom>
          <a:solidFill>
            <a:srgbClr val="eef4ff"/>
          </a:solidFill>
          <a:ln w="12700">
            <a:solidFill>
              <a:srgbClr val="c9d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 19"/>
          <p:cNvSpPr/>
          <p:nvPr/>
        </p:nvSpPr>
        <p:spPr>
          <a:xfrm>
            <a:off x="868680" y="3758040"/>
            <a:ext cx="10468800" cy="52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75000"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14213d"/>
                </a:solidFill>
                <a:latin typeface="Aptos Display"/>
                <a:ea typeface="Aptos Display"/>
              </a:rPr>
              <a:t>Can a lightweight CNN–Transformer hybrid improve vehicle-damage segmentation, particularly for small and visually subtle damage, compared with a conventional CNN baseline while remaining computationally practical?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 20"/>
          <p:cNvSpPr/>
          <p:nvPr/>
        </p:nvSpPr>
        <p:spPr>
          <a:xfrm>
            <a:off x="621720" y="4983480"/>
            <a:ext cx="118764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667085"/>
                </a:solidFill>
                <a:latin typeface="Aptos"/>
              </a:rPr>
              <a:t>Research logic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Shape 21"/>
          <p:cNvSpPr/>
          <p:nvPr/>
        </p:nvSpPr>
        <p:spPr>
          <a:xfrm>
            <a:off x="621720" y="5285160"/>
            <a:ext cx="1690560" cy="309960"/>
          </a:xfrm>
          <a:prstGeom prst="roundRect">
            <a:avLst>
              <a:gd name="adj" fmla="val 41176"/>
            </a:avLst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 22"/>
          <p:cNvSpPr/>
          <p:nvPr/>
        </p:nvSpPr>
        <p:spPr>
          <a:xfrm>
            <a:off x="694800" y="5349240"/>
            <a:ext cx="1544400" cy="1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14213d"/>
                </a:solidFill>
                <a:latin typeface="Aptos"/>
              </a:rPr>
              <a:t>Baseline: CNN/U-Net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Shape 23"/>
          <p:cNvSpPr/>
          <p:nvPr/>
        </p:nvSpPr>
        <p:spPr>
          <a:xfrm>
            <a:off x="2514600" y="5321880"/>
            <a:ext cx="419400" cy="200160"/>
          </a:xfrm>
          <a:prstGeom prst="chevron">
            <a:avLst>
              <a:gd name="adj" fmla="val 50000"/>
            </a:avLst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Shape 24"/>
          <p:cNvSpPr/>
          <p:nvPr/>
        </p:nvSpPr>
        <p:spPr>
          <a:xfrm>
            <a:off x="3063240" y="5285160"/>
            <a:ext cx="1782000" cy="309960"/>
          </a:xfrm>
          <a:prstGeom prst="roundRect">
            <a:avLst>
              <a:gd name="adj" fmla="val 41176"/>
            </a:avLst>
          </a:prstGeom>
          <a:solidFill>
            <a:srgbClr val="eaf8f5"/>
          </a:solidFill>
          <a:ln w="12700">
            <a:solidFill>
              <a:srgbClr val="eaf8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 25"/>
          <p:cNvSpPr/>
          <p:nvPr/>
        </p:nvSpPr>
        <p:spPr>
          <a:xfrm>
            <a:off x="3136320" y="5349240"/>
            <a:ext cx="1635840" cy="1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1fa89a"/>
                </a:solidFill>
                <a:latin typeface="Aptos"/>
              </a:rPr>
              <a:t>Add global context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Shape 26"/>
          <p:cNvSpPr/>
          <p:nvPr/>
        </p:nvSpPr>
        <p:spPr>
          <a:xfrm>
            <a:off x="5010840" y="5321880"/>
            <a:ext cx="419400" cy="200160"/>
          </a:xfrm>
          <a:prstGeom prst="chevron">
            <a:avLst>
              <a:gd name="adj" fmla="val 50000"/>
            </a:avLst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Shape 27"/>
          <p:cNvSpPr/>
          <p:nvPr/>
        </p:nvSpPr>
        <p:spPr>
          <a:xfrm>
            <a:off x="5559480" y="5285160"/>
            <a:ext cx="1599120" cy="309960"/>
          </a:xfrm>
          <a:prstGeom prst="roundRect">
            <a:avLst>
              <a:gd name="adj" fmla="val 41176"/>
            </a:avLst>
          </a:prstGeom>
          <a:solidFill>
            <a:srgbClr val="f1eeff"/>
          </a:solidFill>
          <a:ln w="12700">
            <a:solidFill>
              <a:srgbClr val="f1ee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Text 28"/>
          <p:cNvSpPr/>
          <p:nvPr/>
        </p:nvSpPr>
        <p:spPr>
          <a:xfrm>
            <a:off x="5632560" y="5349240"/>
            <a:ext cx="1452960" cy="1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7a5af8"/>
                </a:solidFill>
                <a:latin typeface="Aptos"/>
              </a:rPr>
              <a:t>Hybrid model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Shape 29"/>
          <p:cNvSpPr/>
          <p:nvPr/>
        </p:nvSpPr>
        <p:spPr>
          <a:xfrm>
            <a:off x="7360920" y="5321880"/>
            <a:ext cx="419400" cy="200160"/>
          </a:xfrm>
          <a:prstGeom prst="chevron">
            <a:avLst>
              <a:gd name="adj" fmla="val 50000"/>
            </a:avLst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Shape 30"/>
          <p:cNvSpPr/>
          <p:nvPr/>
        </p:nvSpPr>
        <p:spPr>
          <a:xfrm>
            <a:off x="7909560" y="5285160"/>
            <a:ext cx="1416240" cy="309960"/>
          </a:xfrm>
          <a:prstGeom prst="roundRect">
            <a:avLst>
              <a:gd name="adj" fmla="val 41176"/>
            </a:avLst>
          </a:prstGeom>
          <a:solidFill>
            <a:srgbClr val="eef4ff"/>
          </a:solidFill>
          <a:ln w="12700">
            <a:solidFill>
              <a:srgbClr val="eef4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Text 31"/>
          <p:cNvSpPr/>
          <p:nvPr/>
        </p:nvSpPr>
        <p:spPr>
          <a:xfrm>
            <a:off x="7982640" y="5349240"/>
            <a:ext cx="1270080" cy="1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2f67e8"/>
                </a:solidFill>
                <a:latin typeface="Aptos"/>
              </a:rPr>
              <a:t>Measure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Shape 32"/>
          <p:cNvSpPr/>
          <p:nvPr/>
        </p:nvSpPr>
        <p:spPr>
          <a:xfrm>
            <a:off x="9509760" y="5321880"/>
            <a:ext cx="419400" cy="200160"/>
          </a:xfrm>
          <a:prstGeom prst="chevron">
            <a:avLst>
              <a:gd name="adj" fmla="val 50000"/>
            </a:avLst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" name="Shape 33"/>
          <p:cNvSpPr/>
          <p:nvPr/>
        </p:nvSpPr>
        <p:spPr>
          <a:xfrm>
            <a:off x="10058400" y="5285160"/>
            <a:ext cx="1416240" cy="309960"/>
          </a:xfrm>
          <a:prstGeom prst="roundRect">
            <a:avLst>
              <a:gd name="adj" fmla="val 41176"/>
            </a:avLst>
          </a:prstGeom>
          <a:solidFill>
            <a:srgbClr val="fff5e1"/>
          </a:solidFill>
          <a:ln w="12700">
            <a:solidFill>
              <a:srgbClr val="fff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Text 34"/>
          <p:cNvSpPr/>
          <p:nvPr/>
        </p:nvSpPr>
        <p:spPr>
          <a:xfrm>
            <a:off x="10131480" y="5349240"/>
            <a:ext cx="1270080" cy="1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59e0b"/>
                </a:solidFill>
                <a:latin typeface="Aptos"/>
              </a:rPr>
              <a:t>Conclude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1"/>
          <p:cNvSpPr>
            <a:spLocks noGrp="1"/>
          </p:cNvSpPr>
          <p:nvPr>
            <p:ph type="sldNum" idx="6"/>
          </p:nvPr>
        </p:nvSpPr>
        <p:spPr>
          <a:xfrm>
            <a:off x="11292840" y="6574680"/>
            <a:ext cx="798840" cy="29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7b8494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79645A3B-B4BB-4586-9CA4-D7169127A539}" type="slidenum">
              <a:rPr b="0" lang="en-US" sz="850" spc="-1" strike="noStrike">
                <a:solidFill>
                  <a:srgbClr val="7b8494"/>
                </a:solidFill>
                <a:latin typeface="Aptos"/>
                <a:ea typeface="Aptos"/>
              </a:rPr>
              <a:t>&lt;number&gt;</a:t>
            </a:fld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 0"/>
          <p:cNvSpPr/>
          <p:nvPr/>
        </p:nvSpPr>
        <p:spPr>
          <a:xfrm>
            <a:off x="567000" y="292680"/>
            <a:ext cx="8960040" cy="40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14213d"/>
                </a:solidFill>
                <a:latin typeface="Aptos Display"/>
                <a:ea typeface="Aptos Display"/>
              </a:rPr>
              <a:t>Methodology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1"/>
          <p:cNvSpPr/>
          <p:nvPr/>
        </p:nvSpPr>
        <p:spPr>
          <a:xfrm>
            <a:off x="585360" y="749880"/>
            <a:ext cx="1069740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667085"/>
                </a:solidFill>
                <a:latin typeface="Aptos"/>
                <a:ea typeface="Aptos"/>
              </a:rPr>
              <a:t>A controlled workflow separates data preparation, model research, evaluation and product integration.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 2"/>
          <p:cNvSpPr/>
          <p:nvPr/>
        </p:nvSpPr>
        <p:spPr>
          <a:xfrm>
            <a:off x="10168200" y="356760"/>
            <a:ext cx="14162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72" strike="noStrike">
                <a:solidFill>
                  <a:srgbClr val="2f67e8"/>
                </a:solidFill>
                <a:latin typeface="Aptos"/>
                <a:ea typeface="Aptos"/>
              </a:rPr>
              <a:t>03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Shape 3"/>
          <p:cNvSpPr/>
          <p:nvPr/>
        </p:nvSpPr>
        <p:spPr>
          <a:xfrm>
            <a:off x="640080" y="1371600"/>
            <a:ext cx="2422080" cy="233064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Shape 4"/>
          <p:cNvSpPr/>
          <p:nvPr/>
        </p:nvSpPr>
        <p:spPr>
          <a:xfrm>
            <a:off x="640080" y="1371600"/>
            <a:ext cx="53640" cy="2330640"/>
          </a:xfrm>
          <a:prstGeom prst="rect">
            <a:avLst/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3" name="Shape 5"/>
          <p:cNvSpPr/>
          <p:nvPr/>
        </p:nvSpPr>
        <p:spPr>
          <a:xfrm>
            <a:off x="786240" y="1517760"/>
            <a:ext cx="309960" cy="309960"/>
          </a:xfrm>
          <a:prstGeom prst="ellipse">
            <a:avLst/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" name="Text 6"/>
          <p:cNvSpPr/>
          <p:nvPr/>
        </p:nvSpPr>
        <p:spPr>
          <a:xfrm>
            <a:off x="786240" y="1545480"/>
            <a:ext cx="30996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Aptos"/>
              </a:rPr>
              <a:t>1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Text 7"/>
          <p:cNvSpPr/>
          <p:nvPr/>
        </p:nvSpPr>
        <p:spPr>
          <a:xfrm>
            <a:off x="1207080" y="1508760"/>
            <a:ext cx="16722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Dataset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Text 8"/>
          <p:cNvSpPr/>
          <p:nvPr/>
        </p:nvSpPr>
        <p:spPr>
          <a:xfrm>
            <a:off x="841320" y="1847160"/>
            <a:ext cx="2037960" cy="172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Audit CarDD; keep train/validation/test separated; verify labels and leakage.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Shape 9"/>
          <p:cNvSpPr/>
          <p:nvPr/>
        </p:nvSpPr>
        <p:spPr>
          <a:xfrm>
            <a:off x="3429000" y="1371600"/>
            <a:ext cx="2422080" cy="233064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Shape 10"/>
          <p:cNvSpPr/>
          <p:nvPr/>
        </p:nvSpPr>
        <p:spPr>
          <a:xfrm>
            <a:off x="3429000" y="1371600"/>
            <a:ext cx="53640" cy="233064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9" name="Shape 11"/>
          <p:cNvSpPr/>
          <p:nvPr/>
        </p:nvSpPr>
        <p:spPr>
          <a:xfrm>
            <a:off x="3575160" y="1517760"/>
            <a:ext cx="309960" cy="309960"/>
          </a:xfrm>
          <a:prstGeom prst="ellipse">
            <a:avLst/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Text 12"/>
          <p:cNvSpPr/>
          <p:nvPr/>
        </p:nvSpPr>
        <p:spPr>
          <a:xfrm>
            <a:off x="3575160" y="1545480"/>
            <a:ext cx="30996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Aptos"/>
              </a:rPr>
              <a:t>2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Text 13"/>
          <p:cNvSpPr/>
          <p:nvPr/>
        </p:nvSpPr>
        <p:spPr>
          <a:xfrm>
            <a:off x="3996000" y="1508760"/>
            <a:ext cx="16722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Baseline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Text 14"/>
          <p:cNvSpPr/>
          <p:nvPr/>
        </p:nvSpPr>
        <p:spPr>
          <a:xfrm>
            <a:off x="3630240" y="1847160"/>
            <a:ext cx="2037960" cy="172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Train controlled ResNet34-U-Net under the shared training procedure.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Shape 15"/>
          <p:cNvSpPr/>
          <p:nvPr/>
        </p:nvSpPr>
        <p:spPr>
          <a:xfrm>
            <a:off x="6217920" y="1371600"/>
            <a:ext cx="2422080" cy="233064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Shape 16"/>
          <p:cNvSpPr/>
          <p:nvPr/>
        </p:nvSpPr>
        <p:spPr>
          <a:xfrm>
            <a:off x="6217920" y="1371600"/>
            <a:ext cx="53640" cy="2330640"/>
          </a:xfrm>
          <a:prstGeom prst="rect">
            <a:avLst/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Shape 17"/>
          <p:cNvSpPr/>
          <p:nvPr/>
        </p:nvSpPr>
        <p:spPr>
          <a:xfrm>
            <a:off x="6364080" y="1517760"/>
            <a:ext cx="309960" cy="309960"/>
          </a:xfrm>
          <a:prstGeom prst="ellipse">
            <a:avLst/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Text 18"/>
          <p:cNvSpPr/>
          <p:nvPr/>
        </p:nvSpPr>
        <p:spPr>
          <a:xfrm>
            <a:off x="6364080" y="1545480"/>
            <a:ext cx="30996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Aptos"/>
              </a:rPr>
              <a:t>3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Text 19"/>
          <p:cNvSpPr/>
          <p:nvPr/>
        </p:nvSpPr>
        <p:spPr>
          <a:xfrm>
            <a:off x="6784920" y="1508760"/>
            <a:ext cx="16722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Hybrid model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Text 20"/>
          <p:cNvSpPr/>
          <p:nvPr/>
        </p:nvSpPr>
        <p:spPr>
          <a:xfrm>
            <a:off x="6419160" y="1847160"/>
            <a:ext cx="2037960" cy="172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Add the bottleneck Transformer + fusion; keep all other conditions fixed.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21"/>
          <p:cNvSpPr/>
          <p:nvPr/>
        </p:nvSpPr>
        <p:spPr>
          <a:xfrm>
            <a:off x="9006840" y="1371600"/>
            <a:ext cx="2422080" cy="233064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Shape 22"/>
          <p:cNvSpPr/>
          <p:nvPr/>
        </p:nvSpPr>
        <p:spPr>
          <a:xfrm>
            <a:off x="9006840" y="1371600"/>
            <a:ext cx="53640" cy="233064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1" name="Shape 23"/>
          <p:cNvSpPr/>
          <p:nvPr/>
        </p:nvSpPr>
        <p:spPr>
          <a:xfrm>
            <a:off x="9153000" y="1517760"/>
            <a:ext cx="309960" cy="309960"/>
          </a:xfrm>
          <a:prstGeom prst="ellipse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2" name="Text 24"/>
          <p:cNvSpPr/>
          <p:nvPr/>
        </p:nvSpPr>
        <p:spPr>
          <a:xfrm>
            <a:off x="9153000" y="1545480"/>
            <a:ext cx="30996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ffffff"/>
                </a:solidFill>
                <a:latin typeface="Aptos"/>
              </a:rPr>
              <a:t>4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Text 25"/>
          <p:cNvSpPr/>
          <p:nvPr/>
        </p:nvSpPr>
        <p:spPr>
          <a:xfrm>
            <a:off x="9573840" y="1508760"/>
            <a:ext cx="16722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Evaluation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Text 26"/>
          <p:cNvSpPr/>
          <p:nvPr/>
        </p:nvSpPr>
        <p:spPr>
          <a:xfrm>
            <a:off x="9208080" y="1847160"/>
            <a:ext cx="2037960" cy="172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Multi-seed metrics, small-damage analysis, error analysis and efficiency.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Shape 27"/>
          <p:cNvSpPr/>
          <p:nvPr/>
        </p:nvSpPr>
        <p:spPr>
          <a:xfrm>
            <a:off x="3127320" y="2340720"/>
            <a:ext cx="318960" cy="227520"/>
          </a:xfrm>
          <a:prstGeom prst="chevron">
            <a:avLst>
              <a:gd name="adj" fmla="val 50000"/>
            </a:avLst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6" name="Shape 28"/>
          <p:cNvSpPr/>
          <p:nvPr/>
        </p:nvSpPr>
        <p:spPr>
          <a:xfrm>
            <a:off x="5916240" y="2340720"/>
            <a:ext cx="318960" cy="227520"/>
          </a:xfrm>
          <a:prstGeom prst="chevron">
            <a:avLst>
              <a:gd name="adj" fmla="val 50000"/>
            </a:avLst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Shape 29"/>
          <p:cNvSpPr/>
          <p:nvPr/>
        </p:nvSpPr>
        <p:spPr>
          <a:xfrm>
            <a:off x="8705160" y="2340720"/>
            <a:ext cx="318960" cy="227520"/>
          </a:xfrm>
          <a:prstGeom prst="chevron">
            <a:avLst>
              <a:gd name="adj" fmla="val 50000"/>
            </a:avLst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Text 30"/>
          <p:cNvSpPr/>
          <p:nvPr/>
        </p:nvSpPr>
        <p:spPr>
          <a:xfrm>
            <a:off x="667440" y="4069080"/>
            <a:ext cx="32907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00" spc="-1" strike="noStrike">
                <a:solidFill>
                  <a:srgbClr val="14213d"/>
                </a:solidFill>
                <a:latin typeface="Aptos"/>
              </a:rPr>
              <a:t>Product integration happens after the model is validated.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Shape 31"/>
          <p:cNvSpPr/>
          <p:nvPr/>
        </p:nvSpPr>
        <p:spPr>
          <a:xfrm>
            <a:off x="658440" y="4480560"/>
            <a:ext cx="3245040" cy="10962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Shape 32"/>
          <p:cNvSpPr/>
          <p:nvPr/>
        </p:nvSpPr>
        <p:spPr>
          <a:xfrm>
            <a:off x="658440" y="4480560"/>
            <a:ext cx="53640" cy="1096200"/>
          </a:xfrm>
          <a:prstGeom prst="rect">
            <a:avLst/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Text 33"/>
          <p:cNvSpPr/>
          <p:nvPr/>
        </p:nvSpPr>
        <p:spPr>
          <a:xfrm>
            <a:off x="859680" y="4617720"/>
            <a:ext cx="2860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Vision layer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Text 34"/>
          <p:cNvSpPr/>
          <p:nvPr/>
        </p:nvSpPr>
        <p:spPr>
          <a:xfrm>
            <a:off x="859680" y="4956120"/>
            <a:ext cx="2860920" cy="49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Image quality → segmentation → masks → class → calibrated confidence.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Shape 35"/>
          <p:cNvSpPr/>
          <p:nvPr/>
        </p:nvSpPr>
        <p:spPr>
          <a:xfrm>
            <a:off x="4114800" y="4827960"/>
            <a:ext cx="501840" cy="254880"/>
          </a:xfrm>
          <a:prstGeom prst="chevron">
            <a:avLst>
              <a:gd name="adj" fmla="val 50000"/>
            </a:avLst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Shape 36"/>
          <p:cNvSpPr/>
          <p:nvPr/>
        </p:nvSpPr>
        <p:spPr>
          <a:xfrm>
            <a:off x="4709160" y="4480560"/>
            <a:ext cx="2925000" cy="10962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Shape 37"/>
          <p:cNvSpPr/>
          <p:nvPr/>
        </p:nvSpPr>
        <p:spPr>
          <a:xfrm>
            <a:off x="4709160" y="4480560"/>
            <a:ext cx="53640" cy="109620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Text 38"/>
          <p:cNvSpPr/>
          <p:nvPr/>
        </p:nvSpPr>
        <p:spPr>
          <a:xfrm>
            <a:off x="4910400" y="4617720"/>
            <a:ext cx="25408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Structured result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Text 39"/>
          <p:cNvSpPr/>
          <p:nvPr/>
        </p:nvSpPr>
        <p:spPr>
          <a:xfrm>
            <a:off x="4910400" y="4956120"/>
            <a:ext cx="2540880" cy="49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Typed evidence passed to the application and conversational layer.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Shape 40"/>
          <p:cNvSpPr/>
          <p:nvPr/>
        </p:nvSpPr>
        <p:spPr>
          <a:xfrm>
            <a:off x="7882200" y="4827960"/>
            <a:ext cx="501840" cy="254880"/>
          </a:xfrm>
          <a:prstGeom prst="chevron">
            <a:avLst>
              <a:gd name="adj" fmla="val 50000"/>
            </a:avLst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Shape 41"/>
          <p:cNvSpPr/>
          <p:nvPr/>
        </p:nvSpPr>
        <p:spPr>
          <a:xfrm>
            <a:off x="8485560" y="4480560"/>
            <a:ext cx="3062160" cy="10962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Shape 42"/>
          <p:cNvSpPr/>
          <p:nvPr/>
        </p:nvSpPr>
        <p:spPr>
          <a:xfrm>
            <a:off x="8485560" y="4480560"/>
            <a:ext cx="53640" cy="1096200"/>
          </a:xfrm>
          <a:prstGeom prst="rect">
            <a:avLst/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Text 43"/>
          <p:cNvSpPr/>
          <p:nvPr/>
        </p:nvSpPr>
        <p:spPr>
          <a:xfrm>
            <a:off x="8686800" y="4617720"/>
            <a:ext cx="26780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Conversational layer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 44"/>
          <p:cNvSpPr/>
          <p:nvPr/>
        </p:nvSpPr>
        <p:spPr>
          <a:xfrm>
            <a:off x="8686800" y="4956120"/>
            <a:ext cx="2678040" cy="49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LangChain LLM explains findings and handles follow-up chat.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1"/>
          <p:cNvSpPr>
            <a:spLocks noGrp="1"/>
          </p:cNvSpPr>
          <p:nvPr>
            <p:ph type="sldNum" idx="7"/>
          </p:nvPr>
        </p:nvSpPr>
        <p:spPr>
          <a:xfrm>
            <a:off x="11292840" y="6574680"/>
            <a:ext cx="798840" cy="29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7b8494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14466BA8-47B6-412C-A7CB-3BC7432100A3}" type="slidenum">
              <a:rPr b="0" lang="en-US" sz="850" spc="-1" strike="noStrike">
                <a:solidFill>
                  <a:srgbClr val="7b8494"/>
                </a:solidFill>
                <a:latin typeface="Aptos"/>
                <a:ea typeface="Aptos"/>
              </a:rPr>
              <a:t>&lt;number&gt;</a:t>
            </a:fld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Text 0"/>
          <p:cNvSpPr/>
          <p:nvPr/>
        </p:nvSpPr>
        <p:spPr>
          <a:xfrm>
            <a:off x="567000" y="292680"/>
            <a:ext cx="8960040" cy="40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14213d"/>
                </a:solidFill>
                <a:latin typeface="Aptos Display"/>
                <a:ea typeface="Aptos Display"/>
              </a:rPr>
              <a:t>Architecture / Process Flow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Text 1"/>
          <p:cNvSpPr/>
          <p:nvPr/>
        </p:nvSpPr>
        <p:spPr>
          <a:xfrm>
            <a:off x="585360" y="749880"/>
            <a:ext cx="1069740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667085"/>
                </a:solidFill>
                <a:latin typeface="Aptos"/>
                <a:ea typeface="Aptos"/>
              </a:rPr>
              <a:t>Human-inspired principle: global context → suspicious region → local detail → precise segmentation.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Text 2"/>
          <p:cNvSpPr/>
          <p:nvPr/>
        </p:nvSpPr>
        <p:spPr>
          <a:xfrm>
            <a:off x="10168200" y="356760"/>
            <a:ext cx="14162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72" strike="noStrike">
                <a:solidFill>
                  <a:srgbClr val="2f67e8"/>
                </a:solidFill>
                <a:latin typeface="Aptos"/>
                <a:ea typeface="Aptos"/>
              </a:rPr>
              <a:t>04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Shape 3"/>
          <p:cNvSpPr/>
          <p:nvPr/>
        </p:nvSpPr>
        <p:spPr>
          <a:xfrm>
            <a:off x="658440" y="1078920"/>
            <a:ext cx="474480" cy="291600"/>
          </a:xfrm>
          <a:prstGeom prst="roundRect">
            <a:avLst>
              <a:gd name="adj" fmla="val 37500"/>
            </a:avLst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8" name="Text 4"/>
          <p:cNvSpPr/>
          <p:nvPr/>
        </p:nvSpPr>
        <p:spPr>
          <a:xfrm>
            <a:off x="658440" y="1143000"/>
            <a:ext cx="474480" cy="10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Aptos"/>
              </a:rPr>
              <a:t>A1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Text 5"/>
          <p:cNvSpPr/>
          <p:nvPr/>
        </p:nvSpPr>
        <p:spPr>
          <a:xfrm>
            <a:off x="1243440" y="1115640"/>
            <a:ext cx="19191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20" spc="-1" strike="noStrike">
                <a:solidFill>
                  <a:srgbClr val="14213d"/>
                </a:solidFill>
                <a:latin typeface="Aptos"/>
              </a:rPr>
              <a:t>Human inspection analogy</a:t>
            </a:r>
            <a:endParaRPr b="0" lang="en-US" sz="11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Shape 6"/>
          <p:cNvSpPr/>
          <p:nvPr/>
        </p:nvSpPr>
        <p:spPr>
          <a:xfrm>
            <a:off x="658440" y="1572840"/>
            <a:ext cx="1736280" cy="84024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Shape 7"/>
          <p:cNvSpPr/>
          <p:nvPr/>
        </p:nvSpPr>
        <p:spPr>
          <a:xfrm>
            <a:off x="658440" y="1572840"/>
            <a:ext cx="53640" cy="84024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Text 8"/>
          <p:cNvSpPr/>
          <p:nvPr/>
        </p:nvSpPr>
        <p:spPr>
          <a:xfrm>
            <a:off x="859680" y="1710000"/>
            <a:ext cx="13521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Whole vehicle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Text 9"/>
          <p:cNvSpPr/>
          <p:nvPr/>
        </p:nvSpPr>
        <p:spPr>
          <a:xfrm>
            <a:off x="859680" y="2048400"/>
            <a:ext cx="135216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70" spc="-1" strike="noStrike">
                <a:solidFill>
                  <a:srgbClr val="18212f"/>
                </a:solidFill>
                <a:latin typeface="Aptos"/>
                <a:ea typeface="Aptos"/>
              </a:rPr>
              <a:t>Observe overall view</a:t>
            </a:r>
            <a:endParaRPr b="0" lang="en-US" sz="8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Shape 10"/>
          <p:cNvSpPr/>
          <p:nvPr/>
        </p:nvSpPr>
        <p:spPr>
          <a:xfrm>
            <a:off x="2468880" y="1856160"/>
            <a:ext cx="291600" cy="190800"/>
          </a:xfrm>
          <a:prstGeom prst="chevron">
            <a:avLst>
              <a:gd name="adj" fmla="val 50000"/>
            </a:avLst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Shape 11"/>
          <p:cNvSpPr/>
          <p:nvPr/>
        </p:nvSpPr>
        <p:spPr>
          <a:xfrm>
            <a:off x="2788920" y="1572840"/>
            <a:ext cx="1736280" cy="84024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Shape 12"/>
          <p:cNvSpPr/>
          <p:nvPr/>
        </p:nvSpPr>
        <p:spPr>
          <a:xfrm>
            <a:off x="2788920" y="1572840"/>
            <a:ext cx="53640" cy="840240"/>
          </a:xfrm>
          <a:prstGeom prst="rect">
            <a:avLst/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7" name="Text 13"/>
          <p:cNvSpPr/>
          <p:nvPr/>
        </p:nvSpPr>
        <p:spPr>
          <a:xfrm>
            <a:off x="2990160" y="1710000"/>
            <a:ext cx="13521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Global context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Text 14"/>
          <p:cNvSpPr/>
          <p:nvPr/>
        </p:nvSpPr>
        <p:spPr>
          <a:xfrm>
            <a:off x="2990160" y="2048400"/>
            <a:ext cx="135216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fontScale="96666" lnSpcReduction="10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70" spc="-1" strike="noStrike">
                <a:solidFill>
                  <a:srgbClr val="18212f"/>
                </a:solidFill>
                <a:latin typeface="Aptos"/>
                <a:ea typeface="Aptos"/>
              </a:rPr>
              <a:t>Understand surrounding structure</a:t>
            </a:r>
            <a:endParaRPr b="0" lang="en-US" sz="8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Shape 15"/>
          <p:cNvSpPr/>
          <p:nvPr/>
        </p:nvSpPr>
        <p:spPr>
          <a:xfrm>
            <a:off x="4599360" y="1856160"/>
            <a:ext cx="291600" cy="190800"/>
          </a:xfrm>
          <a:prstGeom prst="chevron">
            <a:avLst>
              <a:gd name="adj" fmla="val 50000"/>
            </a:avLst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0" name="Shape 16"/>
          <p:cNvSpPr/>
          <p:nvPr/>
        </p:nvSpPr>
        <p:spPr>
          <a:xfrm>
            <a:off x="4919400" y="1572840"/>
            <a:ext cx="1736280" cy="84024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Shape 17"/>
          <p:cNvSpPr/>
          <p:nvPr/>
        </p:nvSpPr>
        <p:spPr>
          <a:xfrm>
            <a:off x="4919400" y="1572840"/>
            <a:ext cx="53640" cy="840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Text 18"/>
          <p:cNvSpPr/>
          <p:nvPr/>
        </p:nvSpPr>
        <p:spPr>
          <a:xfrm>
            <a:off x="5120640" y="1710000"/>
            <a:ext cx="13521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Discrepancy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Text 19"/>
          <p:cNvSpPr/>
          <p:nvPr/>
        </p:nvSpPr>
        <p:spPr>
          <a:xfrm>
            <a:off x="5120640" y="2048400"/>
            <a:ext cx="135216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fontScale="96666" lnSpcReduction="10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70" spc="-1" strike="noStrike">
                <a:solidFill>
                  <a:srgbClr val="18212f"/>
                </a:solidFill>
                <a:latin typeface="Aptos"/>
                <a:ea typeface="Aptos"/>
              </a:rPr>
              <a:t>Notice an unusual pattern</a:t>
            </a:r>
            <a:endParaRPr b="0" lang="en-US" sz="8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Shape 20"/>
          <p:cNvSpPr/>
          <p:nvPr/>
        </p:nvSpPr>
        <p:spPr>
          <a:xfrm>
            <a:off x="6729840" y="1856160"/>
            <a:ext cx="291600" cy="190800"/>
          </a:xfrm>
          <a:prstGeom prst="chevron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Shape 21"/>
          <p:cNvSpPr/>
          <p:nvPr/>
        </p:nvSpPr>
        <p:spPr>
          <a:xfrm>
            <a:off x="7049880" y="1572840"/>
            <a:ext cx="1736280" cy="84024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Shape 22"/>
          <p:cNvSpPr/>
          <p:nvPr/>
        </p:nvSpPr>
        <p:spPr>
          <a:xfrm>
            <a:off x="7049880" y="1572840"/>
            <a:ext cx="53640" cy="840240"/>
          </a:xfrm>
          <a:prstGeom prst="rect">
            <a:avLst/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7" name="Text 23"/>
          <p:cNvSpPr/>
          <p:nvPr/>
        </p:nvSpPr>
        <p:spPr>
          <a:xfrm>
            <a:off x="7251120" y="1710000"/>
            <a:ext cx="13521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Focus region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Text 24"/>
          <p:cNvSpPr/>
          <p:nvPr/>
        </p:nvSpPr>
        <p:spPr>
          <a:xfrm>
            <a:off x="7251120" y="2048400"/>
            <a:ext cx="135216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70" spc="-1" strike="noStrike">
                <a:solidFill>
                  <a:srgbClr val="18212f"/>
                </a:solidFill>
                <a:latin typeface="Aptos"/>
                <a:ea typeface="Aptos"/>
              </a:rPr>
              <a:t>Attention shifts to area</a:t>
            </a:r>
            <a:endParaRPr b="0" lang="en-US" sz="8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Shape 25"/>
          <p:cNvSpPr/>
          <p:nvPr/>
        </p:nvSpPr>
        <p:spPr>
          <a:xfrm>
            <a:off x="8860680" y="1856160"/>
            <a:ext cx="291600" cy="190800"/>
          </a:xfrm>
          <a:prstGeom prst="chevron">
            <a:avLst>
              <a:gd name="adj" fmla="val 50000"/>
            </a:avLst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0" name="Shape 26"/>
          <p:cNvSpPr/>
          <p:nvPr/>
        </p:nvSpPr>
        <p:spPr>
          <a:xfrm>
            <a:off x="9180720" y="1572840"/>
            <a:ext cx="1736280" cy="84024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Shape 27"/>
          <p:cNvSpPr/>
          <p:nvPr/>
        </p:nvSpPr>
        <p:spPr>
          <a:xfrm>
            <a:off x="9180720" y="1572840"/>
            <a:ext cx="53640" cy="84024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2" name="Text 28"/>
          <p:cNvSpPr/>
          <p:nvPr/>
        </p:nvSpPr>
        <p:spPr>
          <a:xfrm>
            <a:off x="9381600" y="1710000"/>
            <a:ext cx="13521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Local evidence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Text 29"/>
          <p:cNvSpPr/>
          <p:nvPr/>
        </p:nvSpPr>
        <p:spPr>
          <a:xfrm>
            <a:off x="9381600" y="2048400"/>
            <a:ext cx="135216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fontScale="96666" lnSpcReduction="10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70" spc="-1" strike="noStrike">
                <a:solidFill>
                  <a:srgbClr val="18212f"/>
                </a:solidFill>
                <a:latin typeface="Aptos"/>
                <a:ea typeface="Aptos"/>
              </a:rPr>
              <a:t>Inspect texture / boundary</a:t>
            </a:r>
            <a:endParaRPr b="0" lang="en-US" sz="87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Shape 30"/>
          <p:cNvSpPr/>
          <p:nvPr/>
        </p:nvSpPr>
        <p:spPr>
          <a:xfrm>
            <a:off x="658440" y="2880360"/>
            <a:ext cx="474480" cy="291600"/>
          </a:xfrm>
          <a:prstGeom prst="roundRect">
            <a:avLst>
              <a:gd name="adj" fmla="val 37500"/>
            </a:avLst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5" name="Text 31"/>
          <p:cNvSpPr/>
          <p:nvPr/>
        </p:nvSpPr>
        <p:spPr>
          <a:xfrm>
            <a:off x="658440" y="2944440"/>
            <a:ext cx="474480" cy="10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Aptos"/>
              </a:rPr>
              <a:t>A2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Text 32"/>
          <p:cNvSpPr/>
          <p:nvPr/>
        </p:nvSpPr>
        <p:spPr>
          <a:xfrm>
            <a:off x="1243440" y="2917080"/>
            <a:ext cx="16448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20" spc="-1" strike="noStrike">
                <a:solidFill>
                  <a:srgbClr val="14213d"/>
                </a:solidFill>
                <a:latin typeface="Aptos"/>
              </a:rPr>
              <a:t>Model translation</a:t>
            </a:r>
            <a:endParaRPr b="0" lang="en-US" sz="11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Shape 33"/>
          <p:cNvSpPr/>
          <p:nvPr/>
        </p:nvSpPr>
        <p:spPr>
          <a:xfrm>
            <a:off x="658440" y="3364920"/>
            <a:ext cx="2376360" cy="114192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Shape 34"/>
          <p:cNvSpPr/>
          <p:nvPr/>
        </p:nvSpPr>
        <p:spPr>
          <a:xfrm>
            <a:off x="658440" y="3364920"/>
            <a:ext cx="53640" cy="1141920"/>
          </a:xfrm>
          <a:prstGeom prst="rect">
            <a:avLst/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9" name="Text 35"/>
          <p:cNvSpPr/>
          <p:nvPr/>
        </p:nvSpPr>
        <p:spPr>
          <a:xfrm>
            <a:off x="859680" y="3502080"/>
            <a:ext cx="19922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CNN encoder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Text 36"/>
          <p:cNvSpPr/>
          <p:nvPr/>
        </p:nvSpPr>
        <p:spPr>
          <a:xfrm>
            <a:off x="859680" y="3840480"/>
            <a:ext cx="1992240" cy="53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Local edges, textures, shapes and hierarchical features.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Shape 37"/>
          <p:cNvSpPr/>
          <p:nvPr/>
        </p:nvSpPr>
        <p:spPr>
          <a:xfrm>
            <a:off x="3182040" y="3730680"/>
            <a:ext cx="501840" cy="227520"/>
          </a:xfrm>
          <a:prstGeom prst="chevron">
            <a:avLst>
              <a:gd name="adj" fmla="val 50000"/>
            </a:avLst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2" name="Shape 38"/>
          <p:cNvSpPr/>
          <p:nvPr/>
        </p:nvSpPr>
        <p:spPr>
          <a:xfrm>
            <a:off x="3794760" y="3364920"/>
            <a:ext cx="2559240" cy="114192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Shape 39"/>
          <p:cNvSpPr/>
          <p:nvPr/>
        </p:nvSpPr>
        <p:spPr>
          <a:xfrm>
            <a:off x="3794760" y="3364920"/>
            <a:ext cx="53640" cy="1141920"/>
          </a:xfrm>
          <a:prstGeom prst="rect">
            <a:avLst/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4" name="Text 40"/>
          <p:cNvSpPr/>
          <p:nvPr/>
        </p:nvSpPr>
        <p:spPr>
          <a:xfrm>
            <a:off x="3996000" y="3502080"/>
            <a:ext cx="21751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Transformer bottleneck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Text 41"/>
          <p:cNvSpPr/>
          <p:nvPr/>
        </p:nvSpPr>
        <p:spPr>
          <a:xfrm>
            <a:off x="3996000" y="3840480"/>
            <a:ext cx="2175120" cy="53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Global spatial relationships at 16×16 feature resolution.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Shape 42"/>
          <p:cNvSpPr/>
          <p:nvPr/>
        </p:nvSpPr>
        <p:spPr>
          <a:xfrm>
            <a:off x="6519600" y="3730680"/>
            <a:ext cx="501840" cy="227520"/>
          </a:xfrm>
          <a:prstGeom prst="chevron">
            <a:avLst>
              <a:gd name="adj" fmla="val 50000"/>
            </a:avLst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7" name="Shape 43"/>
          <p:cNvSpPr/>
          <p:nvPr/>
        </p:nvSpPr>
        <p:spPr>
          <a:xfrm>
            <a:off x="7132320" y="3364920"/>
            <a:ext cx="2376360" cy="114192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Shape 44"/>
          <p:cNvSpPr/>
          <p:nvPr/>
        </p:nvSpPr>
        <p:spPr>
          <a:xfrm>
            <a:off x="7132320" y="3364920"/>
            <a:ext cx="53640" cy="114192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9" name="Text 45"/>
          <p:cNvSpPr/>
          <p:nvPr/>
        </p:nvSpPr>
        <p:spPr>
          <a:xfrm>
            <a:off x="7333560" y="3502080"/>
            <a:ext cx="19922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Feature fusion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Text 46"/>
          <p:cNvSpPr/>
          <p:nvPr/>
        </p:nvSpPr>
        <p:spPr>
          <a:xfrm>
            <a:off x="7333560" y="3840480"/>
            <a:ext cx="1992240" cy="53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Global context + local CNN bottleneck through residual addition.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Shape 47"/>
          <p:cNvSpPr/>
          <p:nvPr/>
        </p:nvSpPr>
        <p:spPr>
          <a:xfrm>
            <a:off x="9655920" y="3730680"/>
            <a:ext cx="501840" cy="227520"/>
          </a:xfrm>
          <a:prstGeom prst="chevron">
            <a:avLst>
              <a:gd name="adj" fmla="val 50000"/>
            </a:avLst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2" name="Shape 48"/>
          <p:cNvSpPr/>
          <p:nvPr/>
        </p:nvSpPr>
        <p:spPr>
          <a:xfrm>
            <a:off x="10268640" y="3364920"/>
            <a:ext cx="1306440" cy="114192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Shape 49"/>
          <p:cNvSpPr/>
          <p:nvPr/>
        </p:nvSpPr>
        <p:spPr>
          <a:xfrm>
            <a:off x="10268640" y="3364920"/>
            <a:ext cx="53640" cy="1141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Text 50"/>
          <p:cNvSpPr/>
          <p:nvPr/>
        </p:nvSpPr>
        <p:spPr>
          <a:xfrm>
            <a:off x="10469880" y="3502080"/>
            <a:ext cx="922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Decoder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Text 51"/>
          <p:cNvSpPr/>
          <p:nvPr/>
        </p:nvSpPr>
        <p:spPr>
          <a:xfrm>
            <a:off x="10469880" y="3840480"/>
            <a:ext cx="922320" cy="53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18212f"/>
                </a:solidFill>
                <a:latin typeface="Aptos"/>
                <a:ea typeface="Aptos"/>
              </a:rPr>
              <a:t>Recover detail → mask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Shape 52"/>
          <p:cNvSpPr/>
          <p:nvPr/>
        </p:nvSpPr>
        <p:spPr>
          <a:xfrm>
            <a:off x="2011680" y="4983480"/>
            <a:ext cx="8137080" cy="867600"/>
          </a:xfrm>
          <a:prstGeom prst="roundRect">
            <a:avLst>
              <a:gd name="adj" fmla="val 6316"/>
            </a:avLst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7" name="Text 53"/>
          <p:cNvSpPr/>
          <p:nvPr/>
        </p:nvSpPr>
        <p:spPr>
          <a:xfrm>
            <a:off x="2267640" y="5184720"/>
            <a:ext cx="1324800" cy="15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9eb9ea"/>
                </a:solidFill>
                <a:latin typeface="Aptos"/>
              </a:rPr>
              <a:t>Design statement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Text 54"/>
          <p:cNvSpPr/>
          <p:nvPr/>
        </p:nvSpPr>
        <p:spPr>
          <a:xfrm>
            <a:off x="3566160" y="5102280"/>
            <a:ext cx="6262560" cy="38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Aptos"/>
              </a:rPr>
              <a:t>The model jointly captures global vehicle context and local visual features to improve pixel-level damage segmentation.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1"/>
          <p:cNvSpPr>
            <a:spLocks noGrp="1"/>
          </p:cNvSpPr>
          <p:nvPr>
            <p:ph type="sldNum" idx="8"/>
          </p:nvPr>
        </p:nvSpPr>
        <p:spPr>
          <a:xfrm>
            <a:off x="11292840" y="6574680"/>
            <a:ext cx="798840" cy="29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7b8494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6D4D6B61-9CB6-456C-97B2-0300ADBA5367}" type="slidenum">
              <a:rPr b="0" lang="en-US" sz="850" spc="-1" strike="noStrike">
                <a:solidFill>
                  <a:srgbClr val="7b8494"/>
                </a:solidFill>
                <a:latin typeface="Aptos"/>
                <a:ea typeface="Aptos"/>
              </a:rPr>
              <a:t>&lt;number&gt;</a:t>
            </a:fld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Text 0"/>
          <p:cNvSpPr/>
          <p:nvPr/>
        </p:nvSpPr>
        <p:spPr>
          <a:xfrm>
            <a:off x="567000" y="292680"/>
            <a:ext cx="8960040" cy="40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14213d"/>
                </a:solidFill>
                <a:latin typeface="Aptos Display"/>
                <a:ea typeface="Aptos Display"/>
              </a:rPr>
              <a:t>CarDD Dataset &amp; Evaluation Protocol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Text 1"/>
          <p:cNvSpPr/>
          <p:nvPr/>
        </p:nvSpPr>
        <p:spPr>
          <a:xfrm>
            <a:off x="585360" y="749880"/>
            <a:ext cx="1069740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667085"/>
                </a:solidFill>
                <a:latin typeface="Aptos"/>
                <a:ea typeface="Aptos"/>
              </a:rPr>
              <a:t>Keep the official split structure intact; test remains untouched until final evaluation.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Text 2"/>
          <p:cNvSpPr/>
          <p:nvPr/>
        </p:nvSpPr>
        <p:spPr>
          <a:xfrm>
            <a:off x="10168200" y="356760"/>
            <a:ext cx="14162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72" strike="noStrike">
                <a:solidFill>
                  <a:srgbClr val="2f67e8"/>
                </a:solidFill>
                <a:latin typeface="Aptos"/>
                <a:ea typeface="Aptos"/>
              </a:rPr>
              <a:t>05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Shape 3"/>
          <p:cNvSpPr/>
          <p:nvPr/>
        </p:nvSpPr>
        <p:spPr>
          <a:xfrm>
            <a:off x="658440" y="1234440"/>
            <a:ext cx="3245040" cy="150768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Shape 4"/>
          <p:cNvSpPr/>
          <p:nvPr/>
        </p:nvSpPr>
        <p:spPr>
          <a:xfrm>
            <a:off x="658440" y="1234440"/>
            <a:ext cx="53640" cy="1507680"/>
          </a:xfrm>
          <a:prstGeom prst="rect">
            <a:avLst/>
          </a:prstGeom>
          <a:solidFill>
            <a:srgbClr val="c29e7f"/>
          </a:solidFill>
          <a:ln w="12700">
            <a:solidFill>
              <a:srgbClr val="c29e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Text 5"/>
          <p:cNvSpPr/>
          <p:nvPr/>
        </p:nvSpPr>
        <p:spPr>
          <a:xfrm>
            <a:off x="859680" y="1371600"/>
            <a:ext cx="2860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Training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Text 6"/>
          <p:cNvSpPr/>
          <p:nvPr/>
        </p:nvSpPr>
        <p:spPr>
          <a:xfrm>
            <a:off x="859680" y="1710000"/>
            <a:ext cx="2860920" cy="90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8212f"/>
                </a:solidFill>
                <a:latin typeface="Aptos"/>
                <a:ea typeface="Aptos"/>
              </a:rPr>
              <a:t>2,816 images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8212f"/>
                </a:solidFill>
                <a:latin typeface="Aptos"/>
                <a:ea typeface="Aptos"/>
              </a:rPr>
              <a:t>Parameter learning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Text 7"/>
          <p:cNvSpPr/>
          <p:nvPr/>
        </p:nvSpPr>
        <p:spPr>
          <a:xfrm>
            <a:off x="2743200" y="1435680"/>
            <a:ext cx="88596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14213d"/>
                </a:solidFill>
                <a:latin typeface="Aptos"/>
              </a:rPr>
              <a:t>2,816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Shape 8"/>
          <p:cNvSpPr/>
          <p:nvPr/>
        </p:nvSpPr>
        <p:spPr>
          <a:xfrm>
            <a:off x="4407480" y="1234440"/>
            <a:ext cx="3245040" cy="150768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Shape 9"/>
          <p:cNvSpPr/>
          <p:nvPr/>
        </p:nvSpPr>
        <p:spPr>
          <a:xfrm>
            <a:off x="4407480" y="1234440"/>
            <a:ext cx="53640" cy="1507680"/>
          </a:xfrm>
          <a:prstGeom prst="rect">
            <a:avLst/>
          </a:prstGeom>
          <a:solidFill>
            <a:srgbClr val="4a80e8"/>
          </a:solidFill>
          <a:ln w="12700">
            <a:solidFill>
              <a:srgbClr val="4a80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0" name="Text 10"/>
          <p:cNvSpPr/>
          <p:nvPr/>
        </p:nvSpPr>
        <p:spPr>
          <a:xfrm>
            <a:off x="4608720" y="1371600"/>
            <a:ext cx="2860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Validation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Text 11"/>
          <p:cNvSpPr/>
          <p:nvPr/>
        </p:nvSpPr>
        <p:spPr>
          <a:xfrm>
            <a:off x="4608720" y="1710000"/>
            <a:ext cx="2860920" cy="90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8212f"/>
                </a:solidFill>
                <a:latin typeface="Aptos"/>
                <a:ea typeface="Aptos"/>
              </a:rPr>
              <a:t>810 images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8212f"/>
                </a:solidFill>
                <a:latin typeface="Aptos"/>
                <a:ea typeface="Aptos"/>
              </a:rPr>
              <a:t>Checkpoint / tuning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Text 12"/>
          <p:cNvSpPr/>
          <p:nvPr/>
        </p:nvSpPr>
        <p:spPr>
          <a:xfrm>
            <a:off x="6693480" y="1435680"/>
            <a:ext cx="6847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14213d"/>
                </a:solidFill>
                <a:latin typeface="Aptos"/>
              </a:rPr>
              <a:t>810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Shape 13"/>
          <p:cNvSpPr/>
          <p:nvPr/>
        </p:nvSpPr>
        <p:spPr>
          <a:xfrm>
            <a:off x="8156520" y="1234440"/>
            <a:ext cx="3245040" cy="1507680"/>
          </a:xfrm>
          <a:prstGeom prst="roundRect">
            <a:avLst>
              <a:gd name="adj" fmla="val 4848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Shape 14"/>
          <p:cNvSpPr/>
          <p:nvPr/>
        </p:nvSpPr>
        <p:spPr>
          <a:xfrm>
            <a:off x="8156520" y="1234440"/>
            <a:ext cx="53640" cy="1507680"/>
          </a:xfrm>
          <a:prstGeom prst="rect">
            <a:avLst/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5" name="Text 15"/>
          <p:cNvSpPr/>
          <p:nvPr/>
        </p:nvSpPr>
        <p:spPr>
          <a:xfrm>
            <a:off x="8357760" y="1371600"/>
            <a:ext cx="2860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Testing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Text 16"/>
          <p:cNvSpPr/>
          <p:nvPr/>
        </p:nvSpPr>
        <p:spPr>
          <a:xfrm>
            <a:off x="8357760" y="1710000"/>
            <a:ext cx="2860920" cy="90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8212f"/>
                </a:solidFill>
                <a:latin typeface="Aptos"/>
                <a:ea typeface="Aptos"/>
              </a:rPr>
              <a:t>374 images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8212f"/>
                </a:solidFill>
                <a:latin typeface="Aptos"/>
                <a:ea typeface="Aptos"/>
              </a:rPr>
              <a:t>Final evaluation only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Text 17"/>
          <p:cNvSpPr/>
          <p:nvPr/>
        </p:nvSpPr>
        <p:spPr>
          <a:xfrm>
            <a:off x="10442520" y="1435680"/>
            <a:ext cx="68472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14213d"/>
                </a:solidFill>
                <a:latin typeface="Aptos"/>
              </a:rPr>
              <a:t>374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Shape 18"/>
          <p:cNvSpPr/>
          <p:nvPr/>
        </p:nvSpPr>
        <p:spPr>
          <a:xfrm>
            <a:off x="658440" y="3154680"/>
            <a:ext cx="474480" cy="291600"/>
          </a:xfrm>
          <a:prstGeom prst="roundRect">
            <a:avLst>
              <a:gd name="adj" fmla="val 37500"/>
            </a:avLst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9" name="Text 19"/>
          <p:cNvSpPr/>
          <p:nvPr/>
        </p:nvSpPr>
        <p:spPr>
          <a:xfrm>
            <a:off x="658440" y="3218760"/>
            <a:ext cx="474480" cy="10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Aptos"/>
              </a:rPr>
              <a:t>D1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Text 20"/>
          <p:cNvSpPr/>
          <p:nvPr/>
        </p:nvSpPr>
        <p:spPr>
          <a:xfrm>
            <a:off x="1243440" y="3191400"/>
            <a:ext cx="150768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20" spc="-1" strike="noStrike">
                <a:solidFill>
                  <a:srgbClr val="14213d"/>
                </a:solidFill>
                <a:latin typeface="Aptos"/>
              </a:rPr>
              <a:t>Class mapping</a:t>
            </a:r>
            <a:endParaRPr b="0" lang="en-US" sz="11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Shape 21"/>
          <p:cNvSpPr/>
          <p:nvPr/>
        </p:nvSpPr>
        <p:spPr>
          <a:xfrm>
            <a:off x="658440" y="3593520"/>
            <a:ext cx="2513520" cy="309960"/>
          </a:xfrm>
          <a:prstGeom prst="roundRect">
            <a:avLst>
              <a:gd name="adj" fmla="val 41176"/>
            </a:avLst>
          </a:prstGeom>
          <a:solidFill>
            <a:srgbClr val="ffffff"/>
          </a:solidFill>
          <a:ln w="1270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Text 22"/>
          <p:cNvSpPr/>
          <p:nvPr/>
        </p:nvSpPr>
        <p:spPr>
          <a:xfrm>
            <a:off x="731520" y="3657600"/>
            <a:ext cx="2367360" cy="1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667085"/>
                </a:solidFill>
                <a:latin typeface="Aptos"/>
              </a:rPr>
              <a:t>background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Shape 23"/>
          <p:cNvSpPr/>
          <p:nvPr/>
        </p:nvSpPr>
        <p:spPr>
          <a:xfrm>
            <a:off x="3447360" y="3593520"/>
            <a:ext cx="2513520" cy="309960"/>
          </a:xfrm>
          <a:prstGeom prst="roundRect">
            <a:avLst>
              <a:gd name="adj" fmla="val 41176"/>
            </a:avLst>
          </a:prstGeom>
          <a:solidFill>
            <a:srgbClr val="eef4ff"/>
          </a:solidFill>
          <a:ln w="12700">
            <a:solidFill>
              <a:srgbClr val="eef4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Text 24"/>
          <p:cNvSpPr/>
          <p:nvPr/>
        </p:nvSpPr>
        <p:spPr>
          <a:xfrm>
            <a:off x="3520440" y="3657600"/>
            <a:ext cx="2367360" cy="1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2f67e8"/>
                </a:solidFill>
                <a:latin typeface="Aptos"/>
              </a:rPr>
              <a:t>dent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Shape 25"/>
          <p:cNvSpPr/>
          <p:nvPr/>
        </p:nvSpPr>
        <p:spPr>
          <a:xfrm>
            <a:off x="6236280" y="3593520"/>
            <a:ext cx="2513520" cy="309960"/>
          </a:xfrm>
          <a:prstGeom prst="roundRect">
            <a:avLst>
              <a:gd name="adj" fmla="val 41176"/>
            </a:avLst>
          </a:prstGeom>
          <a:solidFill>
            <a:srgbClr val="eef4ff"/>
          </a:solidFill>
          <a:ln w="12700">
            <a:solidFill>
              <a:srgbClr val="eef4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Text 26"/>
          <p:cNvSpPr/>
          <p:nvPr/>
        </p:nvSpPr>
        <p:spPr>
          <a:xfrm>
            <a:off x="6309360" y="3657600"/>
            <a:ext cx="2367360" cy="1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2f67e8"/>
                </a:solidFill>
                <a:latin typeface="Aptos"/>
              </a:rPr>
              <a:t>scratch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7" name="Shape 27"/>
          <p:cNvSpPr/>
          <p:nvPr/>
        </p:nvSpPr>
        <p:spPr>
          <a:xfrm>
            <a:off x="9025200" y="3593520"/>
            <a:ext cx="2513520" cy="309960"/>
          </a:xfrm>
          <a:prstGeom prst="roundRect">
            <a:avLst>
              <a:gd name="adj" fmla="val 41176"/>
            </a:avLst>
          </a:prstGeom>
          <a:solidFill>
            <a:srgbClr val="eef4ff"/>
          </a:solidFill>
          <a:ln w="12700">
            <a:solidFill>
              <a:srgbClr val="eef4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Text 28"/>
          <p:cNvSpPr/>
          <p:nvPr/>
        </p:nvSpPr>
        <p:spPr>
          <a:xfrm>
            <a:off x="9098280" y="3657600"/>
            <a:ext cx="2367360" cy="1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2f67e8"/>
                </a:solidFill>
                <a:latin typeface="Aptos"/>
              </a:rPr>
              <a:t>crack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Shape 29"/>
          <p:cNvSpPr/>
          <p:nvPr/>
        </p:nvSpPr>
        <p:spPr>
          <a:xfrm>
            <a:off x="658440" y="4096440"/>
            <a:ext cx="2513520" cy="309960"/>
          </a:xfrm>
          <a:prstGeom prst="roundRect">
            <a:avLst>
              <a:gd name="adj" fmla="val 41176"/>
            </a:avLst>
          </a:prstGeom>
          <a:solidFill>
            <a:srgbClr val="eef4ff"/>
          </a:solidFill>
          <a:ln w="12700">
            <a:solidFill>
              <a:srgbClr val="eef4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Text 30"/>
          <p:cNvSpPr/>
          <p:nvPr/>
        </p:nvSpPr>
        <p:spPr>
          <a:xfrm>
            <a:off x="731520" y="4160520"/>
            <a:ext cx="2367360" cy="1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2f67e8"/>
                </a:solidFill>
                <a:latin typeface="Aptos"/>
              </a:rPr>
              <a:t>glass shatter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Shape 31"/>
          <p:cNvSpPr/>
          <p:nvPr/>
        </p:nvSpPr>
        <p:spPr>
          <a:xfrm>
            <a:off x="3447360" y="4096440"/>
            <a:ext cx="2513520" cy="309960"/>
          </a:xfrm>
          <a:prstGeom prst="roundRect">
            <a:avLst>
              <a:gd name="adj" fmla="val 41176"/>
            </a:avLst>
          </a:prstGeom>
          <a:solidFill>
            <a:srgbClr val="eef4ff"/>
          </a:solidFill>
          <a:ln w="12700">
            <a:solidFill>
              <a:srgbClr val="eef4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Text 32"/>
          <p:cNvSpPr/>
          <p:nvPr/>
        </p:nvSpPr>
        <p:spPr>
          <a:xfrm>
            <a:off x="3520440" y="4160520"/>
            <a:ext cx="2367360" cy="1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2f67e8"/>
                </a:solidFill>
                <a:latin typeface="Aptos"/>
              </a:rPr>
              <a:t>lamp broken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Shape 33"/>
          <p:cNvSpPr/>
          <p:nvPr/>
        </p:nvSpPr>
        <p:spPr>
          <a:xfrm>
            <a:off x="6236280" y="4096440"/>
            <a:ext cx="2513520" cy="309960"/>
          </a:xfrm>
          <a:prstGeom prst="roundRect">
            <a:avLst>
              <a:gd name="adj" fmla="val 41176"/>
            </a:avLst>
          </a:prstGeom>
          <a:solidFill>
            <a:srgbClr val="eef4ff"/>
          </a:solidFill>
          <a:ln w="12700">
            <a:solidFill>
              <a:srgbClr val="eef4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Text 34"/>
          <p:cNvSpPr/>
          <p:nvPr/>
        </p:nvSpPr>
        <p:spPr>
          <a:xfrm>
            <a:off x="6309360" y="4160520"/>
            <a:ext cx="2367360" cy="1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2f67e8"/>
                </a:solidFill>
                <a:latin typeface="Aptos"/>
              </a:rPr>
              <a:t>tire flat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Shape 35"/>
          <p:cNvSpPr/>
          <p:nvPr/>
        </p:nvSpPr>
        <p:spPr>
          <a:xfrm>
            <a:off x="658440" y="4800600"/>
            <a:ext cx="5256720" cy="913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Shape 36"/>
          <p:cNvSpPr/>
          <p:nvPr/>
        </p:nvSpPr>
        <p:spPr>
          <a:xfrm>
            <a:off x="658440" y="4800600"/>
            <a:ext cx="53640" cy="91332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" name="Text 37"/>
          <p:cNvSpPr/>
          <p:nvPr/>
        </p:nvSpPr>
        <p:spPr>
          <a:xfrm>
            <a:off x="859680" y="4937760"/>
            <a:ext cx="48726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Training policy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Text 38"/>
          <p:cNvSpPr/>
          <p:nvPr/>
        </p:nvSpPr>
        <p:spPr>
          <a:xfrm>
            <a:off x="859680" y="5276160"/>
            <a:ext cx="487260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18212f"/>
                </a:solidFill>
                <a:latin typeface="Aptos"/>
                <a:ea typeface="Aptos"/>
              </a:rPr>
              <a:t>Training: augmentation + optimization. Validation: model selection. Test: frozen until final evaluation.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Shape 39"/>
          <p:cNvSpPr/>
          <p:nvPr/>
        </p:nvSpPr>
        <p:spPr>
          <a:xfrm>
            <a:off x="6144840" y="4800600"/>
            <a:ext cx="5375520" cy="913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Shape 40"/>
          <p:cNvSpPr/>
          <p:nvPr/>
        </p:nvSpPr>
        <p:spPr>
          <a:xfrm>
            <a:off x="6144840" y="4800600"/>
            <a:ext cx="53640" cy="9133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Text 41"/>
          <p:cNvSpPr/>
          <p:nvPr/>
        </p:nvSpPr>
        <p:spPr>
          <a:xfrm>
            <a:off x="6346080" y="4937760"/>
            <a:ext cx="49914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Data constraint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Text 42"/>
          <p:cNvSpPr/>
          <p:nvPr/>
        </p:nvSpPr>
        <p:spPr>
          <a:xfrm>
            <a:off x="6346080" y="5276160"/>
            <a:ext cx="499140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80" spc="-1" strike="noStrike">
                <a:solidFill>
                  <a:srgbClr val="18212f"/>
                </a:solidFill>
                <a:latin typeface="Aptos"/>
                <a:ea typeface="Aptos"/>
              </a:rPr>
              <a:t>CarDD contains damage masks but no vehicle-part masks. Exact hood/bumper/fender segmentation is therefore not claimed.</a:t>
            </a:r>
            <a:endParaRPr b="0" lang="en-US" sz="9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1"/>
          <p:cNvSpPr>
            <a:spLocks noGrp="1"/>
          </p:cNvSpPr>
          <p:nvPr>
            <p:ph type="sldNum" idx="9"/>
          </p:nvPr>
        </p:nvSpPr>
        <p:spPr>
          <a:xfrm>
            <a:off x="11292840" y="6574680"/>
            <a:ext cx="798840" cy="29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7b8494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318300FD-AEB6-44D2-8211-5512C619310A}" type="slidenum">
              <a:rPr b="0" lang="en-US" sz="850" spc="-1" strike="noStrike">
                <a:solidFill>
                  <a:srgbClr val="7b8494"/>
                </a:solidFill>
                <a:latin typeface="Aptos"/>
                <a:ea typeface="Aptos"/>
              </a:rPr>
              <a:t>&lt;number&gt;</a:t>
            </a:fld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Text 0"/>
          <p:cNvSpPr/>
          <p:nvPr/>
        </p:nvSpPr>
        <p:spPr>
          <a:xfrm>
            <a:off x="567000" y="292680"/>
            <a:ext cx="8960040" cy="40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14213d"/>
                </a:solidFill>
                <a:latin typeface="Aptos Display"/>
                <a:ea typeface="Aptos Display"/>
              </a:rPr>
              <a:t>Proposed Hybrid Model — Detailed Architecture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Text 1"/>
          <p:cNvSpPr/>
          <p:nvPr/>
        </p:nvSpPr>
        <p:spPr>
          <a:xfrm>
            <a:off x="585360" y="749880"/>
            <a:ext cx="1069740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667085"/>
                </a:solidFill>
                <a:latin typeface="Aptos"/>
                <a:ea typeface="Aptos"/>
              </a:rPr>
              <a:t>Locked implementation specification for the first research model.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Text 2"/>
          <p:cNvSpPr/>
          <p:nvPr/>
        </p:nvSpPr>
        <p:spPr>
          <a:xfrm>
            <a:off x="10168200" y="356760"/>
            <a:ext cx="14162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72" strike="noStrike">
                <a:solidFill>
                  <a:srgbClr val="2f67e8"/>
                </a:solidFill>
                <a:latin typeface="Aptos"/>
                <a:ea typeface="Aptos"/>
              </a:rPr>
              <a:t>06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Shape 3"/>
          <p:cNvSpPr/>
          <p:nvPr/>
        </p:nvSpPr>
        <p:spPr>
          <a:xfrm>
            <a:off x="594360" y="1234440"/>
            <a:ext cx="1233360" cy="105048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Shape 4"/>
          <p:cNvSpPr/>
          <p:nvPr/>
        </p:nvSpPr>
        <p:spPr>
          <a:xfrm>
            <a:off x="594360" y="1234440"/>
            <a:ext cx="53640" cy="1050480"/>
          </a:xfrm>
          <a:prstGeom prst="rect">
            <a:avLst/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" name="Text 5"/>
          <p:cNvSpPr/>
          <p:nvPr/>
        </p:nvSpPr>
        <p:spPr>
          <a:xfrm>
            <a:off x="795600" y="1371600"/>
            <a:ext cx="8492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Input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Text 6"/>
          <p:cNvSpPr/>
          <p:nvPr/>
        </p:nvSpPr>
        <p:spPr>
          <a:xfrm>
            <a:off x="795600" y="1710000"/>
            <a:ext cx="849240" cy="44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512×512×3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Shape 7"/>
          <p:cNvSpPr/>
          <p:nvPr/>
        </p:nvSpPr>
        <p:spPr>
          <a:xfrm>
            <a:off x="1856160" y="1627560"/>
            <a:ext cx="227520" cy="172800"/>
          </a:xfrm>
          <a:prstGeom prst="chevron">
            <a:avLst>
              <a:gd name="adj" fmla="val 50000"/>
            </a:avLst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Shape 8"/>
          <p:cNvSpPr/>
          <p:nvPr/>
        </p:nvSpPr>
        <p:spPr>
          <a:xfrm>
            <a:off x="2011680" y="1234440"/>
            <a:ext cx="1233360" cy="105048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Shape 9"/>
          <p:cNvSpPr/>
          <p:nvPr/>
        </p:nvSpPr>
        <p:spPr>
          <a:xfrm>
            <a:off x="2011680" y="1234440"/>
            <a:ext cx="53640" cy="1050480"/>
          </a:xfrm>
          <a:prstGeom prst="rect">
            <a:avLst/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Text 10"/>
          <p:cNvSpPr/>
          <p:nvPr/>
        </p:nvSpPr>
        <p:spPr>
          <a:xfrm>
            <a:off x="2212920" y="1371600"/>
            <a:ext cx="8492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C2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Text 11"/>
          <p:cNvSpPr/>
          <p:nvPr/>
        </p:nvSpPr>
        <p:spPr>
          <a:xfrm>
            <a:off x="2212920" y="1710000"/>
            <a:ext cx="849240" cy="44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128×128×64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Shape 12"/>
          <p:cNvSpPr/>
          <p:nvPr/>
        </p:nvSpPr>
        <p:spPr>
          <a:xfrm>
            <a:off x="3273480" y="1627560"/>
            <a:ext cx="227520" cy="172800"/>
          </a:xfrm>
          <a:prstGeom prst="chevron">
            <a:avLst>
              <a:gd name="adj" fmla="val 50000"/>
            </a:avLst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7" name="Shape 13"/>
          <p:cNvSpPr/>
          <p:nvPr/>
        </p:nvSpPr>
        <p:spPr>
          <a:xfrm>
            <a:off x="3429000" y="1234440"/>
            <a:ext cx="1233360" cy="105048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Shape 14"/>
          <p:cNvSpPr/>
          <p:nvPr/>
        </p:nvSpPr>
        <p:spPr>
          <a:xfrm>
            <a:off x="3429000" y="1234440"/>
            <a:ext cx="53640" cy="1050480"/>
          </a:xfrm>
          <a:prstGeom prst="rect">
            <a:avLst/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9" name="Text 15"/>
          <p:cNvSpPr/>
          <p:nvPr/>
        </p:nvSpPr>
        <p:spPr>
          <a:xfrm>
            <a:off x="3630240" y="1371600"/>
            <a:ext cx="8492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C3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0" name="Text 16"/>
          <p:cNvSpPr/>
          <p:nvPr/>
        </p:nvSpPr>
        <p:spPr>
          <a:xfrm>
            <a:off x="3630240" y="1710000"/>
            <a:ext cx="849240" cy="44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64×64×128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Shape 17"/>
          <p:cNvSpPr/>
          <p:nvPr/>
        </p:nvSpPr>
        <p:spPr>
          <a:xfrm>
            <a:off x="4690800" y="1627560"/>
            <a:ext cx="227520" cy="172800"/>
          </a:xfrm>
          <a:prstGeom prst="chevron">
            <a:avLst>
              <a:gd name="adj" fmla="val 50000"/>
            </a:avLst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Shape 18"/>
          <p:cNvSpPr/>
          <p:nvPr/>
        </p:nvSpPr>
        <p:spPr>
          <a:xfrm>
            <a:off x="4846320" y="1234440"/>
            <a:ext cx="1233360" cy="105048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Shape 19"/>
          <p:cNvSpPr/>
          <p:nvPr/>
        </p:nvSpPr>
        <p:spPr>
          <a:xfrm>
            <a:off x="4846320" y="1234440"/>
            <a:ext cx="53640" cy="1050480"/>
          </a:xfrm>
          <a:prstGeom prst="rect">
            <a:avLst/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" name="Text 20"/>
          <p:cNvSpPr/>
          <p:nvPr/>
        </p:nvSpPr>
        <p:spPr>
          <a:xfrm>
            <a:off x="5047560" y="1371600"/>
            <a:ext cx="8492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C4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Text 21"/>
          <p:cNvSpPr/>
          <p:nvPr/>
        </p:nvSpPr>
        <p:spPr>
          <a:xfrm>
            <a:off x="5047560" y="1710000"/>
            <a:ext cx="849240" cy="44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32×32×256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Shape 22"/>
          <p:cNvSpPr/>
          <p:nvPr/>
        </p:nvSpPr>
        <p:spPr>
          <a:xfrm>
            <a:off x="6108120" y="1627560"/>
            <a:ext cx="227520" cy="172800"/>
          </a:xfrm>
          <a:prstGeom prst="chevron">
            <a:avLst>
              <a:gd name="adj" fmla="val 50000"/>
            </a:avLst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" name="Shape 23"/>
          <p:cNvSpPr/>
          <p:nvPr/>
        </p:nvSpPr>
        <p:spPr>
          <a:xfrm>
            <a:off x="6263640" y="1234440"/>
            <a:ext cx="1233360" cy="105048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Shape 24"/>
          <p:cNvSpPr/>
          <p:nvPr/>
        </p:nvSpPr>
        <p:spPr>
          <a:xfrm>
            <a:off x="6263640" y="1234440"/>
            <a:ext cx="53640" cy="1050480"/>
          </a:xfrm>
          <a:prstGeom prst="rect">
            <a:avLst/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Text 25"/>
          <p:cNvSpPr/>
          <p:nvPr/>
        </p:nvSpPr>
        <p:spPr>
          <a:xfrm>
            <a:off x="6464880" y="1371600"/>
            <a:ext cx="8492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C5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Text 26"/>
          <p:cNvSpPr/>
          <p:nvPr/>
        </p:nvSpPr>
        <p:spPr>
          <a:xfrm>
            <a:off x="6464880" y="1710000"/>
            <a:ext cx="849240" cy="44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16×16×512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Shape 27"/>
          <p:cNvSpPr/>
          <p:nvPr/>
        </p:nvSpPr>
        <p:spPr>
          <a:xfrm>
            <a:off x="7863840" y="1097280"/>
            <a:ext cx="3610800" cy="1324800"/>
          </a:xfrm>
          <a:prstGeom prst="roundRect">
            <a:avLst>
              <a:gd name="adj" fmla="val 4138"/>
            </a:avLst>
          </a:prstGeom>
          <a:solidFill>
            <a:srgbClr val="f1eeff"/>
          </a:solidFill>
          <a:ln w="10160">
            <a:solidFill>
              <a:srgbClr val="d8d0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2" name="Text 28"/>
          <p:cNvSpPr/>
          <p:nvPr/>
        </p:nvSpPr>
        <p:spPr>
          <a:xfrm>
            <a:off x="8119800" y="1280160"/>
            <a:ext cx="155340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92" strike="noStrike">
                <a:solidFill>
                  <a:srgbClr val="7a5af8"/>
                </a:solidFill>
                <a:latin typeface="Aptos"/>
              </a:rPr>
              <a:t>TRANSFORMER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Text 29"/>
          <p:cNvSpPr/>
          <p:nvPr/>
        </p:nvSpPr>
        <p:spPr>
          <a:xfrm>
            <a:off x="8119800" y="1554480"/>
            <a:ext cx="3016440" cy="6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30" spc="-1" strike="noStrike">
                <a:solidFill>
                  <a:srgbClr val="14213d"/>
                </a:solidFill>
                <a:latin typeface="Aptos"/>
              </a:rPr>
              <a:t>4 blocks • 4 heads • dim 256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30" spc="-1" strike="noStrike">
                <a:solidFill>
                  <a:srgbClr val="14213d"/>
                </a:solidFill>
                <a:latin typeface="Aptos"/>
              </a:rPr>
              <a:t>FFN 1024 • GELU • Pre-LN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30" spc="-1" strike="noStrike">
                <a:solidFill>
                  <a:srgbClr val="14213d"/>
                </a:solidFill>
                <a:latin typeface="Aptos"/>
              </a:rPr>
              <a:t>16×16 tokens + learned 2-D position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4" name="Shape 30"/>
          <p:cNvSpPr/>
          <p:nvPr/>
        </p:nvSpPr>
        <p:spPr>
          <a:xfrm>
            <a:off x="7178400" y="1625400"/>
            <a:ext cx="821880" cy="236520"/>
          </a:xfrm>
          <a:prstGeom prst="chevron">
            <a:avLst>
              <a:gd name="adj" fmla="val 50000"/>
            </a:avLst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" name="Shape 31"/>
          <p:cNvSpPr/>
          <p:nvPr/>
        </p:nvSpPr>
        <p:spPr>
          <a:xfrm>
            <a:off x="640080" y="2788920"/>
            <a:ext cx="474480" cy="291600"/>
          </a:xfrm>
          <a:prstGeom prst="roundRect">
            <a:avLst>
              <a:gd name="adj" fmla="val 37500"/>
            </a:avLst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Text 32"/>
          <p:cNvSpPr/>
          <p:nvPr/>
        </p:nvSpPr>
        <p:spPr>
          <a:xfrm>
            <a:off x="640080" y="2853000"/>
            <a:ext cx="474480" cy="10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Aptos"/>
              </a:rPr>
              <a:t>M1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Text 33"/>
          <p:cNvSpPr/>
          <p:nvPr/>
        </p:nvSpPr>
        <p:spPr>
          <a:xfrm>
            <a:off x="1225440" y="2825640"/>
            <a:ext cx="109620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20" spc="-1" strike="noStrike">
                <a:solidFill>
                  <a:srgbClr val="14213d"/>
                </a:solidFill>
                <a:latin typeface="Aptos"/>
              </a:rPr>
              <a:t>Decoder</a:t>
            </a:r>
            <a:endParaRPr b="0" lang="en-US" sz="11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Shape 34"/>
          <p:cNvSpPr/>
          <p:nvPr/>
        </p:nvSpPr>
        <p:spPr>
          <a:xfrm>
            <a:off x="658440" y="3218760"/>
            <a:ext cx="1553400" cy="105048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Shape 35"/>
          <p:cNvSpPr/>
          <p:nvPr/>
        </p:nvSpPr>
        <p:spPr>
          <a:xfrm>
            <a:off x="658440" y="3218760"/>
            <a:ext cx="53640" cy="105048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Text 36"/>
          <p:cNvSpPr/>
          <p:nvPr/>
        </p:nvSpPr>
        <p:spPr>
          <a:xfrm>
            <a:off x="859680" y="3355920"/>
            <a:ext cx="11692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16×16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Text 37"/>
          <p:cNvSpPr/>
          <p:nvPr/>
        </p:nvSpPr>
        <p:spPr>
          <a:xfrm>
            <a:off x="859680" y="3694320"/>
            <a:ext cx="1169280" cy="44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channels 256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Shape 38"/>
          <p:cNvSpPr/>
          <p:nvPr/>
        </p:nvSpPr>
        <p:spPr>
          <a:xfrm>
            <a:off x="2249280" y="3566160"/>
            <a:ext cx="200160" cy="163440"/>
          </a:xfrm>
          <a:prstGeom prst="chevron">
            <a:avLst>
              <a:gd name="adj" fmla="val 50000"/>
            </a:avLst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3" name="Shape 39"/>
          <p:cNvSpPr/>
          <p:nvPr/>
        </p:nvSpPr>
        <p:spPr>
          <a:xfrm>
            <a:off x="2487240" y="3218760"/>
            <a:ext cx="1553400" cy="105048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Shape 40"/>
          <p:cNvSpPr/>
          <p:nvPr/>
        </p:nvSpPr>
        <p:spPr>
          <a:xfrm>
            <a:off x="2487240" y="3218760"/>
            <a:ext cx="53640" cy="105048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5" name="Text 41"/>
          <p:cNvSpPr/>
          <p:nvPr/>
        </p:nvSpPr>
        <p:spPr>
          <a:xfrm>
            <a:off x="2688480" y="3355920"/>
            <a:ext cx="11692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32×32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Text 42"/>
          <p:cNvSpPr/>
          <p:nvPr/>
        </p:nvSpPr>
        <p:spPr>
          <a:xfrm>
            <a:off x="2688480" y="3694320"/>
            <a:ext cx="1169280" cy="44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channels 256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Shape 43"/>
          <p:cNvSpPr/>
          <p:nvPr/>
        </p:nvSpPr>
        <p:spPr>
          <a:xfrm>
            <a:off x="4078080" y="3566160"/>
            <a:ext cx="200160" cy="163440"/>
          </a:xfrm>
          <a:prstGeom prst="chevron">
            <a:avLst>
              <a:gd name="adj" fmla="val 50000"/>
            </a:avLst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8" name="Shape 44"/>
          <p:cNvSpPr/>
          <p:nvPr/>
        </p:nvSpPr>
        <p:spPr>
          <a:xfrm>
            <a:off x="4316040" y="3218760"/>
            <a:ext cx="1553400" cy="105048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Shape 45"/>
          <p:cNvSpPr/>
          <p:nvPr/>
        </p:nvSpPr>
        <p:spPr>
          <a:xfrm>
            <a:off x="4316040" y="3218760"/>
            <a:ext cx="53640" cy="105048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0" name="Text 46"/>
          <p:cNvSpPr/>
          <p:nvPr/>
        </p:nvSpPr>
        <p:spPr>
          <a:xfrm>
            <a:off x="4517280" y="3355920"/>
            <a:ext cx="11692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64×64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Text 47"/>
          <p:cNvSpPr/>
          <p:nvPr/>
        </p:nvSpPr>
        <p:spPr>
          <a:xfrm>
            <a:off x="4517280" y="3694320"/>
            <a:ext cx="1169280" cy="44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channels 128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Shape 48"/>
          <p:cNvSpPr/>
          <p:nvPr/>
        </p:nvSpPr>
        <p:spPr>
          <a:xfrm>
            <a:off x="5906880" y="3566160"/>
            <a:ext cx="200160" cy="163440"/>
          </a:xfrm>
          <a:prstGeom prst="chevron">
            <a:avLst>
              <a:gd name="adj" fmla="val 50000"/>
            </a:avLst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3" name="Shape 49"/>
          <p:cNvSpPr/>
          <p:nvPr/>
        </p:nvSpPr>
        <p:spPr>
          <a:xfrm>
            <a:off x="6144840" y="3218760"/>
            <a:ext cx="1553400" cy="105048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Shape 50"/>
          <p:cNvSpPr/>
          <p:nvPr/>
        </p:nvSpPr>
        <p:spPr>
          <a:xfrm>
            <a:off x="6144840" y="3218760"/>
            <a:ext cx="53640" cy="105048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5" name="Text 51"/>
          <p:cNvSpPr/>
          <p:nvPr/>
        </p:nvSpPr>
        <p:spPr>
          <a:xfrm>
            <a:off x="6346080" y="3355920"/>
            <a:ext cx="11692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128×128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Text 52"/>
          <p:cNvSpPr/>
          <p:nvPr/>
        </p:nvSpPr>
        <p:spPr>
          <a:xfrm>
            <a:off x="6346080" y="3694320"/>
            <a:ext cx="1169280" cy="44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channels 64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Shape 53"/>
          <p:cNvSpPr/>
          <p:nvPr/>
        </p:nvSpPr>
        <p:spPr>
          <a:xfrm>
            <a:off x="7735680" y="3566160"/>
            <a:ext cx="200160" cy="163440"/>
          </a:xfrm>
          <a:prstGeom prst="chevron">
            <a:avLst>
              <a:gd name="adj" fmla="val 50000"/>
            </a:avLst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8" name="Shape 54"/>
          <p:cNvSpPr/>
          <p:nvPr/>
        </p:nvSpPr>
        <p:spPr>
          <a:xfrm>
            <a:off x="7973640" y="3218760"/>
            <a:ext cx="1553400" cy="105048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Shape 55"/>
          <p:cNvSpPr/>
          <p:nvPr/>
        </p:nvSpPr>
        <p:spPr>
          <a:xfrm>
            <a:off x="7973640" y="3218760"/>
            <a:ext cx="53640" cy="105048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0" name="Text 56"/>
          <p:cNvSpPr/>
          <p:nvPr/>
        </p:nvSpPr>
        <p:spPr>
          <a:xfrm>
            <a:off x="8174880" y="3355920"/>
            <a:ext cx="11692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256×256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Text 57"/>
          <p:cNvSpPr/>
          <p:nvPr/>
        </p:nvSpPr>
        <p:spPr>
          <a:xfrm>
            <a:off x="8174880" y="3694320"/>
            <a:ext cx="1169280" cy="44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channels 64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Shape 58"/>
          <p:cNvSpPr/>
          <p:nvPr/>
        </p:nvSpPr>
        <p:spPr>
          <a:xfrm>
            <a:off x="9564480" y="3566160"/>
            <a:ext cx="200160" cy="163440"/>
          </a:xfrm>
          <a:prstGeom prst="chevron">
            <a:avLst>
              <a:gd name="adj" fmla="val 50000"/>
            </a:avLst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3" name="Shape 59"/>
          <p:cNvSpPr/>
          <p:nvPr/>
        </p:nvSpPr>
        <p:spPr>
          <a:xfrm>
            <a:off x="9802440" y="3218760"/>
            <a:ext cx="1553400" cy="105048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Shape 60"/>
          <p:cNvSpPr/>
          <p:nvPr/>
        </p:nvSpPr>
        <p:spPr>
          <a:xfrm>
            <a:off x="9802440" y="3218760"/>
            <a:ext cx="53640" cy="105048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5" name="Text 61"/>
          <p:cNvSpPr/>
          <p:nvPr/>
        </p:nvSpPr>
        <p:spPr>
          <a:xfrm>
            <a:off x="10003680" y="3355920"/>
            <a:ext cx="11692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512×512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Text 62"/>
          <p:cNvSpPr/>
          <p:nvPr/>
        </p:nvSpPr>
        <p:spPr>
          <a:xfrm>
            <a:off x="10003680" y="3694320"/>
            <a:ext cx="1169280" cy="447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channels 32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Shape 63"/>
          <p:cNvSpPr/>
          <p:nvPr/>
        </p:nvSpPr>
        <p:spPr>
          <a:xfrm>
            <a:off x="658440" y="4617720"/>
            <a:ext cx="3427920" cy="95904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Shape 64"/>
          <p:cNvSpPr/>
          <p:nvPr/>
        </p:nvSpPr>
        <p:spPr>
          <a:xfrm>
            <a:off x="658440" y="4617720"/>
            <a:ext cx="53640" cy="9590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Text 65"/>
          <p:cNvSpPr/>
          <p:nvPr/>
        </p:nvSpPr>
        <p:spPr>
          <a:xfrm>
            <a:off x="859680" y="4754880"/>
            <a:ext cx="3043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Fusion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Text 66"/>
          <p:cNvSpPr/>
          <p:nvPr/>
        </p:nvSpPr>
        <p:spPr>
          <a:xfrm>
            <a:off x="859680" y="5093280"/>
            <a:ext cx="3043800" cy="35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8212f"/>
                </a:solidFill>
                <a:latin typeface="Aptos"/>
                <a:ea typeface="Aptos"/>
              </a:rPr>
              <a:t>Projected CNN C5 + Transformer output → element-wise addition.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Shape 67"/>
          <p:cNvSpPr/>
          <p:nvPr/>
        </p:nvSpPr>
        <p:spPr>
          <a:xfrm>
            <a:off x="4297680" y="4617720"/>
            <a:ext cx="3427920" cy="95904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Shape 68"/>
          <p:cNvSpPr/>
          <p:nvPr/>
        </p:nvSpPr>
        <p:spPr>
          <a:xfrm>
            <a:off x="4297680" y="4617720"/>
            <a:ext cx="53640" cy="959040"/>
          </a:xfrm>
          <a:prstGeom prst="rect">
            <a:avLst/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3" name="Text 69"/>
          <p:cNvSpPr/>
          <p:nvPr/>
        </p:nvSpPr>
        <p:spPr>
          <a:xfrm>
            <a:off x="4498920" y="4754880"/>
            <a:ext cx="30438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Deep supervision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Text 70"/>
          <p:cNvSpPr/>
          <p:nvPr/>
        </p:nvSpPr>
        <p:spPr>
          <a:xfrm>
            <a:off x="4498920" y="5093280"/>
            <a:ext cx="3043800" cy="35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8212f"/>
                </a:solidFill>
                <a:latin typeface="Aptos"/>
                <a:ea typeface="Aptos"/>
              </a:rPr>
              <a:t>Auxiliary heads at 128² and 64²; weights 0.15 / 0.10; main = 0.75.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Shape 71"/>
          <p:cNvSpPr/>
          <p:nvPr/>
        </p:nvSpPr>
        <p:spPr>
          <a:xfrm>
            <a:off x="7936920" y="4617720"/>
            <a:ext cx="3583440" cy="95904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Shape 72"/>
          <p:cNvSpPr/>
          <p:nvPr/>
        </p:nvSpPr>
        <p:spPr>
          <a:xfrm>
            <a:off x="7936920" y="4617720"/>
            <a:ext cx="53640" cy="959040"/>
          </a:xfrm>
          <a:prstGeom prst="rect">
            <a:avLst/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7" name="Text 73"/>
          <p:cNvSpPr/>
          <p:nvPr/>
        </p:nvSpPr>
        <p:spPr>
          <a:xfrm>
            <a:off x="8138160" y="4754880"/>
            <a:ext cx="3199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Output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Text 74"/>
          <p:cNvSpPr/>
          <p:nvPr/>
        </p:nvSpPr>
        <p:spPr>
          <a:xfrm>
            <a:off x="8138160" y="5093280"/>
            <a:ext cx="3199320" cy="35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8212f"/>
                </a:solidFill>
                <a:latin typeface="Aptos"/>
                <a:ea typeface="Aptos"/>
              </a:rPr>
              <a:t>7-channel logits → pixel class + region mask + derived confidence.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PlaceHolder 1"/>
          <p:cNvSpPr>
            <a:spLocks noGrp="1"/>
          </p:cNvSpPr>
          <p:nvPr>
            <p:ph type="sldNum" idx="10"/>
          </p:nvPr>
        </p:nvSpPr>
        <p:spPr>
          <a:xfrm>
            <a:off x="11292840" y="6574680"/>
            <a:ext cx="798840" cy="29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7b8494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929C2335-7026-45CA-8F4C-ABCA58ED1749}" type="slidenum">
              <a:rPr b="0" lang="en-US" sz="850" spc="-1" strike="noStrike">
                <a:solidFill>
                  <a:srgbClr val="7b8494"/>
                </a:solidFill>
                <a:latin typeface="Aptos"/>
                <a:ea typeface="Aptos"/>
              </a:rPr>
              <a:t>&lt;number&gt;</a:t>
            </a:fld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Text 0"/>
          <p:cNvSpPr/>
          <p:nvPr/>
        </p:nvSpPr>
        <p:spPr>
          <a:xfrm>
            <a:off x="567000" y="292680"/>
            <a:ext cx="8960040" cy="40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14213d"/>
                </a:solidFill>
                <a:latin typeface="Aptos Display"/>
                <a:ea typeface="Aptos Display"/>
              </a:rPr>
              <a:t>Training Objective &amp; Confidence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Text 1"/>
          <p:cNvSpPr/>
          <p:nvPr/>
        </p:nvSpPr>
        <p:spPr>
          <a:xfrm>
            <a:off x="585360" y="749880"/>
            <a:ext cx="1069740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667085"/>
                </a:solidFill>
                <a:latin typeface="Aptos"/>
                <a:ea typeface="Aptos"/>
              </a:rPr>
              <a:t>Training choices are shared with the controlled baseline unless explicitly marked as a later ablation.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Text 2"/>
          <p:cNvSpPr/>
          <p:nvPr/>
        </p:nvSpPr>
        <p:spPr>
          <a:xfrm>
            <a:off x="10168200" y="356760"/>
            <a:ext cx="14162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72" strike="noStrike">
                <a:solidFill>
                  <a:srgbClr val="2f67e8"/>
                </a:solidFill>
                <a:latin typeface="Aptos"/>
                <a:ea typeface="Aptos"/>
              </a:rPr>
              <a:t>07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Shape 3"/>
          <p:cNvSpPr/>
          <p:nvPr/>
        </p:nvSpPr>
        <p:spPr>
          <a:xfrm>
            <a:off x="658440" y="1234440"/>
            <a:ext cx="3382200" cy="141624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Shape 4"/>
          <p:cNvSpPr/>
          <p:nvPr/>
        </p:nvSpPr>
        <p:spPr>
          <a:xfrm>
            <a:off x="658440" y="1234440"/>
            <a:ext cx="53640" cy="1416240"/>
          </a:xfrm>
          <a:prstGeom prst="rect">
            <a:avLst/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5" name="Text 5"/>
          <p:cNvSpPr/>
          <p:nvPr/>
        </p:nvSpPr>
        <p:spPr>
          <a:xfrm>
            <a:off x="859680" y="1371600"/>
            <a:ext cx="29980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Core loss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Text 6"/>
          <p:cNvSpPr/>
          <p:nvPr/>
        </p:nvSpPr>
        <p:spPr>
          <a:xfrm>
            <a:off x="859680" y="1710000"/>
            <a:ext cx="2998080" cy="81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L = 0.50 × Dice + 0.50 × Focal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Focal γ = 2.0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Foreground-only Dice; class weights from training split.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Shape 7"/>
          <p:cNvSpPr/>
          <p:nvPr/>
        </p:nvSpPr>
        <p:spPr>
          <a:xfrm>
            <a:off x="4297680" y="1234440"/>
            <a:ext cx="3382200" cy="141624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Shape 8"/>
          <p:cNvSpPr/>
          <p:nvPr/>
        </p:nvSpPr>
        <p:spPr>
          <a:xfrm>
            <a:off x="4297680" y="1234440"/>
            <a:ext cx="53640" cy="141624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9" name="Text 9"/>
          <p:cNvSpPr/>
          <p:nvPr/>
        </p:nvSpPr>
        <p:spPr>
          <a:xfrm>
            <a:off x="4498920" y="1371600"/>
            <a:ext cx="29980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Optimization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Text 10"/>
          <p:cNvSpPr/>
          <p:nvPr/>
        </p:nvSpPr>
        <p:spPr>
          <a:xfrm>
            <a:off x="4498920" y="1710000"/>
            <a:ext cx="2998080" cy="81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AdamW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LR: 1e−4 (encoder), 3e−4 (new modules)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5-epoch warm-up + cosine decay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60 epoch max / early stop 10.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Shape 11"/>
          <p:cNvSpPr/>
          <p:nvPr/>
        </p:nvSpPr>
        <p:spPr>
          <a:xfrm>
            <a:off x="7936920" y="1234440"/>
            <a:ext cx="3583440" cy="141624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Shape 12"/>
          <p:cNvSpPr/>
          <p:nvPr/>
        </p:nvSpPr>
        <p:spPr>
          <a:xfrm>
            <a:off x="7936920" y="1234440"/>
            <a:ext cx="53640" cy="14162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Text 13"/>
          <p:cNvSpPr/>
          <p:nvPr/>
        </p:nvSpPr>
        <p:spPr>
          <a:xfrm>
            <a:off x="8138160" y="1371600"/>
            <a:ext cx="31993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Memory strategy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Text 14"/>
          <p:cNvSpPr/>
          <p:nvPr/>
        </p:nvSpPr>
        <p:spPr>
          <a:xfrm>
            <a:off x="8138160" y="1710000"/>
            <a:ext cx="3199320" cy="81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Mixed precision • effective batch ≈ 4 • gradient accumulation when required • EMA • frozen BN statistics for small-batch training.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Shape 15"/>
          <p:cNvSpPr/>
          <p:nvPr/>
        </p:nvSpPr>
        <p:spPr>
          <a:xfrm>
            <a:off x="658440" y="3154680"/>
            <a:ext cx="474480" cy="291600"/>
          </a:xfrm>
          <a:prstGeom prst="roundRect">
            <a:avLst>
              <a:gd name="adj" fmla="val 37500"/>
            </a:avLst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6" name="Text 16"/>
          <p:cNvSpPr/>
          <p:nvPr/>
        </p:nvSpPr>
        <p:spPr>
          <a:xfrm>
            <a:off x="658440" y="3218760"/>
            <a:ext cx="474480" cy="10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Aptos"/>
              </a:rPr>
              <a:t>C1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Text 17"/>
          <p:cNvSpPr/>
          <p:nvPr/>
        </p:nvSpPr>
        <p:spPr>
          <a:xfrm>
            <a:off x="1243440" y="3191400"/>
            <a:ext cx="11876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20" spc="-1" strike="noStrike">
                <a:solidFill>
                  <a:srgbClr val="14213d"/>
                </a:solidFill>
                <a:latin typeface="Aptos"/>
              </a:rPr>
              <a:t>Confidence</a:t>
            </a:r>
            <a:endParaRPr b="0" lang="en-US" sz="11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Shape 18"/>
          <p:cNvSpPr/>
          <p:nvPr/>
        </p:nvSpPr>
        <p:spPr>
          <a:xfrm>
            <a:off x="658440" y="3611880"/>
            <a:ext cx="2330640" cy="1004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Shape 19"/>
          <p:cNvSpPr/>
          <p:nvPr/>
        </p:nvSpPr>
        <p:spPr>
          <a:xfrm>
            <a:off x="658440" y="3611880"/>
            <a:ext cx="53640" cy="100476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0" name="Text 20"/>
          <p:cNvSpPr/>
          <p:nvPr/>
        </p:nvSpPr>
        <p:spPr>
          <a:xfrm>
            <a:off x="859680" y="3749040"/>
            <a:ext cx="19465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Segmentation logits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Text 21"/>
          <p:cNvSpPr/>
          <p:nvPr/>
        </p:nvSpPr>
        <p:spPr>
          <a:xfrm>
            <a:off x="859680" y="4087440"/>
            <a:ext cx="1946520" cy="40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Model evidence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Shape 22"/>
          <p:cNvSpPr/>
          <p:nvPr/>
        </p:nvSpPr>
        <p:spPr>
          <a:xfrm>
            <a:off x="3054240" y="3959280"/>
            <a:ext cx="254880" cy="163440"/>
          </a:xfrm>
          <a:prstGeom prst="chevron">
            <a:avLst>
              <a:gd name="adj" fmla="val 50000"/>
            </a:avLst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3" name="Shape 23"/>
          <p:cNvSpPr/>
          <p:nvPr/>
        </p:nvSpPr>
        <p:spPr>
          <a:xfrm>
            <a:off x="3383280" y="3611880"/>
            <a:ext cx="2330640" cy="1004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Shape 24"/>
          <p:cNvSpPr/>
          <p:nvPr/>
        </p:nvSpPr>
        <p:spPr>
          <a:xfrm>
            <a:off x="3383280" y="3611880"/>
            <a:ext cx="53640" cy="1004760"/>
          </a:xfrm>
          <a:prstGeom prst="rect">
            <a:avLst/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5" name="Text 25"/>
          <p:cNvSpPr/>
          <p:nvPr/>
        </p:nvSpPr>
        <p:spPr>
          <a:xfrm>
            <a:off x="3584520" y="3749040"/>
            <a:ext cx="19465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Softmax probability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Text 26"/>
          <p:cNvSpPr/>
          <p:nvPr/>
        </p:nvSpPr>
        <p:spPr>
          <a:xfrm>
            <a:off x="3584520" y="4087440"/>
            <a:ext cx="1946520" cy="40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Max class probability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Shape 27"/>
          <p:cNvSpPr/>
          <p:nvPr/>
        </p:nvSpPr>
        <p:spPr>
          <a:xfrm>
            <a:off x="5779080" y="3959280"/>
            <a:ext cx="254880" cy="163440"/>
          </a:xfrm>
          <a:prstGeom prst="chevron">
            <a:avLst>
              <a:gd name="adj" fmla="val 50000"/>
            </a:avLst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8" name="Shape 28"/>
          <p:cNvSpPr/>
          <p:nvPr/>
        </p:nvSpPr>
        <p:spPr>
          <a:xfrm>
            <a:off x="6108120" y="3611880"/>
            <a:ext cx="2330640" cy="1004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Shape 29"/>
          <p:cNvSpPr/>
          <p:nvPr/>
        </p:nvSpPr>
        <p:spPr>
          <a:xfrm>
            <a:off x="6108120" y="3611880"/>
            <a:ext cx="53640" cy="100476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0" name="Text 30"/>
          <p:cNvSpPr/>
          <p:nvPr/>
        </p:nvSpPr>
        <p:spPr>
          <a:xfrm>
            <a:off x="6309360" y="3749040"/>
            <a:ext cx="19465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Region confidence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Text 31"/>
          <p:cNvSpPr/>
          <p:nvPr/>
        </p:nvSpPr>
        <p:spPr>
          <a:xfrm>
            <a:off x="6309360" y="4087440"/>
            <a:ext cx="1946520" cy="40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Mean predicted-class probability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Shape 32"/>
          <p:cNvSpPr/>
          <p:nvPr/>
        </p:nvSpPr>
        <p:spPr>
          <a:xfrm>
            <a:off x="8503920" y="3959280"/>
            <a:ext cx="254880" cy="163440"/>
          </a:xfrm>
          <a:prstGeom prst="chevron">
            <a:avLst>
              <a:gd name="adj" fmla="val 50000"/>
            </a:avLst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3" name="Shape 33"/>
          <p:cNvSpPr/>
          <p:nvPr/>
        </p:nvSpPr>
        <p:spPr>
          <a:xfrm>
            <a:off x="8832960" y="3611880"/>
            <a:ext cx="2330640" cy="1004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Shape 34"/>
          <p:cNvSpPr/>
          <p:nvPr/>
        </p:nvSpPr>
        <p:spPr>
          <a:xfrm>
            <a:off x="8832960" y="3611880"/>
            <a:ext cx="53640" cy="1004760"/>
          </a:xfrm>
          <a:prstGeom prst="rect">
            <a:avLst/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5" name="Text 35"/>
          <p:cNvSpPr/>
          <p:nvPr/>
        </p:nvSpPr>
        <p:spPr>
          <a:xfrm>
            <a:off x="9034200" y="3749040"/>
            <a:ext cx="19465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Validation calibration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Text 36"/>
          <p:cNvSpPr/>
          <p:nvPr/>
        </p:nvSpPr>
        <p:spPr>
          <a:xfrm>
            <a:off x="9034200" y="4087440"/>
            <a:ext cx="1946520" cy="40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Temperature scaling on validation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Shape 37"/>
          <p:cNvSpPr/>
          <p:nvPr/>
        </p:nvSpPr>
        <p:spPr>
          <a:xfrm>
            <a:off x="658440" y="4892040"/>
            <a:ext cx="5256720" cy="894960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Shape 38"/>
          <p:cNvSpPr/>
          <p:nvPr/>
        </p:nvSpPr>
        <p:spPr>
          <a:xfrm>
            <a:off x="658440" y="4892040"/>
            <a:ext cx="53640" cy="894960"/>
          </a:xfrm>
          <a:prstGeom prst="rect">
            <a:avLst/>
          </a:prstGeom>
          <a:solidFill>
            <a:srgbClr val="d94b4b"/>
          </a:solidFill>
          <a:ln w="12700">
            <a:solidFill>
              <a:srgbClr val="d94b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9" name="Text 39"/>
          <p:cNvSpPr/>
          <p:nvPr/>
        </p:nvSpPr>
        <p:spPr>
          <a:xfrm>
            <a:off x="859680" y="5029200"/>
            <a:ext cx="48726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Important separation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Text 40"/>
          <p:cNvSpPr/>
          <p:nvPr/>
        </p:nvSpPr>
        <p:spPr>
          <a:xfrm>
            <a:off x="859680" y="5367600"/>
            <a:ext cx="487260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60" spc="-1" strike="noStrike">
                <a:solidFill>
                  <a:srgbClr val="18212f"/>
                </a:solidFill>
                <a:latin typeface="Aptos"/>
                <a:ea typeface="Aptos"/>
              </a:rPr>
              <a:t>Low confidence ≠ poor photo. A quality failure is handled by the classical image-quality gate; model uncertainty is handled after segmentation.</a:t>
            </a:r>
            <a:endParaRPr b="0" lang="en-US" sz="9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Shape 41"/>
          <p:cNvSpPr/>
          <p:nvPr/>
        </p:nvSpPr>
        <p:spPr>
          <a:xfrm>
            <a:off x="6144840" y="4892040"/>
            <a:ext cx="5375520" cy="894960"/>
          </a:xfrm>
          <a:prstGeom prst="roundRect">
            <a:avLst>
              <a:gd name="adj" fmla="val 8163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Shape 42"/>
          <p:cNvSpPr/>
          <p:nvPr/>
        </p:nvSpPr>
        <p:spPr>
          <a:xfrm>
            <a:off x="6144840" y="4892040"/>
            <a:ext cx="53640" cy="894960"/>
          </a:xfrm>
          <a:prstGeom prst="rect">
            <a:avLst/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3" name="Text 43"/>
          <p:cNvSpPr/>
          <p:nvPr/>
        </p:nvSpPr>
        <p:spPr>
          <a:xfrm>
            <a:off x="6346080" y="5029200"/>
            <a:ext cx="49914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Product consequence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Text 44"/>
          <p:cNvSpPr/>
          <p:nvPr/>
        </p:nvSpPr>
        <p:spPr>
          <a:xfrm>
            <a:off x="6346080" y="5367600"/>
            <a:ext cx="499140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60" spc="-1" strike="noStrike">
                <a:solidFill>
                  <a:srgbClr val="18212f"/>
                </a:solidFill>
                <a:latin typeface="Aptos"/>
                <a:ea typeface="Aptos"/>
              </a:rPr>
              <a:t>The calibrated evidence can trigger clarification / retake guidance; the LLM never invents an unsupported damage class.</a:t>
            </a:r>
            <a:endParaRPr b="0" lang="en-US" sz="9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PlaceHolder 1"/>
          <p:cNvSpPr>
            <a:spLocks noGrp="1"/>
          </p:cNvSpPr>
          <p:nvPr>
            <p:ph type="sldNum" idx="11"/>
          </p:nvPr>
        </p:nvSpPr>
        <p:spPr>
          <a:xfrm>
            <a:off x="11292840" y="6574680"/>
            <a:ext cx="798840" cy="29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7b8494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F02ADCE0-9193-432A-A4AE-6974F0B740E7}" type="slidenum">
              <a:rPr b="0" lang="en-US" sz="850" spc="-1" strike="noStrike">
                <a:solidFill>
                  <a:srgbClr val="7b8494"/>
                </a:solidFill>
                <a:latin typeface="Aptos"/>
                <a:ea typeface="Aptos"/>
              </a:rPr>
              <a:t>&lt;number&gt;</a:t>
            </a:fld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Text 0"/>
          <p:cNvSpPr/>
          <p:nvPr/>
        </p:nvSpPr>
        <p:spPr>
          <a:xfrm>
            <a:off x="567000" y="292680"/>
            <a:ext cx="8960040" cy="40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14213d"/>
                </a:solidFill>
                <a:latin typeface="Aptos Display"/>
                <a:ea typeface="Aptos Display"/>
              </a:rPr>
              <a:t>Research Experiments &amp; Ablation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Text 1"/>
          <p:cNvSpPr/>
          <p:nvPr/>
        </p:nvSpPr>
        <p:spPr>
          <a:xfrm>
            <a:off x="585360" y="749880"/>
            <a:ext cx="1069740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667085"/>
                </a:solidFill>
                <a:latin typeface="Aptos"/>
                <a:ea typeface="Aptos"/>
              </a:rPr>
              <a:t>The core comparison isolates the Transformer contribution.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Text 2"/>
          <p:cNvSpPr/>
          <p:nvPr/>
        </p:nvSpPr>
        <p:spPr>
          <a:xfrm>
            <a:off x="10168200" y="356760"/>
            <a:ext cx="14162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72" strike="noStrike">
                <a:solidFill>
                  <a:srgbClr val="2f67e8"/>
                </a:solidFill>
                <a:latin typeface="Aptos"/>
                <a:ea typeface="Aptos"/>
              </a:rPr>
              <a:t>08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Shape 3"/>
          <p:cNvSpPr/>
          <p:nvPr/>
        </p:nvSpPr>
        <p:spPr>
          <a:xfrm>
            <a:off x="658440" y="1234440"/>
            <a:ext cx="3245040" cy="1827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Shape 4"/>
          <p:cNvSpPr/>
          <p:nvPr/>
        </p:nvSpPr>
        <p:spPr>
          <a:xfrm>
            <a:off x="658440" y="1234440"/>
            <a:ext cx="53640" cy="182772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1" name="Text 5"/>
          <p:cNvSpPr/>
          <p:nvPr/>
        </p:nvSpPr>
        <p:spPr>
          <a:xfrm>
            <a:off x="859680" y="1371600"/>
            <a:ext cx="2860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A — Controlled baseline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Text 6"/>
          <p:cNvSpPr/>
          <p:nvPr/>
        </p:nvSpPr>
        <p:spPr>
          <a:xfrm>
            <a:off x="859680" y="1710000"/>
            <a:ext cx="2860920" cy="122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20" spc="-1" strike="noStrike">
                <a:solidFill>
                  <a:srgbClr val="18212f"/>
                </a:solidFill>
                <a:latin typeface="Aptos"/>
                <a:ea typeface="Aptos"/>
              </a:rPr>
              <a:t>ResNet34 encoder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20" spc="-1" strike="noStrike">
                <a:solidFill>
                  <a:srgbClr val="18212f"/>
                </a:solidFill>
                <a:latin typeface="Aptos"/>
                <a:ea typeface="Aptos"/>
              </a:rPr>
              <a:t>+ U-Net decoder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20" spc="-1" strike="noStrike">
                <a:solidFill>
                  <a:srgbClr val="18212f"/>
                </a:solidFill>
                <a:latin typeface="Aptos"/>
                <a:ea typeface="Aptos"/>
              </a:rPr>
              <a:t>+ shared loss / augmentation / EMA / sampling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20" spc="-1" strike="noStrike">
                <a:solidFill>
                  <a:srgbClr val="18212f"/>
                </a:solidFill>
                <a:latin typeface="Aptos"/>
                <a:ea typeface="Aptos"/>
              </a:rPr>
              <a:t>+ 7-channel output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Shape 7"/>
          <p:cNvSpPr/>
          <p:nvPr/>
        </p:nvSpPr>
        <p:spPr>
          <a:xfrm>
            <a:off x="4096440" y="1856160"/>
            <a:ext cx="501840" cy="254880"/>
          </a:xfrm>
          <a:prstGeom prst="chevron">
            <a:avLst>
              <a:gd name="adj" fmla="val 50000"/>
            </a:avLst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4" name="Shape 8"/>
          <p:cNvSpPr/>
          <p:nvPr/>
        </p:nvSpPr>
        <p:spPr>
          <a:xfrm>
            <a:off x="4709160" y="1234440"/>
            <a:ext cx="3245040" cy="1827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Shape 9"/>
          <p:cNvSpPr/>
          <p:nvPr/>
        </p:nvSpPr>
        <p:spPr>
          <a:xfrm>
            <a:off x="4709160" y="1234440"/>
            <a:ext cx="53640" cy="1827720"/>
          </a:xfrm>
          <a:prstGeom prst="rect">
            <a:avLst/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6" name="Text 10"/>
          <p:cNvSpPr/>
          <p:nvPr/>
        </p:nvSpPr>
        <p:spPr>
          <a:xfrm>
            <a:off x="4910400" y="1371600"/>
            <a:ext cx="2860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B — Proposed hybrid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7" name="Text 11"/>
          <p:cNvSpPr/>
          <p:nvPr/>
        </p:nvSpPr>
        <p:spPr>
          <a:xfrm>
            <a:off x="4910400" y="1710000"/>
            <a:ext cx="2860920" cy="122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20" spc="-1" strike="noStrike">
                <a:solidFill>
                  <a:srgbClr val="18212f"/>
                </a:solidFill>
                <a:latin typeface="Aptos"/>
                <a:ea typeface="Aptos"/>
              </a:rPr>
              <a:t>Same ResNet34 + decoder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20" spc="-1" strike="noStrike">
                <a:solidFill>
                  <a:srgbClr val="18212f"/>
                </a:solidFill>
                <a:latin typeface="Aptos"/>
                <a:ea typeface="Aptos"/>
              </a:rPr>
              <a:t>+ 16×16 bottleneck Transformer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20" spc="-1" strike="noStrike">
                <a:solidFill>
                  <a:srgbClr val="18212f"/>
                </a:solidFill>
                <a:latin typeface="Aptos"/>
                <a:ea typeface="Aptos"/>
              </a:rPr>
              <a:t>+ projected additive fusion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20" spc="-1" strike="noStrike">
                <a:solidFill>
                  <a:srgbClr val="18212f"/>
                </a:solidFill>
                <a:latin typeface="Aptos"/>
                <a:ea typeface="Aptos"/>
              </a:rPr>
              <a:t>+ same training protocol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Shape 12"/>
          <p:cNvSpPr/>
          <p:nvPr/>
        </p:nvSpPr>
        <p:spPr>
          <a:xfrm>
            <a:off x="8156520" y="1856160"/>
            <a:ext cx="501840" cy="254880"/>
          </a:xfrm>
          <a:prstGeom prst="chevron">
            <a:avLst>
              <a:gd name="adj" fmla="val 50000"/>
            </a:avLst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9" name="Shape 13"/>
          <p:cNvSpPr/>
          <p:nvPr/>
        </p:nvSpPr>
        <p:spPr>
          <a:xfrm>
            <a:off x="8778240" y="1234440"/>
            <a:ext cx="2742120" cy="18277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Shape 14"/>
          <p:cNvSpPr/>
          <p:nvPr/>
        </p:nvSpPr>
        <p:spPr>
          <a:xfrm>
            <a:off x="8778240" y="1234440"/>
            <a:ext cx="53640" cy="182772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1" name="Text 15"/>
          <p:cNvSpPr/>
          <p:nvPr/>
        </p:nvSpPr>
        <p:spPr>
          <a:xfrm>
            <a:off x="8979480" y="1371600"/>
            <a:ext cx="23580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Evidence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Text 16"/>
          <p:cNvSpPr/>
          <p:nvPr/>
        </p:nvSpPr>
        <p:spPr>
          <a:xfrm>
            <a:off x="8979480" y="1710000"/>
            <a:ext cx="2358000" cy="122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20" spc="-1" strike="noStrike">
                <a:solidFill>
                  <a:srgbClr val="18212f"/>
                </a:solidFill>
                <a:latin typeface="Aptos"/>
                <a:ea typeface="Aptos"/>
              </a:rPr>
              <a:t>Overall mIoU / Dice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20" spc="-1" strike="noStrike">
                <a:solidFill>
                  <a:srgbClr val="18212f"/>
                </a:solidFill>
                <a:latin typeface="Aptos"/>
                <a:ea typeface="Aptos"/>
              </a:rPr>
              <a:t>Per-class results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20" spc="-1" strike="noStrike">
                <a:solidFill>
                  <a:srgbClr val="18212f"/>
                </a:solidFill>
                <a:latin typeface="Aptos"/>
                <a:ea typeface="Aptos"/>
              </a:rPr>
              <a:t>Small-damage analysis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20" spc="-1" strike="noStrike">
                <a:solidFill>
                  <a:srgbClr val="18212f"/>
                </a:solidFill>
                <a:latin typeface="Aptos"/>
                <a:ea typeface="Aptos"/>
              </a:rPr>
              <a:t>Latency / VRAM / parameters</a:t>
            </a:r>
            <a:endParaRPr b="0" lang="en-US" sz="10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Shape 17"/>
          <p:cNvSpPr/>
          <p:nvPr/>
        </p:nvSpPr>
        <p:spPr>
          <a:xfrm>
            <a:off x="658440" y="3474720"/>
            <a:ext cx="474480" cy="291600"/>
          </a:xfrm>
          <a:prstGeom prst="roundRect">
            <a:avLst>
              <a:gd name="adj" fmla="val 37500"/>
            </a:avLst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4" name="Text 18"/>
          <p:cNvSpPr/>
          <p:nvPr/>
        </p:nvSpPr>
        <p:spPr>
          <a:xfrm>
            <a:off x="658440" y="3538800"/>
            <a:ext cx="474480" cy="10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Aptos"/>
              </a:rPr>
              <a:t>Abl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Text 19"/>
          <p:cNvSpPr/>
          <p:nvPr/>
        </p:nvSpPr>
        <p:spPr>
          <a:xfrm>
            <a:off x="1243440" y="3511440"/>
            <a:ext cx="191916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20" spc="-1" strike="noStrike">
                <a:solidFill>
                  <a:srgbClr val="14213d"/>
                </a:solidFill>
                <a:latin typeface="Aptos"/>
              </a:rPr>
              <a:t>Optional later experiments</a:t>
            </a:r>
            <a:endParaRPr b="0" lang="en-US" sz="11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Shape 20"/>
          <p:cNvSpPr/>
          <p:nvPr/>
        </p:nvSpPr>
        <p:spPr>
          <a:xfrm>
            <a:off x="658440" y="3950280"/>
            <a:ext cx="5211000" cy="730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Shape 21"/>
          <p:cNvSpPr/>
          <p:nvPr/>
        </p:nvSpPr>
        <p:spPr>
          <a:xfrm>
            <a:off x="658440" y="3950280"/>
            <a:ext cx="53640" cy="730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Text 22"/>
          <p:cNvSpPr/>
          <p:nvPr/>
        </p:nvSpPr>
        <p:spPr>
          <a:xfrm>
            <a:off x="859680" y="4087440"/>
            <a:ext cx="48268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Boundary loss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9" name="Text 23"/>
          <p:cNvSpPr/>
          <p:nvPr/>
        </p:nvSpPr>
        <p:spPr>
          <a:xfrm>
            <a:off x="859680" y="4425840"/>
            <a:ext cx="4826880" cy="1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Only after core A/B comparison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0" name="Shape 24"/>
          <p:cNvSpPr/>
          <p:nvPr/>
        </p:nvSpPr>
        <p:spPr>
          <a:xfrm>
            <a:off x="6144840" y="3950280"/>
            <a:ext cx="5211000" cy="730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Shape 25"/>
          <p:cNvSpPr/>
          <p:nvPr/>
        </p:nvSpPr>
        <p:spPr>
          <a:xfrm>
            <a:off x="6144840" y="3950280"/>
            <a:ext cx="53640" cy="730440"/>
          </a:xfrm>
          <a:prstGeom prst="rect">
            <a:avLst/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" name="Text 26"/>
          <p:cNvSpPr/>
          <p:nvPr/>
        </p:nvSpPr>
        <p:spPr>
          <a:xfrm>
            <a:off x="6346080" y="4087440"/>
            <a:ext cx="48268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YOLO11-seg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Text 27"/>
          <p:cNvSpPr/>
          <p:nvPr/>
        </p:nvSpPr>
        <p:spPr>
          <a:xfrm>
            <a:off x="6346080" y="4425840"/>
            <a:ext cx="4826880" cy="1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Practical comparator if time permits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Shape 28"/>
          <p:cNvSpPr/>
          <p:nvPr/>
        </p:nvSpPr>
        <p:spPr>
          <a:xfrm>
            <a:off x="658440" y="4864680"/>
            <a:ext cx="5211000" cy="730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Shape 29"/>
          <p:cNvSpPr/>
          <p:nvPr/>
        </p:nvSpPr>
        <p:spPr>
          <a:xfrm>
            <a:off x="658440" y="4864680"/>
            <a:ext cx="53640" cy="730440"/>
          </a:xfrm>
          <a:prstGeom prst="rect">
            <a:avLst/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" name="Text 30"/>
          <p:cNvSpPr/>
          <p:nvPr/>
        </p:nvSpPr>
        <p:spPr>
          <a:xfrm>
            <a:off x="859680" y="5001840"/>
            <a:ext cx="48268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Mask2Former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Text 31"/>
          <p:cNvSpPr/>
          <p:nvPr/>
        </p:nvSpPr>
        <p:spPr>
          <a:xfrm>
            <a:off x="859680" y="5340240"/>
            <a:ext cx="4826880" cy="1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Pretrained fine-tuning stretch goal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Shape 32"/>
          <p:cNvSpPr/>
          <p:nvPr/>
        </p:nvSpPr>
        <p:spPr>
          <a:xfrm>
            <a:off x="6144840" y="4864680"/>
            <a:ext cx="5211000" cy="730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Shape 33"/>
          <p:cNvSpPr/>
          <p:nvPr/>
        </p:nvSpPr>
        <p:spPr>
          <a:xfrm>
            <a:off x="6144840" y="4864680"/>
            <a:ext cx="53640" cy="73044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0" name="Text 34"/>
          <p:cNvSpPr/>
          <p:nvPr/>
        </p:nvSpPr>
        <p:spPr>
          <a:xfrm>
            <a:off x="6346080" y="5001840"/>
            <a:ext cx="48268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TTA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Text 35"/>
          <p:cNvSpPr/>
          <p:nvPr/>
        </p:nvSpPr>
        <p:spPr>
          <a:xfrm>
            <a:off x="6346080" y="5340240"/>
            <a:ext cx="4826880" cy="1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Separate secondary evaluation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PlaceHolder 1"/>
          <p:cNvSpPr>
            <a:spLocks noGrp="1"/>
          </p:cNvSpPr>
          <p:nvPr>
            <p:ph type="sldNum" idx="12"/>
          </p:nvPr>
        </p:nvSpPr>
        <p:spPr>
          <a:xfrm>
            <a:off x="11292840" y="6574680"/>
            <a:ext cx="798840" cy="29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7b8494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724D6616-5DC1-4264-92EA-23CE4671BDB5}" type="slidenum">
              <a:rPr b="0" lang="en-US" sz="850" spc="-1" strike="noStrike">
                <a:solidFill>
                  <a:srgbClr val="7b8494"/>
                </a:solidFill>
                <a:latin typeface="Aptos"/>
                <a:ea typeface="Aptos"/>
              </a:rPr>
              <a:t>&lt;number&gt;</a:t>
            </a:fld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Text 0"/>
          <p:cNvSpPr/>
          <p:nvPr/>
        </p:nvSpPr>
        <p:spPr>
          <a:xfrm>
            <a:off x="567000" y="292680"/>
            <a:ext cx="8960040" cy="40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14213d"/>
                </a:solidFill>
                <a:latin typeface="Aptos Display"/>
                <a:ea typeface="Aptos Display"/>
              </a:rPr>
              <a:t>Evaluation Plan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Text 1"/>
          <p:cNvSpPr/>
          <p:nvPr/>
        </p:nvSpPr>
        <p:spPr>
          <a:xfrm>
            <a:off x="585360" y="749880"/>
            <a:ext cx="1069740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667085"/>
                </a:solidFill>
                <a:latin typeface="Aptos"/>
                <a:ea typeface="Aptos"/>
              </a:rPr>
              <a:t>Measure segmentation quality, class behavior, small-damage performance and practical efficiency.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Text 2"/>
          <p:cNvSpPr/>
          <p:nvPr/>
        </p:nvSpPr>
        <p:spPr>
          <a:xfrm>
            <a:off x="10168200" y="356760"/>
            <a:ext cx="14162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72" strike="noStrike">
                <a:solidFill>
                  <a:srgbClr val="2f67e8"/>
                </a:solidFill>
                <a:latin typeface="Aptos"/>
                <a:ea typeface="Aptos"/>
              </a:rPr>
              <a:t>09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Shape 3"/>
          <p:cNvSpPr/>
          <p:nvPr/>
        </p:nvSpPr>
        <p:spPr>
          <a:xfrm>
            <a:off x="658440" y="1234440"/>
            <a:ext cx="5256720" cy="114192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Shape 4"/>
          <p:cNvSpPr/>
          <p:nvPr/>
        </p:nvSpPr>
        <p:spPr>
          <a:xfrm>
            <a:off x="658440" y="1234440"/>
            <a:ext cx="53640" cy="1141920"/>
          </a:xfrm>
          <a:prstGeom prst="rect">
            <a:avLst/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8" name="Text 5"/>
          <p:cNvSpPr/>
          <p:nvPr/>
        </p:nvSpPr>
        <p:spPr>
          <a:xfrm>
            <a:off x="859680" y="1371600"/>
            <a:ext cx="48726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Primary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Text 6"/>
          <p:cNvSpPr/>
          <p:nvPr/>
        </p:nvSpPr>
        <p:spPr>
          <a:xfrm>
            <a:off x="859680" y="1710000"/>
            <a:ext cx="4872600" cy="53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Foreground mIoU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Foreground mean Dice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Shape 7"/>
          <p:cNvSpPr/>
          <p:nvPr/>
        </p:nvSpPr>
        <p:spPr>
          <a:xfrm>
            <a:off x="6190560" y="1234440"/>
            <a:ext cx="5256720" cy="114192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Shape 8"/>
          <p:cNvSpPr/>
          <p:nvPr/>
        </p:nvSpPr>
        <p:spPr>
          <a:xfrm>
            <a:off x="6190560" y="1234440"/>
            <a:ext cx="53640" cy="114192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2" name="Text 9"/>
          <p:cNvSpPr/>
          <p:nvPr/>
        </p:nvSpPr>
        <p:spPr>
          <a:xfrm>
            <a:off x="6391800" y="1371600"/>
            <a:ext cx="48726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Per class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Text 10"/>
          <p:cNvSpPr/>
          <p:nvPr/>
        </p:nvSpPr>
        <p:spPr>
          <a:xfrm>
            <a:off x="6391800" y="1710000"/>
            <a:ext cx="4872600" cy="53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IoU + Dice for all six classes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Shape 11"/>
          <p:cNvSpPr/>
          <p:nvPr/>
        </p:nvSpPr>
        <p:spPr>
          <a:xfrm>
            <a:off x="658440" y="2651760"/>
            <a:ext cx="5256720" cy="114192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Shape 12"/>
          <p:cNvSpPr/>
          <p:nvPr/>
        </p:nvSpPr>
        <p:spPr>
          <a:xfrm>
            <a:off x="658440" y="2651760"/>
            <a:ext cx="53640" cy="1141920"/>
          </a:xfrm>
          <a:prstGeom prst="rect">
            <a:avLst/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6" name="Text 13"/>
          <p:cNvSpPr/>
          <p:nvPr/>
        </p:nvSpPr>
        <p:spPr>
          <a:xfrm>
            <a:off x="859680" y="2788920"/>
            <a:ext cx="48726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Small damage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Text 14"/>
          <p:cNvSpPr/>
          <p:nvPr/>
        </p:nvSpPr>
        <p:spPr>
          <a:xfrm>
            <a:off x="859680" y="3127320"/>
            <a:ext cx="4872600" cy="53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Small / medium / large mask strata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Shape 15"/>
          <p:cNvSpPr/>
          <p:nvPr/>
        </p:nvSpPr>
        <p:spPr>
          <a:xfrm>
            <a:off x="6190560" y="2651760"/>
            <a:ext cx="5256720" cy="114192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Shape 16"/>
          <p:cNvSpPr/>
          <p:nvPr/>
        </p:nvSpPr>
        <p:spPr>
          <a:xfrm>
            <a:off x="6190560" y="2651760"/>
            <a:ext cx="53640" cy="11419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Text 17"/>
          <p:cNvSpPr/>
          <p:nvPr/>
        </p:nvSpPr>
        <p:spPr>
          <a:xfrm>
            <a:off x="6391800" y="2788920"/>
            <a:ext cx="48726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Efficiency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Text 18"/>
          <p:cNvSpPr/>
          <p:nvPr/>
        </p:nvSpPr>
        <p:spPr>
          <a:xfrm>
            <a:off x="6391800" y="3127320"/>
            <a:ext cx="4872600" cy="53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Parameters • VRAM • latency • training time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Shape 19"/>
          <p:cNvSpPr/>
          <p:nvPr/>
        </p:nvSpPr>
        <p:spPr>
          <a:xfrm>
            <a:off x="658440" y="4251960"/>
            <a:ext cx="474480" cy="291600"/>
          </a:xfrm>
          <a:prstGeom prst="roundRect">
            <a:avLst>
              <a:gd name="adj" fmla="val 37500"/>
            </a:avLst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3" name="Text 20"/>
          <p:cNvSpPr/>
          <p:nvPr/>
        </p:nvSpPr>
        <p:spPr>
          <a:xfrm>
            <a:off x="658440" y="4316040"/>
            <a:ext cx="474480" cy="10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Aptos"/>
              </a:rPr>
              <a:t>E1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Text 21"/>
          <p:cNvSpPr/>
          <p:nvPr/>
        </p:nvSpPr>
        <p:spPr>
          <a:xfrm>
            <a:off x="1243440" y="4288680"/>
            <a:ext cx="114192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20" spc="-1" strike="noStrike">
                <a:solidFill>
                  <a:srgbClr val="14213d"/>
                </a:solidFill>
                <a:latin typeface="Aptos"/>
              </a:rPr>
              <a:t>Robustness</a:t>
            </a:r>
            <a:endParaRPr b="0" lang="en-US" sz="11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Shape 22"/>
          <p:cNvSpPr/>
          <p:nvPr/>
        </p:nvSpPr>
        <p:spPr>
          <a:xfrm>
            <a:off x="658440" y="4663440"/>
            <a:ext cx="3245040" cy="913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6" name="Shape 23"/>
          <p:cNvSpPr/>
          <p:nvPr/>
        </p:nvSpPr>
        <p:spPr>
          <a:xfrm>
            <a:off x="658440" y="4663440"/>
            <a:ext cx="53640" cy="91332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7" name="Text 24"/>
          <p:cNvSpPr/>
          <p:nvPr/>
        </p:nvSpPr>
        <p:spPr>
          <a:xfrm>
            <a:off x="859680" y="4800600"/>
            <a:ext cx="2860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3 random seeds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Text 25"/>
          <p:cNvSpPr/>
          <p:nvPr/>
        </p:nvSpPr>
        <p:spPr>
          <a:xfrm>
            <a:off x="859680" y="5139000"/>
            <a:ext cx="286092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8212f"/>
                </a:solidFill>
                <a:latin typeface="Aptos"/>
                <a:ea typeface="Aptos"/>
              </a:rPr>
              <a:t>42 • 1337 • 2026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8212f"/>
                </a:solidFill>
                <a:latin typeface="Aptos"/>
                <a:ea typeface="Aptos"/>
              </a:rPr>
              <a:t>Report mean ± standard deviation.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Shape 26"/>
          <p:cNvSpPr/>
          <p:nvPr/>
        </p:nvSpPr>
        <p:spPr>
          <a:xfrm>
            <a:off x="4187880" y="4663440"/>
            <a:ext cx="3245040" cy="913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Shape 27"/>
          <p:cNvSpPr/>
          <p:nvPr/>
        </p:nvSpPr>
        <p:spPr>
          <a:xfrm>
            <a:off x="4187880" y="4663440"/>
            <a:ext cx="53640" cy="913320"/>
          </a:xfrm>
          <a:prstGeom prst="rect">
            <a:avLst/>
          </a:prstGeom>
          <a:solidFill>
            <a:srgbClr val="d94b4b"/>
          </a:solidFill>
          <a:ln w="12700">
            <a:solidFill>
              <a:srgbClr val="d94b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1" name="Text 28"/>
          <p:cNvSpPr/>
          <p:nvPr/>
        </p:nvSpPr>
        <p:spPr>
          <a:xfrm>
            <a:off x="4389120" y="4800600"/>
            <a:ext cx="2860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Error analysis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Text 29"/>
          <p:cNvSpPr/>
          <p:nvPr/>
        </p:nvSpPr>
        <p:spPr>
          <a:xfrm>
            <a:off x="4389120" y="5139000"/>
            <a:ext cx="286092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8212f"/>
                </a:solidFill>
                <a:latin typeface="Aptos"/>
                <a:ea typeface="Aptos"/>
              </a:rPr>
              <a:t>False positives, false negatives, thin damage and confusing visual patterns.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3" name="Shape 30"/>
          <p:cNvSpPr/>
          <p:nvPr/>
        </p:nvSpPr>
        <p:spPr>
          <a:xfrm>
            <a:off x="7717680" y="4663440"/>
            <a:ext cx="3802680" cy="9133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Shape 31"/>
          <p:cNvSpPr/>
          <p:nvPr/>
        </p:nvSpPr>
        <p:spPr>
          <a:xfrm>
            <a:off x="7717680" y="4663440"/>
            <a:ext cx="53640" cy="91332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5" name="Text 32"/>
          <p:cNvSpPr/>
          <p:nvPr/>
        </p:nvSpPr>
        <p:spPr>
          <a:xfrm>
            <a:off x="7918560" y="4800600"/>
            <a:ext cx="3418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Test discipline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Text 33"/>
          <p:cNvSpPr/>
          <p:nvPr/>
        </p:nvSpPr>
        <p:spPr>
          <a:xfrm>
            <a:off x="7918560" y="5139000"/>
            <a:ext cx="341892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8212f"/>
                </a:solidFill>
                <a:latin typeface="Aptos"/>
                <a:ea typeface="Aptos"/>
              </a:rPr>
              <a:t>No tuning on test. Primary result uses single-pass inference; TTA remains separate.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PlaceHolder 1"/>
          <p:cNvSpPr>
            <a:spLocks noGrp="1"/>
          </p:cNvSpPr>
          <p:nvPr>
            <p:ph type="sldNum" idx="13"/>
          </p:nvPr>
        </p:nvSpPr>
        <p:spPr>
          <a:xfrm>
            <a:off x="11292840" y="6574680"/>
            <a:ext cx="798840" cy="29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7b8494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A10DE38F-FACC-4120-8B4B-E114D7BF0DEE}" type="slidenum">
              <a:rPr b="0" lang="en-US" sz="850" spc="-1" strike="noStrike">
                <a:solidFill>
                  <a:srgbClr val="7b8494"/>
                </a:solidFill>
                <a:latin typeface="Aptos"/>
                <a:ea typeface="Aptos"/>
              </a:rPr>
              <a:t>&lt;number&gt;</a:t>
            </a:fld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Text 0"/>
          <p:cNvSpPr/>
          <p:nvPr/>
        </p:nvSpPr>
        <p:spPr>
          <a:xfrm>
            <a:off x="567000" y="292680"/>
            <a:ext cx="8960040" cy="40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14213d"/>
                </a:solidFill>
                <a:latin typeface="Aptos Display"/>
                <a:ea typeface="Aptos Display"/>
              </a:rPr>
              <a:t>Product Architecture &amp; Model Boundary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Text 1"/>
          <p:cNvSpPr/>
          <p:nvPr/>
        </p:nvSpPr>
        <p:spPr>
          <a:xfrm>
            <a:off x="585360" y="749880"/>
            <a:ext cx="1069740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667085"/>
                </a:solidFill>
                <a:latin typeface="Aptos"/>
                <a:ea typeface="Aptos"/>
              </a:rPr>
              <a:t>Vision evidence and conversational intelligence remain separate.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Text 2"/>
          <p:cNvSpPr/>
          <p:nvPr/>
        </p:nvSpPr>
        <p:spPr>
          <a:xfrm>
            <a:off x="10168200" y="356760"/>
            <a:ext cx="14162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72" strike="noStrike">
                <a:solidFill>
                  <a:srgbClr val="2f67e8"/>
                </a:solidFill>
                <a:latin typeface="Aptos"/>
                <a:ea typeface="Aptos"/>
              </a:rPr>
              <a:t>10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Shape 3"/>
          <p:cNvSpPr/>
          <p:nvPr/>
        </p:nvSpPr>
        <p:spPr>
          <a:xfrm>
            <a:off x="658440" y="1417320"/>
            <a:ext cx="1919160" cy="10962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Shape 4"/>
          <p:cNvSpPr/>
          <p:nvPr/>
        </p:nvSpPr>
        <p:spPr>
          <a:xfrm>
            <a:off x="658440" y="1417320"/>
            <a:ext cx="53640" cy="10962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3" name="Text 5"/>
          <p:cNvSpPr/>
          <p:nvPr/>
        </p:nvSpPr>
        <p:spPr>
          <a:xfrm>
            <a:off x="859680" y="1554480"/>
            <a:ext cx="15350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Photo input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Text 6"/>
          <p:cNvSpPr/>
          <p:nvPr/>
        </p:nvSpPr>
        <p:spPr>
          <a:xfrm>
            <a:off x="859680" y="1892880"/>
            <a:ext cx="1535040" cy="49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30" spc="-1" strike="noStrike">
                <a:solidFill>
                  <a:srgbClr val="18212f"/>
                </a:solidFill>
                <a:latin typeface="Aptos"/>
                <a:ea typeface="Aptos"/>
              </a:rPr>
              <a:t>Upload / camera</a:t>
            </a:r>
            <a:endParaRPr b="0" lang="en-US" sz="9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30" spc="-1" strike="noStrike">
                <a:solidFill>
                  <a:srgbClr val="18212f"/>
                </a:solidFill>
                <a:latin typeface="Aptos"/>
                <a:ea typeface="Aptos"/>
              </a:rPr>
              <a:t>Preview / replace</a:t>
            </a:r>
            <a:endParaRPr b="0" lang="en-US" sz="9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Shape 7"/>
          <p:cNvSpPr/>
          <p:nvPr/>
        </p:nvSpPr>
        <p:spPr>
          <a:xfrm>
            <a:off x="2724840" y="1783080"/>
            <a:ext cx="410400" cy="227520"/>
          </a:xfrm>
          <a:prstGeom prst="chevron">
            <a:avLst>
              <a:gd name="adj" fmla="val 50000"/>
            </a:avLst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6" name="Shape 8"/>
          <p:cNvSpPr/>
          <p:nvPr/>
        </p:nvSpPr>
        <p:spPr>
          <a:xfrm>
            <a:off x="3200400" y="1417320"/>
            <a:ext cx="1919160" cy="10962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Shape 9"/>
          <p:cNvSpPr/>
          <p:nvPr/>
        </p:nvSpPr>
        <p:spPr>
          <a:xfrm>
            <a:off x="3200400" y="1417320"/>
            <a:ext cx="53640" cy="10962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8" name="Text 10"/>
          <p:cNvSpPr/>
          <p:nvPr/>
        </p:nvSpPr>
        <p:spPr>
          <a:xfrm>
            <a:off x="3401640" y="1554480"/>
            <a:ext cx="15350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Quality gate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Text 11"/>
          <p:cNvSpPr/>
          <p:nvPr/>
        </p:nvSpPr>
        <p:spPr>
          <a:xfrm>
            <a:off x="3401640" y="1892880"/>
            <a:ext cx="1535040" cy="49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30" spc="-1" strike="noStrike">
                <a:solidFill>
                  <a:srgbClr val="18212f"/>
                </a:solidFill>
                <a:latin typeface="Aptos"/>
                <a:ea typeface="Aptos"/>
              </a:rPr>
              <a:t>Blur / exposure / framing</a:t>
            </a:r>
            <a:endParaRPr b="0" lang="en-US" sz="9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30" spc="-1" strike="noStrike">
                <a:solidFill>
                  <a:srgbClr val="18212f"/>
                </a:solidFill>
                <a:latin typeface="Aptos"/>
                <a:ea typeface="Aptos"/>
              </a:rPr>
              <a:t>Fail → retake</a:t>
            </a:r>
            <a:endParaRPr b="0" lang="en-US" sz="9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Shape 12"/>
          <p:cNvSpPr/>
          <p:nvPr/>
        </p:nvSpPr>
        <p:spPr>
          <a:xfrm>
            <a:off x="5285160" y="1783080"/>
            <a:ext cx="410400" cy="227520"/>
          </a:xfrm>
          <a:prstGeom prst="chevron">
            <a:avLst>
              <a:gd name="adj" fmla="val 50000"/>
            </a:avLst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Shape 13"/>
          <p:cNvSpPr/>
          <p:nvPr/>
        </p:nvSpPr>
        <p:spPr>
          <a:xfrm>
            <a:off x="5760720" y="1417320"/>
            <a:ext cx="2056320" cy="10962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Shape 14"/>
          <p:cNvSpPr/>
          <p:nvPr/>
        </p:nvSpPr>
        <p:spPr>
          <a:xfrm>
            <a:off x="5760720" y="1417320"/>
            <a:ext cx="53640" cy="1096200"/>
          </a:xfrm>
          <a:prstGeom prst="rect">
            <a:avLst/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3" name="Text 15"/>
          <p:cNvSpPr/>
          <p:nvPr/>
        </p:nvSpPr>
        <p:spPr>
          <a:xfrm>
            <a:off x="5961960" y="1554480"/>
            <a:ext cx="16722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Hybrid model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Text 16"/>
          <p:cNvSpPr/>
          <p:nvPr/>
        </p:nvSpPr>
        <p:spPr>
          <a:xfrm>
            <a:off x="5961960" y="1892880"/>
            <a:ext cx="1672200" cy="49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30" spc="-1" strike="noStrike">
                <a:solidFill>
                  <a:srgbClr val="18212f"/>
                </a:solidFill>
                <a:latin typeface="Aptos"/>
                <a:ea typeface="Aptos"/>
              </a:rPr>
              <a:t>Class + mask</a:t>
            </a:r>
            <a:endParaRPr b="0" lang="en-US" sz="9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30" spc="-1" strike="noStrike">
                <a:solidFill>
                  <a:srgbClr val="18212f"/>
                </a:solidFill>
                <a:latin typeface="Aptos"/>
                <a:ea typeface="Aptos"/>
              </a:rPr>
              <a:t>Confidence / uncertainty</a:t>
            </a:r>
            <a:endParaRPr b="0" lang="en-US" sz="9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Shape 17"/>
          <p:cNvSpPr/>
          <p:nvPr/>
        </p:nvSpPr>
        <p:spPr>
          <a:xfrm>
            <a:off x="7973640" y="1783080"/>
            <a:ext cx="410400" cy="227520"/>
          </a:xfrm>
          <a:prstGeom prst="chevron">
            <a:avLst>
              <a:gd name="adj" fmla="val 50000"/>
            </a:avLst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6" name="Shape 18"/>
          <p:cNvSpPr/>
          <p:nvPr/>
        </p:nvSpPr>
        <p:spPr>
          <a:xfrm>
            <a:off x="8458200" y="1417320"/>
            <a:ext cx="1919160" cy="10962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Shape 19"/>
          <p:cNvSpPr/>
          <p:nvPr/>
        </p:nvSpPr>
        <p:spPr>
          <a:xfrm>
            <a:off x="8458200" y="1417320"/>
            <a:ext cx="53640" cy="109620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" name="Text 20"/>
          <p:cNvSpPr/>
          <p:nvPr/>
        </p:nvSpPr>
        <p:spPr>
          <a:xfrm>
            <a:off x="8659440" y="1554480"/>
            <a:ext cx="15350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Structured evidence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Text 21"/>
          <p:cNvSpPr/>
          <p:nvPr/>
        </p:nvSpPr>
        <p:spPr>
          <a:xfrm>
            <a:off x="8659440" y="1892880"/>
            <a:ext cx="1535040" cy="49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30" spc="-1" strike="noStrike">
                <a:solidFill>
                  <a:srgbClr val="18212f"/>
                </a:solidFill>
                <a:latin typeface="Aptos"/>
                <a:ea typeface="Aptos"/>
              </a:rPr>
              <a:t>Typed inspection result</a:t>
            </a:r>
            <a:endParaRPr b="0" lang="en-US" sz="9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Shape 22"/>
          <p:cNvSpPr/>
          <p:nvPr/>
        </p:nvSpPr>
        <p:spPr>
          <a:xfrm>
            <a:off x="10561320" y="1783080"/>
            <a:ext cx="410400" cy="227520"/>
          </a:xfrm>
          <a:prstGeom prst="chevron">
            <a:avLst>
              <a:gd name="adj" fmla="val 50000"/>
            </a:avLst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1" name="Shape 23"/>
          <p:cNvSpPr/>
          <p:nvPr/>
        </p:nvSpPr>
        <p:spPr>
          <a:xfrm>
            <a:off x="11018520" y="1417320"/>
            <a:ext cx="501840" cy="109620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Shape 24"/>
          <p:cNvSpPr/>
          <p:nvPr/>
        </p:nvSpPr>
        <p:spPr>
          <a:xfrm>
            <a:off x="11018520" y="1417320"/>
            <a:ext cx="53640" cy="1096200"/>
          </a:xfrm>
          <a:prstGeom prst="rect">
            <a:avLst/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3" name="Text 25"/>
          <p:cNvSpPr/>
          <p:nvPr/>
        </p:nvSpPr>
        <p:spPr>
          <a:xfrm>
            <a:off x="11219760" y="1554480"/>
            <a:ext cx="1177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LLM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4" name="Text 26"/>
          <p:cNvSpPr/>
          <p:nvPr/>
        </p:nvSpPr>
        <p:spPr>
          <a:xfrm>
            <a:off x="11219760" y="1892880"/>
            <a:ext cx="117720" cy="492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760" spc="-1" strike="noStrike">
                <a:solidFill>
                  <a:srgbClr val="18212f"/>
                </a:solidFill>
                <a:latin typeface="Aptos"/>
                <a:ea typeface="Aptos"/>
              </a:rPr>
              <a:t>Explain</a:t>
            </a:r>
            <a:endParaRPr b="0" lang="en-US" sz="7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Shape 27"/>
          <p:cNvSpPr/>
          <p:nvPr/>
        </p:nvSpPr>
        <p:spPr>
          <a:xfrm>
            <a:off x="658440" y="2971800"/>
            <a:ext cx="474480" cy="291600"/>
          </a:xfrm>
          <a:prstGeom prst="roundRect">
            <a:avLst>
              <a:gd name="adj" fmla="val 37500"/>
            </a:avLst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" name="Text 28"/>
          <p:cNvSpPr/>
          <p:nvPr/>
        </p:nvSpPr>
        <p:spPr>
          <a:xfrm>
            <a:off x="658440" y="3035880"/>
            <a:ext cx="474480" cy="10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Aptos"/>
              </a:rPr>
              <a:t>B1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Text 29"/>
          <p:cNvSpPr/>
          <p:nvPr/>
        </p:nvSpPr>
        <p:spPr>
          <a:xfrm>
            <a:off x="1243440" y="3008520"/>
            <a:ext cx="178200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20" spc="-1" strike="noStrike">
                <a:solidFill>
                  <a:srgbClr val="14213d"/>
                </a:solidFill>
                <a:latin typeface="Aptos"/>
              </a:rPr>
              <a:t>Conversational layer</a:t>
            </a:r>
            <a:endParaRPr b="0" lang="en-US" sz="112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Shape 30"/>
          <p:cNvSpPr/>
          <p:nvPr/>
        </p:nvSpPr>
        <p:spPr>
          <a:xfrm>
            <a:off x="658440" y="3401640"/>
            <a:ext cx="3245040" cy="141624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9" name="Shape 31"/>
          <p:cNvSpPr/>
          <p:nvPr/>
        </p:nvSpPr>
        <p:spPr>
          <a:xfrm>
            <a:off x="658440" y="3401640"/>
            <a:ext cx="53640" cy="1416240"/>
          </a:xfrm>
          <a:prstGeom prst="rect">
            <a:avLst/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" name="Text 32"/>
          <p:cNvSpPr/>
          <p:nvPr/>
        </p:nvSpPr>
        <p:spPr>
          <a:xfrm>
            <a:off x="859680" y="3538800"/>
            <a:ext cx="2860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LangChain + Groq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Text 33"/>
          <p:cNvSpPr/>
          <p:nvPr/>
        </p:nvSpPr>
        <p:spPr>
          <a:xfrm>
            <a:off x="859680" y="3877200"/>
            <a:ext cx="2860920" cy="81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Professional LLM persona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Evidence-grounded responses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No hard-coded production templates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API key remains server-side.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Shape 34"/>
          <p:cNvSpPr/>
          <p:nvPr/>
        </p:nvSpPr>
        <p:spPr>
          <a:xfrm>
            <a:off x="4206240" y="3401640"/>
            <a:ext cx="3245040" cy="141624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Shape 35"/>
          <p:cNvSpPr/>
          <p:nvPr/>
        </p:nvSpPr>
        <p:spPr>
          <a:xfrm>
            <a:off x="4206240" y="3401640"/>
            <a:ext cx="53640" cy="141624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Text 36"/>
          <p:cNvSpPr/>
          <p:nvPr/>
        </p:nvSpPr>
        <p:spPr>
          <a:xfrm>
            <a:off x="4407480" y="3538800"/>
            <a:ext cx="28609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Main chat experience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Text 37"/>
          <p:cNvSpPr/>
          <p:nvPr/>
        </p:nvSpPr>
        <p:spPr>
          <a:xfrm>
            <a:off x="4407480" y="3877200"/>
            <a:ext cx="2860920" cy="81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Photo attachment + analysis result + description appear in the same conversation. User can continue chatting after analysis.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6" name="Shape 38"/>
          <p:cNvSpPr/>
          <p:nvPr/>
        </p:nvSpPr>
        <p:spPr>
          <a:xfrm>
            <a:off x="7754040" y="3401640"/>
            <a:ext cx="3766320" cy="141624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7" name="Shape 39"/>
          <p:cNvSpPr/>
          <p:nvPr/>
        </p:nvSpPr>
        <p:spPr>
          <a:xfrm>
            <a:off x="7754040" y="3401640"/>
            <a:ext cx="53640" cy="1416240"/>
          </a:xfrm>
          <a:prstGeom prst="rect">
            <a:avLst/>
          </a:prstGeom>
          <a:solidFill>
            <a:srgbClr val="d94b4b"/>
          </a:solidFill>
          <a:ln w="12700">
            <a:solidFill>
              <a:srgbClr val="d94b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8" name="Text 40"/>
          <p:cNvSpPr/>
          <p:nvPr/>
        </p:nvSpPr>
        <p:spPr>
          <a:xfrm>
            <a:off x="7955280" y="3538800"/>
            <a:ext cx="33822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No cost pathway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9" name="Text 41"/>
          <p:cNvSpPr/>
          <p:nvPr/>
        </p:nvSpPr>
        <p:spPr>
          <a:xfrm>
            <a:off x="7955280" y="3877200"/>
            <a:ext cx="3382200" cy="81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Cost prediction, repair quotes, P10/P50/P90 and cost-related UI/API are removed from the current scope.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0" name="Text 42"/>
          <p:cNvSpPr/>
          <p:nvPr/>
        </p:nvSpPr>
        <p:spPr>
          <a:xfrm>
            <a:off x="658440" y="5257800"/>
            <a:ext cx="13705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667085"/>
                </a:solidFill>
                <a:latin typeface="Aptos"/>
              </a:rPr>
              <a:t>Model responsibility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1" name="Shape 43"/>
          <p:cNvSpPr/>
          <p:nvPr/>
        </p:nvSpPr>
        <p:spPr>
          <a:xfrm>
            <a:off x="1920240" y="5203080"/>
            <a:ext cx="1324800" cy="309960"/>
          </a:xfrm>
          <a:prstGeom prst="roundRect">
            <a:avLst>
              <a:gd name="adj" fmla="val 41176"/>
            </a:avLst>
          </a:prstGeom>
          <a:solidFill>
            <a:srgbClr val="eef4ff"/>
          </a:solidFill>
          <a:ln w="12700">
            <a:solidFill>
              <a:srgbClr val="eef4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2" name="Text 44"/>
          <p:cNvSpPr/>
          <p:nvPr/>
        </p:nvSpPr>
        <p:spPr>
          <a:xfrm>
            <a:off x="1993320" y="5266800"/>
            <a:ext cx="1178640" cy="1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2f67e8"/>
                </a:solidFill>
                <a:latin typeface="Aptos"/>
              </a:rPr>
              <a:t>Evidence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3" name="Shape 45"/>
          <p:cNvSpPr/>
          <p:nvPr/>
        </p:nvSpPr>
        <p:spPr>
          <a:xfrm>
            <a:off x="3410640" y="5203080"/>
            <a:ext cx="1599120" cy="309960"/>
          </a:xfrm>
          <a:prstGeom prst="roundRect">
            <a:avLst>
              <a:gd name="adj" fmla="val 41176"/>
            </a:avLst>
          </a:prstGeom>
          <a:solidFill>
            <a:srgbClr val="eaf8f5"/>
          </a:solidFill>
          <a:ln w="12700">
            <a:solidFill>
              <a:srgbClr val="eaf8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Text 46"/>
          <p:cNvSpPr/>
          <p:nvPr/>
        </p:nvSpPr>
        <p:spPr>
          <a:xfrm>
            <a:off x="3483720" y="5266800"/>
            <a:ext cx="1452960" cy="1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1fa89a"/>
                </a:solidFill>
                <a:latin typeface="Aptos"/>
              </a:rPr>
              <a:t>Confidence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5" name="Shape 47"/>
          <p:cNvSpPr/>
          <p:nvPr/>
        </p:nvSpPr>
        <p:spPr>
          <a:xfrm>
            <a:off x="5184720" y="5203080"/>
            <a:ext cx="1416240" cy="309960"/>
          </a:xfrm>
          <a:prstGeom prst="roundRect">
            <a:avLst>
              <a:gd name="adj" fmla="val 41176"/>
            </a:avLst>
          </a:prstGeom>
          <a:solidFill>
            <a:srgbClr val="f1eeff"/>
          </a:solidFill>
          <a:ln w="12700">
            <a:solidFill>
              <a:srgbClr val="f1ee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Text 48"/>
          <p:cNvSpPr/>
          <p:nvPr/>
        </p:nvSpPr>
        <p:spPr>
          <a:xfrm>
            <a:off x="5257800" y="5266800"/>
            <a:ext cx="1270080" cy="1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7a5af8"/>
                </a:solidFill>
                <a:latin typeface="Aptos"/>
              </a:rPr>
              <a:t>Explanation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7" name="Shape 49"/>
          <p:cNvSpPr/>
          <p:nvPr/>
        </p:nvSpPr>
        <p:spPr>
          <a:xfrm>
            <a:off x="6766560" y="5203080"/>
            <a:ext cx="1279080" cy="309960"/>
          </a:xfrm>
          <a:prstGeom prst="roundRect">
            <a:avLst>
              <a:gd name="adj" fmla="val 41176"/>
            </a:avLst>
          </a:prstGeom>
          <a:solidFill>
            <a:srgbClr val="fff5e1"/>
          </a:solidFill>
          <a:ln w="12700">
            <a:solidFill>
              <a:srgbClr val="fff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Text 50"/>
          <p:cNvSpPr/>
          <p:nvPr/>
        </p:nvSpPr>
        <p:spPr>
          <a:xfrm>
            <a:off x="6839640" y="5266800"/>
            <a:ext cx="1132920" cy="1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59e0b"/>
                </a:solidFill>
                <a:latin typeface="Aptos"/>
              </a:rPr>
              <a:t>Follow-up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PlaceHolder 1"/>
          <p:cNvSpPr>
            <a:spLocks noGrp="1"/>
          </p:cNvSpPr>
          <p:nvPr>
            <p:ph type="sldNum" idx="14"/>
          </p:nvPr>
        </p:nvSpPr>
        <p:spPr>
          <a:xfrm>
            <a:off x="11292840" y="6574680"/>
            <a:ext cx="798840" cy="29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7b8494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C83F8DE8-BB72-4DEB-8F61-2B0EE66C015C}" type="slidenum">
              <a:rPr b="0" lang="en-US" sz="850" spc="-1" strike="noStrike">
                <a:solidFill>
                  <a:srgbClr val="7b8494"/>
                </a:solidFill>
                <a:latin typeface="Aptos"/>
                <a:ea typeface="Aptos"/>
              </a:rPr>
              <a:t>&lt;number&gt;</a:t>
            </a:fld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Text 0"/>
          <p:cNvSpPr/>
          <p:nvPr/>
        </p:nvSpPr>
        <p:spPr>
          <a:xfrm>
            <a:off x="567000" y="292680"/>
            <a:ext cx="8960040" cy="40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14213d"/>
                </a:solidFill>
                <a:latin typeface="Aptos Display"/>
                <a:ea typeface="Aptos Display"/>
              </a:rPr>
              <a:t>Expected Demo / User Experience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1" name="Text 1"/>
          <p:cNvSpPr/>
          <p:nvPr/>
        </p:nvSpPr>
        <p:spPr>
          <a:xfrm>
            <a:off x="585360" y="749880"/>
            <a:ext cx="1069740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667085"/>
                </a:solidFill>
                <a:latin typeface="Aptos"/>
                <a:ea typeface="Aptos"/>
              </a:rPr>
              <a:t>ChatGPT-like photo interaction: the inspection result lives in the main conversation.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2" name="Text 2"/>
          <p:cNvSpPr/>
          <p:nvPr/>
        </p:nvSpPr>
        <p:spPr>
          <a:xfrm>
            <a:off x="10168200" y="356760"/>
            <a:ext cx="14162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72" strike="noStrike">
                <a:solidFill>
                  <a:srgbClr val="2f67e8"/>
                </a:solidFill>
                <a:latin typeface="Aptos"/>
                <a:ea typeface="Aptos"/>
              </a:rPr>
              <a:t>11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Shape 3"/>
          <p:cNvSpPr/>
          <p:nvPr/>
        </p:nvSpPr>
        <p:spPr>
          <a:xfrm>
            <a:off x="658440" y="1234440"/>
            <a:ext cx="3455280" cy="187344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Shape 4"/>
          <p:cNvSpPr/>
          <p:nvPr/>
        </p:nvSpPr>
        <p:spPr>
          <a:xfrm>
            <a:off x="658440" y="1234440"/>
            <a:ext cx="53640" cy="1873440"/>
          </a:xfrm>
          <a:prstGeom prst="rect">
            <a:avLst/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" name="Text 5"/>
          <p:cNvSpPr/>
          <p:nvPr/>
        </p:nvSpPr>
        <p:spPr>
          <a:xfrm>
            <a:off x="859680" y="1371600"/>
            <a:ext cx="30711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1 — Attach or capture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6" name="Text 6"/>
          <p:cNvSpPr/>
          <p:nvPr/>
        </p:nvSpPr>
        <p:spPr>
          <a:xfrm>
            <a:off x="859680" y="1710000"/>
            <a:ext cx="3071160" cy="127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• </a:t>
            </a: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Upload or camera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• </a:t>
            </a: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Preview image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• </a:t>
            </a: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Remove / replace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• </a:t>
            </a: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Send / Analyze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Shape 7"/>
          <p:cNvSpPr/>
          <p:nvPr/>
        </p:nvSpPr>
        <p:spPr>
          <a:xfrm>
            <a:off x="4370760" y="1234440"/>
            <a:ext cx="3455280" cy="187344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Shape 8"/>
          <p:cNvSpPr/>
          <p:nvPr/>
        </p:nvSpPr>
        <p:spPr>
          <a:xfrm>
            <a:off x="4370760" y="1234440"/>
            <a:ext cx="53640" cy="1873440"/>
          </a:xfrm>
          <a:prstGeom prst="rect">
            <a:avLst/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9" name="Text 9"/>
          <p:cNvSpPr/>
          <p:nvPr/>
        </p:nvSpPr>
        <p:spPr>
          <a:xfrm>
            <a:off x="4572000" y="1371600"/>
            <a:ext cx="30711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2 — Analyze in chat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0" name="Text 10"/>
          <p:cNvSpPr/>
          <p:nvPr/>
        </p:nvSpPr>
        <p:spPr>
          <a:xfrm>
            <a:off x="4572000" y="1710000"/>
            <a:ext cx="3071160" cy="127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• </a:t>
            </a: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Quality gate first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• </a:t>
            </a: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Hybrid segmentation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• </a:t>
            </a: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Damage mask + class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• </a:t>
            </a: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Confidence / uncertainty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Shape 11"/>
          <p:cNvSpPr/>
          <p:nvPr/>
        </p:nvSpPr>
        <p:spPr>
          <a:xfrm>
            <a:off x="8083440" y="1234440"/>
            <a:ext cx="3455280" cy="187344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Shape 12"/>
          <p:cNvSpPr/>
          <p:nvPr/>
        </p:nvSpPr>
        <p:spPr>
          <a:xfrm>
            <a:off x="8083440" y="1234440"/>
            <a:ext cx="53640" cy="187344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" name="Text 13"/>
          <p:cNvSpPr/>
          <p:nvPr/>
        </p:nvSpPr>
        <p:spPr>
          <a:xfrm>
            <a:off x="8284320" y="1371600"/>
            <a:ext cx="30711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3 — Continue conversation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4" name="Text 14"/>
          <p:cNvSpPr/>
          <p:nvPr/>
        </p:nvSpPr>
        <p:spPr>
          <a:xfrm>
            <a:off x="8284320" y="1710000"/>
            <a:ext cx="3071160" cy="127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• </a:t>
            </a: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Professional description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• </a:t>
            </a: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Ask follow-up questions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• </a:t>
            </a: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Clarify findings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• </a:t>
            </a:r>
            <a:r>
              <a:rPr b="0" lang="en-US" sz="1030" spc="-1" strike="noStrike">
                <a:solidFill>
                  <a:srgbClr val="18212f"/>
                </a:solidFill>
                <a:latin typeface="Aptos"/>
                <a:ea typeface="Aptos"/>
              </a:rPr>
              <a:t>Retake when needed</a:t>
            </a:r>
            <a:endParaRPr b="0" lang="en-US" sz="10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Text 15"/>
          <p:cNvSpPr/>
          <p:nvPr/>
        </p:nvSpPr>
        <p:spPr>
          <a:xfrm>
            <a:off x="658440" y="3520440"/>
            <a:ext cx="18277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667085"/>
                </a:solidFill>
                <a:latin typeface="Aptos"/>
              </a:rPr>
              <a:t>Conversation example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Shape 16"/>
          <p:cNvSpPr/>
          <p:nvPr/>
        </p:nvSpPr>
        <p:spPr>
          <a:xfrm>
            <a:off x="658440" y="3858840"/>
            <a:ext cx="3747960" cy="6573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7" name="Text 17"/>
          <p:cNvSpPr/>
          <p:nvPr/>
        </p:nvSpPr>
        <p:spPr>
          <a:xfrm>
            <a:off x="868680" y="4087440"/>
            <a:ext cx="329076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</a:rPr>
              <a:t>USER  •  [vehicle photo]  Analyze this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Shape 18"/>
          <p:cNvSpPr/>
          <p:nvPr/>
        </p:nvSpPr>
        <p:spPr>
          <a:xfrm>
            <a:off x="4590360" y="4041720"/>
            <a:ext cx="593280" cy="254880"/>
          </a:xfrm>
          <a:prstGeom prst="chevron">
            <a:avLst>
              <a:gd name="adj" fmla="val 50000"/>
            </a:avLst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9" name="Shape 19"/>
          <p:cNvSpPr/>
          <p:nvPr/>
        </p:nvSpPr>
        <p:spPr>
          <a:xfrm>
            <a:off x="5349240" y="3675960"/>
            <a:ext cx="6171120" cy="1023120"/>
          </a:xfrm>
          <a:prstGeom prst="roundRect">
            <a:avLst>
              <a:gd name="adj" fmla="val 7143"/>
            </a:avLst>
          </a:prstGeom>
          <a:solidFill>
            <a:srgbClr val="eef4ff"/>
          </a:solidFill>
          <a:ln w="12700">
            <a:solidFill>
              <a:srgbClr val="c9d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Text 20"/>
          <p:cNvSpPr/>
          <p:nvPr/>
        </p:nvSpPr>
        <p:spPr>
          <a:xfrm>
            <a:off x="5577840" y="3858840"/>
            <a:ext cx="77616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2f67e8"/>
                </a:solidFill>
                <a:latin typeface="Aptos"/>
              </a:rPr>
              <a:t>ASSISTANT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Text 21"/>
          <p:cNvSpPr/>
          <p:nvPr/>
        </p:nvSpPr>
        <p:spPr>
          <a:xfrm>
            <a:off x="5577840" y="4096440"/>
            <a:ext cx="5622480" cy="3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4213d"/>
                </a:solidFill>
                <a:latin typeface="Aptos"/>
              </a:rPr>
              <a:t>Scratch detected in the highlighted region. The image passed the quality check; model confidence is moderate. Here is what the segmentation shows…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2" name="Shape 22"/>
          <p:cNvSpPr/>
          <p:nvPr/>
        </p:nvSpPr>
        <p:spPr>
          <a:xfrm>
            <a:off x="658440" y="4983480"/>
            <a:ext cx="10861920" cy="593280"/>
          </a:xfrm>
          <a:prstGeom prst="roundRect">
            <a:avLst>
              <a:gd name="adj" fmla="val 27692"/>
            </a:avLst>
          </a:prstGeom>
          <a:solidFill>
            <a:srgbClr val="ffffff"/>
          </a:solidFill>
          <a:ln w="1270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Text 23"/>
          <p:cNvSpPr/>
          <p:nvPr/>
        </p:nvSpPr>
        <p:spPr>
          <a:xfrm>
            <a:off x="868680" y="5175360"/>
            <a:ext cx="63900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667085"/>
                </a:solidFill>
                <a:latin typeface="Aptos"/>
              </a:rPr>
              <a:t>Composer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Shape 24"/>
          <p:cNvSpPr/>
          <p:nvPr/>
        </p:nvSpPr>
        <p:spPr>
          <a:xfrm>
            <a:off x="1828800" y="5083920"/>
            <a:ext cx="1096200" cy="309960"/>
          </a:xfrm>
          <a:prstGeom prst="roundRect">
            <a:avLst>
              <a:gd name="adj" fmla="val 41176"/>
            </a:avLst>
          </a:prstGeom>
          <a:solidFill>
            <a:srgbClr val="eef4ff"/>
          </a:solidFill>
          <a:ln w="12700">
            <a:solidFill>
              <a:srgbClr val="eef4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Text 25"/>
          <p:cNvSpPr/>
          <p:nvPr/>
        </p:nvSpPr>
        <p:spPr>
          <a:xfrm>
            <a:off x="1901880" y="5148000"/>
            <a:ext cx="950040" cy="1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2f67e8"/>
                </a:solidFill>
                <a:latin typeface="Aptos"/>
              </a:rPr>
              <a:t>Attach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Shape 26"/>
          <p:cNvSpPr/>
          <p:nvPr/>
        </p:nvSpPr>
        <p:spPr>
          <a:xfrm>
            <a:off x="3127320" y="5083920"/>
            <a:ext cx="1004760" cy="309960"/>
          </a:xfrm>
          <a:prstGeom prst="roundRect">
            <a:avLst>
              <a:gd name="adj" fmla="val 41176"/>
            </a:avLst>
          </a:prstGeom>
          <a:solidFill>
            <a:srgbClr val="eaf8f5"/>
          </a:solidFill>
          <a:ln w="12700">
            <a:solidFill>
              <a:srgbClr val="eaf8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Text 27"/>
          <p:cNvSpPr/>
          <p:nvPr/>
        </p:nvSpPr>
        <p:spPr>
          <a:xfrm>
            <a:off x="3200400" y="5148000"/>
            <a:ext cx="858600" cy="1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1fa89a"/>
                </a:solidFill>
                <a:latin typeface="Aptos"/>
              </a:rPr>
              <a:t>Camera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Shape 28"/>
          <p:cNvSpPr/>
          <p:nvPr/>
        </p:nvSpPr>
        <p:spPr>
          <a:xfrm>
            <a:off x="9985320" y="5083920"/>
            <a:ext cx="959040" cy="309960"/>
          </a:xfrm>
          <a:prstGeom prst="roundRect">
            <a:avLst>
              <a:gd name="adj" fmla="val 41176"/>
            </a:avLst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9" name="Text 29"/>
          <p:cNvSpPr/>
          <p:nvPr/>
        </p:nvSpPr>
        <p:spPr>
          <a:xfrm>
            <a:off x="10058400" y="5148000"/>
            <a:ext cx="812880" cy="1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fffff"/>
                </a:solidFill>
                <a:latin typeface="Aptos"/>
              </a:rPr>
              <a:t>Send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Text 30"/>
          <p:cNvSpPr/>
          <p:nvPr/>
        </p:nvSpPr>
        <p:spPr>
          <a:xfrm>
            <a:off x="4480560" y="5175360"/>
            <a:ext cx="292500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00" spc="-1" strike="noStrike">
                <a:solidFill>
                  <a:srgbClr val="667085"/>
                </a:solidFill>
                <a:latin typeface="Aptos"/>
              </a:rPr>
              <a:t>Text input stays active after analysis.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PlaceHolder 1"/>
          <p:cNvSpPr>
            <a:spLocks noGrp="1"/>
          </p:cNvSpPr>
          <p:nvPr>
            <p:ph type="sldNum" idx="15"/>
          </p:nvPr>
        </p:nvSpPr>
        <p:spPr>
          <a:xfrm>
            <a:off x="11292840" y="6574680"/>
            <a:ext cx="798840" cy="29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7b8494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71999D2C-8904-48B9-AFB7-B10717977BE0}" type="slidenum">
              <a:rPr b="0" lang="en-US" sz="850" spc="-1" strike="noStrike">
                <a:solidFill>
                  <a:srgbClr val="7b8494"/>
                </a:solidFill>
                <a:latin typeface="Aptos"/>
                <a:ea typeface="Aptos"/>
              </a:rPr>
              <a:t>&lt;number&gt;</a:t>
            </a:fld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Text 0"/>
          <p:cNvSpPr/>
          <p:nvPr/>
        </p:nvSpPr>
        <p:spPr>
          <a:xfrm>
            <a:off x="567000" y="292680"/>
            <a:ext cx="8960040" cy="40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14213d"/>
                </a:solidFill>
                <a:latin typeface="Aptos Display"/>
                <a:ea typeface="Aptos Display"/>
              </a:rPr>
              <a:t>Implementation Structure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Text 1"/>
          <p:cNvSpPr/>
          <p:nvPr/>
        </p:nvSpPr>
        <p:spPr>
          <a:xfrm>
            <a:off x="585360" y="749880"/>
            <a:ext cx="1069740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667085"/>
                </a:solidFill>
                <a:latin typeface="Aptos"/>
                <a:ea typeface="Aptos"/>
              </a:rPr>
              <a:t>Training remains reusable across local, Colab and Kaggle environments; product code stays separate.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Text 2"/>
          <p:cNvSpPr/>
          <p:nvPr/>
        </p:nvSpPr>
        <p:spPr>
          <a:xfrm>
            <a:off x="10168200" y="356760"/>
            <a:ext cx="14162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72" strike="noStrike">
                <a:solidFill>
                  <a:srgbClr val="2f67e8"/>
                </a:solidFill>
                <a:latin typeface="Aptos"/>
                <a:ea typeface="Aptos"/>
              </a:rPr>
              <a:t>12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Text 4"/>
          <p:cNvSpPr/>
          <p:nvPr/>
        </p:nvSpPr>
        <p:spPr>
          <a:xfrm>
            <a:off x="914400" y="1463040"/>
            <a:ext cx="4982400" cy="374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AutoInspect-X/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├── </a:t>
            </a: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apps/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│   ├── </a:t>
            </a: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web/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│   └── </a:t>
            </a: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api/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├── </a:t>
            </a: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ml/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│   ├── </a:t>
            </a: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datasets/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│   ├── </a:t>
            </a: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models/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│   │   ├── </a:t>
            </a: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resnet34_unet.py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│   │   └── </a:t>
            </a: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hybrid_segmentation.py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│   ├── </a:t>
            </a: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training/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│   ├── </a:t>
            </a: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inference/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│   ├── </a:t>
            </a: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evaluation/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│   └── </a:t>
            </a: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experiments/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│       ├── </a:t>
            </a: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pilot15_baseline/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│       └── </a:t>
            </a: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pilot15_hybrid/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├── </a:t>
            </a: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docs/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├── </a:t>
            </a: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archive/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├── </a:t>
            </a: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tests/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└── </a:t>
            </a:r>
            <a:r>
              <a:rPr b="0" lang="en-US" sz="1100" spc="-1" strike="noStrike">
                <a:solidFill>
                  <a:srgbClr val="000000"/>
                </a:solidFill>
                <a:latin typeface="Courier New"/>
              </a:rPr>
              <a:t>README / TASKS / MEMORY</a:t>
            </a:r>
            <a:endParaRPr b="0" lang="en-US" sz="1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Shape 5"/>
          <p:cNvSpPr/>
          <p:nvPr/>
        </p:nvSpPr>
        <p:spPr>
          <a:xfrm>
            <a:off x="6428160" y="1207080"/>
            <a:ext cx="2513520" cy="1279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Shape 6"/>
          <p:cNvSpPr/>
          <p:nvPr/>
        </p:nvSpPr>
        <p:spPr>
          <a:xfrm>
            <a:off x="6428160" y="1207080"/>
            <a:ext cx="53640" cy="127908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8" name="Text 7"/>
          <p:cNvSpPr/>
          <p:nvPr/>
        </p:nvSpPr>
        <p:spPr>
          <a:xfrm>
            <a:off x="6629400" y="1344240"/>
            <a:ext cx="212940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Baseline stays separate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Text 8"/>
          <p:cNvSpPr/>
          <p:nvPr/>
        </p:nvSpPr>
        <p:spPr>
          <a:xfrm>
            <a:off x="6629400" y="1682640"/>
            <a:ext cx="2129400" cy="67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fontScale="96666"/>
          </a:bodyPr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18212f"/>
                </a:solidFill>
                <a:latin typeface="Aptos"/>
                <a:ea typeface="Aptos"/>
              </a:rPr>
              <a:t>Current baseline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8212f"/>
                </a:solidFill>
                <a:latin typeface="Aptos"/>
                <a:ea typeface="Aptos"/>
              </a:rPr>
              <a:t>ResNet34-U-Net is the controlled CNN baseline. Older model versions are archived rather than kept in the active model path.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Shape 9"/>
          <p:cNvSpPr/>
          <p:nvPr/>
        </p:nvSpPr>
        <p:spPr>
          <a:xfrm>
            <a:off x="9144000" y="1207080"/>
            <a:ext cx="2376360" cy="127908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Shape 10"/>
          <p:cNvSpPr/>
          <p:nvPr/>
        </p:nvSpPr>
        <p:spPr>
          <a:xfrm>
            <a:off x="9144000" y="1207080"/>
            <a:ext cx="53640" cy="1279080"/>
          </a:xfrm>
          <a:prstGeom prst="rect">
            <a:avLst/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2" name="Text 11"/>
          <p:cNvSpPr/>
          <p:nvPr/>
        </p:nvSpPr>
        <p:spPr>
          <a:xfrm>
            <a:off x="9345240" y="1344240"/>
            <a:ext cx="199224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Hybrid is new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Text 12"/>
          <p:cNvSpPr/>
          <p:nvPr/>
        </p:nvSpPr>
        <p:spPr>
          <a:xfrm>
            <a:off x="9345240" y="1682640"/>
            <a:ext cx="1992240" cy="67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18212f"/>
                </a:solidFill>
                <a:latin typeface="Aptos"/>
                <a:ea typeface="Aptos"/>
              </a:rPr>
              <a:t>Current hybrid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8212f"/>
                </a:solidFill>
                <a:latin typeface="Aptos"/>
                <a:ea typeface="Aptos"/>
              </a:rPr>
              <a:t>ResNet34 + 16×16 bottleneck Transformer + additive fusion + lightweight decoder.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Shape 13"/>
          <p:cNvSpPr/>
          <p:nvPr/>
        </p:nvSpPr>
        <p:spPr>
          <a:xfrm>
            <a:off x="6428160" y="2743200"/>
            <a:ext cx="5092200" cy="114192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Shape 14"/>
          <p:cNvSpPr/>
          <p:nvPr/>
        </p:nvSpPr>
        <p:spPr>
          <a:xfrm>
            <a:off x="6428160" y="2743200"/>
            <a:ext cx="53640" cy="114192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6" name="Text 15"/>
          <p:cNvSpPr/>
          <p:nvPr/>
        </p:nvSpPr>
        <p:spPr>
          <a:xfrm>
            <a:off x="6629400" y="2880360"/>
            <a:ext cx="47080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Shared infrastructure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Text 16"/>
          <p:cNvSpPr/>
          <p:nvPr/>
        </p:nvSpPr>
        <p:spPr>
          <a:xfrm>
            <a:off x="6629400" y="3218760"/>
            <a:ext cx="4708080" cy="53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18212f"/>
                </a:solidFill>
                <a:latin typeface="Aptos"/>
                <a:ea typeface="Aptos"/>
              </a:rPr>
              <a:t>Shared infrastructure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8212f"/>
                </a:solidFill>
                <a:latin typeface="Aptos"/>
                <a:ea typeface="Aptos"/>
              </a:rPr>
              <a:t>One dataset adapter • one trainer • one metric implementation • one experiment record format.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Shape 17"/>
          <p:cNvSpPr/>
          <p:nvPr/>
        </p:nvSpPr>
        <p:spPr>
          <a:xfrm>
            <a:off x="6428160" y="4160520"/>
            <a:ext cx="5092200" cy="1297440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Shape 18"/>
          <p:cNvSpPr/>
          <p:nvPr/>
        </p:nvSpPr>
        <p:spPr>
          <a:xfrm>
            <a:off x="6428160" y="4160520"/>
            <a:ext cx="53640" cy="1297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Text 19"/>
          <p:cNvSpPr/>
          <p:nvPr/>
        </p:nvSpPr>
        <p:spPr>
          <a:xfrm>
            <a:off x="6629400" y="4297680"/>
            <a:ext cx="47080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Portability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Text 20"/>
          <p:cNvSpPr/>
          <p:nvPr/>
        </p:nvSpPr>
        <p:spPr>
          <a:xfrm>
            <a:off x="6629400" y="4636080"/>
            <a:ext cx="4708080" cy="69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fontScale="87222" lnSpcReduction="10000"/>
          </a:bodyPr>
          <a:p>
            <a:pPr>
              <a:lnSpc>
                <a:spcPct val="100000"/>
              </a:lnSpc>
            </a:pPr>
            <a:r>
              <a:rPr b="0" lang="en-US" sz="950" spc="-1" strike="noStrike">
                <a:solidFill>
                  <a:srgbClr val="18212f"/>
                </a:solidFill>
                <a:latin typeface="Aptos"/>
                <a:ea typeface="Aptos"/>
              </a:rPr>
              <a:t>Research storage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8212f"/>
                </a:solidFill>
                <a:latin typeface="Aptos"/>
                <a:ea typeface="Aptos"/>
              </a:rPr>
              <a:t>Current pilot metadata stays with the experiment. Large checkpoints remain external/ignored. Superseded work goes to archive/.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8212f"/>
                </a:solidFill>
                <a:latin typeface="Aptos"/>
                <a:ea typeface="Aptos"/>
              </a:rPr>
              <a:t>Colab: primary full training.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8212f"/>
                </a:solidFill>
                <a:latin typeface="Aptos"/>
                <a:ea typeface="Aptos"/>
              </a:rPr>
              <a:t>Kaggle: secondary / overflow.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18212f"/>
                </a:solidFill>
                <a:latin typeface="Aptos"/>
                <a:ea typeface="Aptos"/>
              </a:rPr>
              <a:t>Only --data-root changes.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PlaceHolder 1"/>
          <p:cNvSpPr>
            <a:spLocks noGrp="1"/>
          </p:cNvSpPr>
          <p:nvPr>
            <p:ph type="sldNum" idx="16"/>
          </p:nvPr>
        </p:nvSpPr>
        <p:spPr>
          <a:xfrm>
            <a:off x="11292840" y="6574680"/>
            <a:ext cx="798840" cy="29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7b8494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6338479D-25DF-4EFF-8E8B-36543CF5CE74}" type="slidenum">
              <a:rPr b="0" lang="en-US" sz="850" spc="-1" strike="noStrike">
                <a:solidFill>
                  <a:srgbClr val="7b8494"/>
                </a:solidFill>
                <a:latin typeface="Aptos"/>
                <a:ea typeface="Aptos"/>
              </a:rPr>
              <a:t>&lt;number&gt;</a:t>
            </a:fld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Text 0"/>
          <p:cNvSpPr/>
          <p:nvPr/>
        </p:nvSpPr>
        <p:spPr>
          <a:xfrm>
            <a:off x="567000" y="292680"/>
            <a:ext cx="8960040" cy="40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14213d"/>
                </a:solidFill>
                <a:latin typeface="Aptos Display"/>
                <a:ea typeface="Aptos Display"/>
              </a:rPr>
              <a:t>Current Implementation Status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Text 1"/>
          <p:cNvSpPr/>
          <p:nvPr/>
        </p:nvSpPr>
        <p:spPr>
          <a:xfrm>
            <a:off x="585360" y="749880"/>
            <a:ext cx="1069740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667085"/>
                </a:solidFill>
                <a:latin typeface="Aptos"/>
                <a:ea typeface="Aptos"/>
              </a:rPr>
              <a:t>15-epoch pilot training is complete; the next step is full research training and reliable product inference.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Text 2"/>
          <p:cNvSpPr/>
          <p:nvPr/>
        </p:nvSpPr>
        <p:spPr>
          <a:xfrm>
            <a:off x="10168200" y="356760"/>
            <a:ext cx="14162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72" strike="noStrike">
                <a:solidFill>
                  <a:srgbClr val="2f67e8"/>
                </a:solidFill>
                <a:latin typeface="Aptos"/>
                <a:ea typeface="Aptos"/>
              </a:rPr>
              <a:t>13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Shape 3"/>
          <p:cNvSpPr/>
          <p:nvPr/>
        </p:nvSpPr>
        <p:spPr>
          <a:xfrm>
            <a:off x="658440" y="1234440"/>
            <a:ext cx="1992240" cy="123336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Shape 4"/>
          <p:cNvSpPr/>
          <p:nvPr/>
        </p:nvSpPr>
        <p:spPr>
          <a:xfrm>
            <a:off x="658440" y="1234440"/>
            <a:ext cx="53640" cy="1233360"/>
          </a:xfrm>
          <a:prstGeom prst="rect">
            <a:avLst/>
          </a:prstGeom>
          <a:solidFill>
            <a:srgbClr val="2e9b6f"/>
          </a:solidFill>
          <a:ln w="12700">
            <a:solidFill>
              <a:srgbClr val="2e9b6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8" name="Text 5"/>
          <p:cNvSpPr/>
          <p:nvPr/>
        </p:nvSpPr>
        <p:spPr>
          <a:xfrm>
            <a:off x="859680" y="1371600"/>
            <a:ext cx="16081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Code quality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Text 6"/>
          <p:cNvSpPr/>
          <p:nvPr/>
        </p:nvSpPr>
        <p:spPr>
          <a:xfrm>
            <a:off x="859680" y="1710000"/>
            <a:ext cx="1608120" cy="63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>
              <a:lnSpc>
                <a:spcPct val="100000"/>
              </a:lnSpc>
            </a:pPr>
            <a:r>
              <a:rPr b="0" lang="en-US" sz="910" spc="-1" strike="noStrike">
                <a:solidFill>
                  <a:srgbClr val="18212f"/>
                </a:solidFill>
                <a:latin typeface="Aptos"/>
                <a:ea typeface="Aptos"/>
              </a:rPr>
              <a:t>mypy 0 errors</a:t>
            </a:r>
            <a:endParaRPr b="0" lang="en-US" sz="91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910" spc="-1" strike="noStrike">
                <a:solidFill>
                  <a:srgbClr val="18212f"/>
                </a:solidFill>
                <a:latin typeface="Aptos"/>
                <a:ea typeface="Aptos"/>
              </a:rPr>
              <a:t>ruff clean</a:t>
            </a:r>
            <a:endParaRPr b="0" lang="en-US" sz="91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10" spc="-1" strike="noStrike">
                <a:solidFill>
                  <a:srgbClr val="18212f"/>
                </a:solidFill>
                <a:latin typeface="Aptos"/>
                <a:ea typeface="Aptos"/>
              </a:rPr>
              <a:t>pytest green</a:t>
            </a:r>
            <a:endParaRPr b="0" lang="en-US" sz="9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Shape 7"/>
          <p:cNvSpPr/>
          <p:nvPr/>
        </p:nvSpPr>
        <p:spPr>
          <a:xfrm>
            <a:off x="2917080" y="1234440"/>
            <a:ext cx="1992240" cy="123336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Shape 8"/>
          <p:cNvSpPr/>
          <p:nvPr/>
        </p:nvSpPr>
        <p:spPr>
          <a:xfrm>
            <a:off x="2917080" y="1234440"/>
            <a:ext cx="53640" cy="1233360"/>
          </a:xfrm>
          <a:prstGeom prst="rect">
            <a:avLst/>
          </a:prstGeom>
          <a:solidFill>
            <a:srgbClr val="2e9b6f"/>
          </a:solidFill>
          <a:ln w="12700">
            <a:solidFill>
              <a:srgbClr val="2e9b6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2" name="Text 9"/>
          <p:cNvSpPr/>
          <p:nvPr/>
        </p:nvSpPr>
        <p:spPr>
          <a:xfrm>
            <a:off x="3117960" y="1371600"/>
            <a:ext cx="16081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Pilot runs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Text 10"/>
          <p:cNvSpPr/>
          <p:nvPr/>
        </p:nvSpPr>
        <p:spPr>
          <a:xfrm>
            <a:off x="3117960" y="1710000"/>
            <a:ext cx="1608120" cy="63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>
              <a:lnSpc>
                <a:spcPct val="100000"/>
              </a:lnSpc>
            </a:pPr>
            <a:r>
              <a:rPr b="0" lang="en-US" sz="910" spc="-1" strike="noStrike">
                <a:solidFill>
                  <a:srgbClr val="18212f"/>
                </a:solidFill>
                <a:latin typeface="Aptos"/>
                <a:ea typeface="Aptos"/>
              </a:rPr>
              <a:t>Baseline + hybrid</a:t>
            </a:r>
            <a:endParaRPr b="0" lang="en-US" sz="91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10" spc="-1" strike="noStrike">
                <a:solidFill>
                  <a:srgbClr val="18212f"/>
                </a:solidFill>
                <a:latin typeface="Aptos"/>
                <a:ea typeface="Aptos"/>
              </a:rPr>
              <a:t>15 epochs complete</a:t>
            </a:r>
            <a:endParaRPr b="0" lang="en-US" sz="9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Shape 11"/>
          <p:cNvSpPr/>
          <p:nvPr/>
        </p:nvSpPr>
        <p:spPr>
          <a:xfrm>
            <a:off x="5175360" y="1234440"/>
            <a:ext cx="1992240" cy="123336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Shape 12"/>
          <p:cNvSpPr/>
          <p:nvPr/>
        </p:nvSpPr>
        <p:spPr>
          <a:xfrm>
            <a:off x="5175360" y="1234440"/>
            <a:ext cx="53640" cy="1233360"/>
          </a:xfrm>
          <a:prstGeom prst="rect">
            <a:avLst/>
          </a:prstGeom>
          <a:solidFill>
            <a:srgbClr val="2e9b6f"/>
          </a:solidFill>
          <a:ln w="12700">
            <a:solidFill>
              <a:srgbClr val="2e9b6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6" name="Text 13"/>
          <p:cNvSpPr/>
          <p:nvPr/>
        </p:nvSpPr>
        <p:spPr>
          <a:xfrm>
            <a:off x="5376600" y="1371600"/>
            <a:ext cx="16081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Model smoke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Text 14"/>
          <p:cNvSpPr/>
          <p:nvPr/>
        </p:nvSpPr>
        <p:spPr>
          <a:xfrm>
            <a:off x="5376600" y="1710000"/>
            <a:ext cx="1608120" cy="63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>
              <a:lnSpc>
                <a:spcPct val="100000"/>
              </a:lnSpc>
            </a:pPr>
            <a:r>
              <a:rPr b="0" lang="en-US" sz="910" spc="-1" strike="noStrike">
                <a:solidFill>
                  <a:srgbClr val="18212f"/>
                </a:solidFill>
                <a:latin typeface="Aptos"/>
                <a:ea typeface="Aptos"/>
              </a:rPr>
              <a:t>GPU forward + tiny train</a:t>
            </a:r>
            <a:endParaRPr b="0" lang="en-US" sz="91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10" spc="-1" strike="noStrike">
                <a:solidFill>
                  <a:srgbClr val="18212f"/>
                </a:solidFill>
                <a:latin typeface="Aptos"/>
                <a:ea typeface="Aptos"/>
              </a:rPr>
              <a:t>green</a:t>
            </a:r>
            <a:endParaRPr b="0" lang="en-US" sz="9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8" name="Shape 15"/>
          <p:cNvSpPr/>
          <p:nvPr/>
        </p:nvSpPr>
        <p:spPr>
          <a:xfrm>
            <a:off x="7434000" y="1234440"/>
            <a:ext cx="1992240" cy="123336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Shape 16"/>
          <p:cNvSpPr/>
          <p:nvPr/>
        </p:nvSpPr>
        <p:spPr>
          <a:xfrm>
            <a:off x="7434000" y="1234440"/>
            <a:ext cx="53640" cy="1233360"/>
          </a:xfrm>
          <a:prstGeom prst="rect">
            <a:avLst/>
          </a:prstGeom>
          <a:solidFill>
            <a:srgbClr val="2e9b6f"/>
          </a:solidFill>
          <a:ln w="12700">
            <a:solidFill>
              <a:srgbClr val="2e9b6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0" name="Text 17"/>
          <p:cNvSpPr/>
          <p:nvPr/>
        </p:nvSpPr>
        <p:spPr>
          <a:xfrm>
            <a:off x="7635240" y="1371600"/>
            <a:ext cx="16081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Pilot comparison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Text 18"/>
          <p:cNvSpPr/>
          <p:nvPr/>
        </p:nvSpPr>
        <p:spPr>
          <a:xfrm>
            <a:off x="7635240" y="1710000"/>
            <a:ext cx="1608120" cy="63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>
              <a:lnSpc>
                <a:spcPct val="100000"/>
              </a:lnSpc>
            </a:pPr>
            <a:r>
              <a:rPr b="0" lang="en-US" sz="910" spc="-1" strike="noStrike">
                <a:solidFill>
                  <a:srgbClr val="18212f"/>
                </a:solidFill>
                <a:latin typeface="Aptos"/>
                <a:ea typeface="Aptos"/>
              </a:rPr>
              <a:t>Baseline mIoU 0.6127</a:t>
            </a:r>
            <a:endParaRPr b="0" lang="en-US" sz="91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10" spc="-1" strike="noStrike">
                <a:solidFill>
                  <a:srgbClr val="18212f"/>
                </a:solidFill>
                <a:latin typeface="Aptos"/>
                <a:ea typeface="Aptos"/>
              </a:rPr>
              <a:t>Hybrid mIoU 0.5963</a:t>
            </a:r>
            <a:endParaRPr b="0" lang="en-US" sz="9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Shape 19"/>
          <p:cNvSpPr/>
          <p:nvPr/>
        </p:nvSpPr>
        <p:spPr>
          <a:xfrm>
            <a:off x="9692640" y="1234440"/>
            <a:ext cx="1992240" cy="123336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Shape 20"/>
          <p:cNvSpPr/>
          <p:nvPr/>
        </p:nvSpPr>
        <p:spPr>
          <a:xfrm>
            <a:off x="9692640" y="1234440"/>
            <a:ext cx="53640" cy="1233360"/>
          </a:xfrm>
          <a:prstGeom prst="rect">
            <a:avLst/>
          </a:prstGeom>
          <a:solidFill>
            <a:srgbClr val="2e9b6f"/>
          </a:solidFill>
          <a:ln w="12700">
            <a:solidFill>
              <a:srgbClr val="2e9b6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4" name="Text 21"/>
          <p:cNvSpPr/>
          <p:nvPr/>
        </p:nvSpPr>
        <p:spPr>
          <a:xfrm>
            <a:off x="9893880" y="1371600"/>
            <a:ext cx="16081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GPU tiny train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5" name="Text 22"/>
          <p:cNvSpPr/>
          <p:nvPr/>
        </p:nvSpPr>
        <p:spPr>
          <a:xfrm>
            <a:off x="9893880" y="1710000"/>
            <a:ext cx="1608120" cy="63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10" spc="-1" strike="noStrike">
                <a:solidFill>
                  <a:srgbClr val="18212f"/>
                </a:solidFill>
                <a:latin typeface="Aptos"/>
                <a:ea typeface="Aptos"/>
              </a:rPr>
              <a:t>baseline + hybrid green</a:t>
            </a:r>
            <a:endParaRPr b="0" lang="en-US" sz="91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Shape 23"/>
          <p:cNvSpPr/>
          <p:nvPr/>
        </p:nvSpPr>
        <p:spPr>
          <a:xfrm>
            <a:off x="658440" y="2926080"/>
            <a:ext cx="3473640" cy="132480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Shape 24"/>
          <p:cNvSpPr/>
          <p:nvPr/>
        </p:nvSpPr>
        <p:spPr>
          <a:xfrm>
            <a:off x="658440" y="2926080"/>
            <a:ext cx="53640" cy="1324800"/>
          </a:xfrm>
          <a:prstGeom prst="rect">
            <a:avLst/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8" name="Text 25"/>
          <p:cNvSpPr/>
          <p:nvPr/>
        </p:nvSpPr>
        <p:spPr>
          <a:xfrm>
            <a:off x="859680" y="3063240"/>
            <a:ext cx="30895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Hardware evidence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Text 26"/>
          <p:cNvSpPr/>
          <p:nvPr/>
        </p:nvSpPr>
        <p:spPr>
          <a:xfrm>
            <a:off x="859680" y="3401640"/>
            <a:ext cx="3089520" cy="72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fontScale="81111"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15-epoch pilot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Baseline Dice 0.7440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Hybrid Dice 0.7320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Both still improving at epoch 14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Hybrid 512² smoke peak ≈ 1.37 GB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Hybrid ≈ 27.9M parameters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Shape 27"/>
          <p:cNvSpPr/>
          <p:nvPr/>
        </p:nvSpPr>
        <p:spPr>
          <a:xfrm>
            <a:off x="4370760" y="2926080"/>
            <a:ext cx="3473640" cy="132480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1" name="Shape 28"/>
          <p:cNvSpPr/>
          <p:nvPr/>
        </p:nvSpPr>
        <p:spPr>
          <a:xfrm>
            <a:off x="4370760" y="2926080"/>
            <a:ext cx="53640" cy="1324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2" name="Text 29"/>
          <p:cNvSpPr/>
          <p:nvPr/>
        </p:nvSpPr>
        <p:spPr>
          <a:xfrm>
            <a:off x="4572000" y="3063240"/>
            <a:ext cx="30895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What the smoke test proves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Text 30"/>
          <p:cNvSpPr/>
          <p:nvPr/>
        </p:nvSpPr>
        <p:spPr>
          <a:xfrm>
            <a:off x="4572000" y="3401640"/>
            <a:ext cx="3089520" cy="72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Pilot interpretation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The baseline is ahead at 15 epochs on these validation metrics, but this is not the final architecture conclusion.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Shape 31"/>
          <p:cNvSpPr/>
          <p:nvPr/>
        </p:nvSpPr>
        <p:spPr>
          <a:xfrm>
            <a:off x="8083440" y="2926080"/>
            <a:ext cx="3436920" cy="132480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Shape 32"/>
          <p:cNvSpPr/>
          <p:nvPr/>
        </p:nvSpPr>
        <p:spPr>
          <a:xfrm>
            <a:off x="8083440" y="2926080"/>
            <a:ext cx="53640" cy="1324800"/>
          </a:xfrm>
          <a:prstGeom prst="rect">
            <a:avLst/>
          </a:prstGeom>
          <a:solidFill>
            <a:srgbClr val="d94b4b"/>
          </a:solidFill>
          <a:ln w="12700">
            <a:solidFill>
              <a:srgbClr val="d94b4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6" name="Text 33"/>
          <p:cNvSpPr/>
          <p:nvPr/>
        </p:nvSpPr>
        <p:spPr>
          <a:xfrm>
            <a:off x="8284320" y="3063240"/>
            <a:ext cx="305316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What it does NOT prove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" name="Text 34"/>
          <p:cNvSpPr/>
          <p:nvPr/>
        </p:nvSpPr>
        <p:spPr>
          <a:xfrm>
            <a:off x="8284320" y="3401640"/>
            <a:ext cx="3053160" cy="72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What it does NOT prove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00" spc="-1" strike="noStrike">
                <a:solidFill>
                  <a:srgbClr val="18212f"/>
                </a:solidFill>
                <a:latin typeface="Aptos"/>
                <a:ea typeface="Aptos"/>
              </a:rPr>
              <a:t>No final winner, no statistical significance, and no generalization claim. Full 60-epoch / 3-seed evaluation is still required.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Shape 35"/>
          <p:cNvSpPr/>
          <p:nvPr/>
        </p:nvSpPr>
        <p:spPr>
          <a:xfrm>
            <a:off x="658440" y="4645080"/>
            <a:ext cx="10861920" cy="867600"/>
          </a:xfrm>
          <a:prstGeom prst="roundRect">
            <a:avLst>
              <a:gd name="adj" fmla="val 8421"/>
            </a:avLst>
          </a:prstGeom>
          <a:solidFill>
            <a:srgbClr val="eaf8f5"/>
          </a:solidFill>
          <a:ln w="12700">
            <a:solidFill>
              <a:srgbClr val="bde9d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Text 36"/>
          <p:cNvSpPr/>
          <p:nvPr/>
        </p:nvSpPr>
        <p:spPr>
          <a:xfrm>
            <a:off x="914400" y="4919400"/>
            <a:ext cx="501840" cy="13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00" spc="-1" strike="noStrike">
                <a:solidFill>
                  <a:srgbClr val="1fa89a"/>
                </a:solidFill>
                <a:latin typeface="Aptos"/>
              </a:rPr>
              <a:t>NEXT</a:t>
            </a:r>
            <a:endParaRPr b="0" lang="en-US" sz="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Text 37"/>
          <p:cNvSpPr/>
          <p:nvPr/>
        </p:nvSpPr>
        <p:spPr>
          <a:xfrm>
            <a:off x="1600200" y="4873680"/>
            <a:ext cx="9234360" cy="23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96666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14213d"/>
                </a:solidFill>
                <a:latin typeface="Aptos"/>
              </a:rPr>
              <a:t>NEXT  →  debug 15-epoch checkpoint inference → run full 60-epoch training → 3 seeds → frozen test → final comparison.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PlaceHolder 1"/>
          <p:cNvSpPr>
            <a:spLocks noGrp="1"/>
          </p:cNvSpPr>
          <p:nvPr>
            <p:ph type="sldNum" idx="17"/>
          </p:nvPr>
        </p:nvSpPr>
        <p:spPr>
          <a:xfrm>
            <a:off x="11292840" y="6574680"/>
            <a:ext cx="798840" cy="29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7b8494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CEFADE3D-7CF4-4167-964A-11BF61B80E95}" type="slidenum">
              <a:rPr b="0" lang="en-US" sz="850" spc="-1" strike="noStrike">
                <a:solidFill>
                  <a:srgbClr val="7b8494"/>
                </a:solidFill>
                <a:latin typeface="Aptos"/>
                <a:ea typeface="Aptos"/>
              </a:rPr>
              <a:t>&lt;number&gt;</a:t>
            </a:fld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Text 0"/>
          <p:cNvSpPr/>
          <p:nvPr/>
        </p:nvSpPr>
        <p:spPr>
          <a:xfrm>
            <a:off x="567000" y="292680"/>
            <a:ext cx="8960040" cy="40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14213d"/>
                </a:solidFill>
                <a:latin typeface="Aptos Display"/>
                <a:ea typeface="Aptos Display"/>
              </a:rPr>
              <a:t>Timeline &amp; Research Deliverables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Text 1"/>
          <p:cNvSpPr/>
          <p:nvPr/>
        </p:nvSpPr>
        <p:spPr>
          <a:xfrm>
            <a:off x="585360" y="749880"/>
            <a:ext cx="1069740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667085"/>
                </a:solidFill>
                <a:latin typeface="Aptos"/>
                <a:ea typeface="Aptos"/>
              </a:rPr>
              <a:t>Dataset and architecture are established; the 15-epoch pilot is complete and product inference is now being validated.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Text 2"/>
          <p:cNvSpPr/>
          <p:nvPr/>
        </p:nvSpPr>
        <p:spPr>
          <a:xfrm>
            <a:off x="10168200" y="356760"/>
            <a:ext cx="14162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72" strike="noStrike">
                <a:solidFill>
                  <a:srgbClr val="2f67e8"/>
                </a:solidFill>
                <a:latin typeface="Aptos"/>
                <a:ea typeface="Aptos"/>
              </a:rPr>
              <a:t>14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Shape 3"/>
          <p:cNvSpPr/>
          <p:nvPr/>
        </p:nvSpPr>
        <p:spPr>
          <a:xfrm>
            <a:off x="567000" y="1325880"/>
            <a:ext cx="1626480" cy="187344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Shape 4"/>
          <p:cNvSpPr/>
          <p:nvPr/>
        </p:nvSpPr>
        <p:spPr>
          <a:xfrm>
            <a:off x="567000" y="1325880"/>
            <a:ext cx="53640" cy="1873440"/>
          </a:xfrm>
          <a:prstGeom prst="rect">
            <a:avLst/>
          </a:prstGeom>
          <a:solidFill>
            <a:srgbClr val="2e9b6f"/>
          </a:solidFill>
          <a:ln w="12700">
            <a:solidFill>
              <a:srgbClr val="2e9b6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7" name="Text 5"/>
          <p:cNvSpPr/>
          <p:nvPr/>
        </p:nvSpPr>
        <p:spPr>
          <a:xfrm>
            <a:off x="768240" y="1463040"/>
            <a:ext cx="9316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4213d"/>
                </a:solidFill>
                <a:latin typeface="Aptos"/>
                <a:ea typeface="Aptos"/>
              </a:rPr>
              <a:t>Dataset audit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Text 6"/>
          <p:cNvSpPr/>
          <p:nvPr/>
        </p:nvSpPr>
        <p:spPr>
          <a:xfrm>
            <a:off x="768240" y="1892880"/>
            <a:ext cx="1297440" cy="116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8212f"/>
                </a:solidFill>
                <a:latin typeface="Aptos"/>
                <a:ea typeface="Aptos"/>
              </a:rPr>
              <a:t>CarDD split + labels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Shape 7"/>
          <p:cNvSpPr/>
          <p:nvPr/>
        </p:nvSpPr>
        <p:spPr>
          <a:xfrm>
            <a:off x="1737360" y="1481400"/>
            <a:ext cx="392040" cy="245880"/>
          </a:xfrm>
          <a:prstGeom prst="roundRect">
            <a:avLst>
              <a:gd name="adj" fmla="val 41176"/>
            </a:avLst>
          </a:prstGeom>
          <a:solidFill>
            <a:srgbClr val="eaf8f5"/>
          </a:solidFill>
          <a:ln w="12700">
            <a:solidFill>
              <a:srgbClr val="eaf8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Text 8"/>
          <p:cNvSpPr/>
          <p:nvPr/>
        </p:nvSpPr>
        <p:spPr>
          <a:xfrm>
            <a:off x="1774080" y="1522440"/>
            <a:ext cx="31896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60" spc="-1" strike="noStrike">
                <a:solidFill>
                  <a:srgbClr val="1fa89a"/>
                </a:solidFill>
                <a:latin typeface="Aptos"/>
              </a:rPr>
              <a:t>Done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Shape 9"/>
          <p:cNvSpPr/>
          <p:nvPr/>
        </p:nvSpPr>
        <p:spPr>
          <a:xfrm>
            <a:off x="2441520" y="1325880"/>
            <a:ext cx="1626480" cy="187344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Shape 10"/>
          <p:cNvSpPr/>
          <p:nvPr/>
        </p:nvSpPr>
        <p:spPr>
          <a:xfrm>
            <a:off x="2441520" y="1325880"/>
            <a:ext cx="53640" cy="1873440"/>
          </a:xfrm>
          <a:prstGeom prst="rect">
            <a:avLst/>
          </a:prstGeom>
          <a:solidFill>
            <a:srgbClr val="2e9b6f"/>
          </a:solidFill>
          <a:ln w="12700">
            <a:solidFill>
              <a:srgbClr val="2e9b6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3" name="Text 11"/>
          <p:cNvSpPr/>
          <p:nvPr/>
        </p:nvSpPr>
        <p:spPr>
          <a:xfrm>
            <a:off x="2642760" y="1463040"/>
            <a:ext cx="9316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4213d"/>
                </a:solidFill>
                <a:latin typeface="Aptos"/>
                <a:ea typeface="Aptos"/>
              </a:rPr>
              <a:t>Architecture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Text 12"/>
          <p:cNvSpPr/>
          <p:nvPr/>
        </p:nvSpPr>
        <p:spPr>
          <a:xfrm>
            <a:off x="2642760" y="1892880"/>
            <a:ext cx="1297440" cy="116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8212f"/>
                </a:solidFill>
                <a:latin typeface="Aptos"/>
                <a:ea typeface="Aptos"/>
              </a:rPr>
              <a:t>ResNet34 + hybrid implemented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Shape 13"/>
          <p:cNvSpPr/>
          <p:nvPr/>
        </p:nvSpPr>
        <p:spPr>
          <a:xfrm>
            <a:off x="3611880" y="1481400"/>
            <a:ext cx="392040" cy="245880"/>
          </a:xfrm>
          <a:prstGeom prst="roundRect">
            <a:avLst>
              <a:gd name="adj" fmla="val 41176"/>
            </a:avLst>
          </a:prstGeom>
          <a:solidFill>
            <a:srgbClr val="eaf8f5"/>
          </a:solidFill>
          <a:ln w="12700">
            <a:solidFill>
              <a:srgbClr val="eaf8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Text 14"/>
          <p:cNvSpPr/>
          <p:nvPr/>
        </p:nvSpPr>
        <p:spPr>
          <a:xfrm>
            <a:off x="3648600" y="1522440"/>
            <a:ext cx="31896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60" spc="-1" strike="noStrike">
                <a:solidFill>
                  <a:srgbClr val="1fa89a"/>
                </a:solidFill>
                <a:latin typeface="Aptos"/>
              </a:rPr>
              <a:t>Done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Shape 15"/>
          <p:cNvSpPr/>
          <p:nvPr/>
        </p:nvSpPr>
        <p:spPr>
          <a:xfrm>
            <a:off x="4316040" y="1325880"/>
            <a:ext cx="1626480" cy="187344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Shape 16"/>
          <p:cNvSpPr/>
          <p:nvPr/>
        </p:nvSpPr>
        <p:spPr>
          <a:xfrm>
            <a:off x="4316040" y="1325880"/>
            <a:ext cx="53640" cy="1873440"/>
          </a:xfrm>
          <a:prstGeom prst="rect">
            <a:avLst/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9" name="Text 17"/>
          <p:cNvSpPr/>
          <p:nvPr/>
        </p:nvSpPr>
        <p:spPr>
          <a:xfrm>
            <a:off x="4517280" y="1463040"/>
            <a:ext cx="9316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4213d"/>
                </a:solidFill>
                <a:latin typeface="Aptos"/>
                <a:ea typeface="Aptos"/>
              </a:rPr>
              <a:t>Cloud pilot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Text 18"/>
          <p:cNvSpPr/>
          <p:nvPr/>
        </p:nvSpPr>
        <p:spPr>
          <a:xfrm>
            <a:off x="4517280" y="1892880"/>
            <a:ext cx="1297440" cy="116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rgbClr val="18212f"/>
                </a:solidFill>
                <a:latin typeface="Aptos"/>
                <a:ea typeface="Aptos"/>
              </a:rPr>
              <a:t>15-epoch pilot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8212f"/>
                </a:solidFill>
                <a:latin typeface="Aptos"/>
                <a:ea typeface="Aptos"/>
              </a:rPr>
              <a:t>baseline + hybrid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Shape 19"/>
          <p:cNvSpPr/>
          <p:nvPr/>
        </p:nvSpPr>
        <p:spPr>
          <a:xfrm>
            <a:off x="5486400" y="1481400"/>
            <a:ext cx="392040" cy="245880"/>
          </a:xfrm>
          <a:prstGeom prst="roundRect">
            <a:avLst>
              <a:gd name="adj" fmla="val 41176"/>
            </a:avLst>
          </a:prstGeom>
          <a:solidFill>
            <a:srgbClr val="eef4ff"/>
          </a:solidFill>
          <a:ln w="12700">
            <a:solidFill>
              <a:srgbClr val="eef4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Text 20"/>
          <p:cNvSpPr/>
          <p:nvPr/>
        </p:nvSpPr>
        <p:spPr>
          <a:xfrm>
            <a:off x="5523120" y="1522440"/>
            <a:ext cx="31896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60" spc="-1" strike="noStrike">
                <a:solidFill>
                  <a:srgbClr val="2f67e8"/>
                </a:solidFill>
                <a:latin typeface="Aptos"/>
              </a:rPr>
              <a:t>Done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Shape 21"/>
          <p:cNvSpPr/>
          <p:nvPr/>
        </p:nvSpPr>
        <p:spPr>
          <a:xfrm>
            <a:off x="6190560" y="1325880"/>
            <a:ext cx="1626480" cy="187344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" name="Shape 22"/>
          <p:cNvSpPr/>
          <p:nvPr/>
        </p:nvSpPr>
        <p:spPr>
          <a:xfrm>
            <a:off x="6190560" y="1325880"/>
            <a:ext cx="53640" cy="1873440"/>
          </a:xfrm>
          <a:prstGeom prst="rect">
            <a:avLst/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5" name="Text 23"/>
          <p:cNvSpPr/>
          <p:nvPr/>
        </p:nvSpPr>
        <p:spPr>
          <a:xfrm>
            <a:off x="6391800" y="1463040"/>
            <a:ext cx="9316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4213d"/>
                </a:solidFill>
                <a:latin typeface="Aptos"/>
                <a:ea typeface="Aptos"/>
              </a:rPr>
              <a:t>Full training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Text 24"/>
          <p:cNvSpPr/>
          <p:nvPr/>
        </p:nvSpPr>
        <p:spPr>
          <a:xfrm>
            <a:off x="6391800" y="1892880"/>
            <a:ext cx="1297440" cy="116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8212f"/>
                </a:solidFill>
                <a:latin typeface="Aptos"/>
                <a:ea typeface="Aptos"/>
              </a:rPr>
              <a:t>60 epoch max + early stop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Shape 25"/>
          <p:cNvSpPr/>
          <p:nvPr/>
        </p:nvSpPr>
        <p:spPr>
          <a:xfrm>
            <a:off x="7360920" y="1481400"/>
            <a:ext cx="392040" cy="245880"/>
          </a:xfrm>
          <a:prstGeom prst="roundRect">
            <a:avLst>
              <a:gd name="adj" fmla="val 41176"/>
            </a:avLst>
          </a:prstGeom>
          <a:solidFill>
            <a:srgbClr val="eef4ff"/>
          </a:solidFill>
          <a:ln w="12700">
            <a:solidFill>
              <a:srgbClr val="eef4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Text 26"/>
          <p:cNvSpPr/>
          <p:nvPr/>
        </p:nvSpPr>
        <p:spPr>
          <a:xfrm>
            <a:off x="7397640" y="1522440"/>
            <a:ext cx="31896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60" spc="-1" strike="noStrike">
                <a:solidFill>
                  <a:srgbClr val="2f67e8"/>
                </a:solidFill>
                <a:latin typeface="Aptos"/>
              </a:rPr>
              <a:t>Next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Shape 27"/>
          <p:cNvSpPr/>
          <p:nvPr/>
        </p:nvSpPr>
        <p:spPr>
          <a:xfrm>
            <a:off x="8065080" y="1325880"/>
            <a:ext cx="1626480" cy="187344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Shape 28"/>
          <p:cNvSpPr/>
          <p:nvPr/>
        </p:nvSpPr>
        <p:spPr>
          <a:xfrm>
            <a:off x="8065080" y="1325880"/>
            <a:ext cx="53640" cy="187344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Text 29"/>
          <p:cNvSpPr/>
          <p:nvPr/>
        </p:nvSpPr>
        <p:spPr>
          <a:xfrm>
            <a:off x="8266320" y="1463040"/>
            <a:ext cx="9316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4213d"/>
                </a:solidFill>
                <a:latin typeface="Aptos"/>
                <a:ea typeface="Aptos"/>
              </a:rPr>
              <a:t>Final evaluation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Text 30"/>
          <p:cNvSpPr/>
          <p:nvPr/>
        </p:nvSpPr>
        <p:spPr>
          <a:xfrm>
            <a:off x="8266320" y="1892880"/>
            <a:ext cx="1297440" cy="116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8212f"/>
                </a:solidFill>
                <a:latin typeface="Aptos"/>
                <a:ea typeface="Aptos"/>
              </a:rPr>
              <a:t>3 seeds + frozen test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Shape 31"/>
          <p:cNvSpPr/>
          <p:nvPr/>
        </p:nvSpPr>
        <p:spPr>
          <a:xfrm>
            <a:off x="9235440" y="1481400"/>
            <a:ext cx="392040" cy="245880"/>
          </a:xfrm>
          <a:prstGeom prst="roundRect">
            <a:avLst>
              <a:gd name="adj" fmla="val 41176"/>
            </a:avLst>
          </a:prstGeom>
          <a:solidFill>
            <a:srgbClr val="eef4ff"/>
          </a:solidFill>
          <a:ln w="12700">
            <a:solidFill>
              <a:srgbClr val="eef4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Text 32"/>
          <p:cNvSpPr/>
          <p:nvPr/>
        </p:nvSpPr>
        <p:spPr>
          <a:xfrm>
            <a:off x="9272160" y="1522440"/>
            <a:ext cx="31896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60" spc="-1" strike="noStrike">
                <a:solidFill>
                  <a:srgbClr val="2f67e8"/>
                </a:solidFill>
                <a:latin typeface="Aptos"/>
              </a:rPr>
              <a:t>Next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Shape 33"/>
          <p:cNvSpPr/>
          <p:nvPr/>
        </p:nvSpPr>
        <p:spPr>
          <a:xfrm>
            <a:off x="9939600" y="1325880"/>
            <a:ext cx="1626480" cy="1873440"/>
          </a:xfrm>
          <a:prstGeom prst="roundRect">
            <a:avLst>
              <a:gd name="adj" fmla="val 4494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" name="Shape 34"/>
          <p:cNvSpPr/>
          <p:nvPr/>
        </p:nvSpPr>
        <p:spPr>
          <a:xfrm>
            <a:off x="9939600" y="1325880"/>
            <a:ext cx="53640" cy="187344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7" name="Text 35"/>
          <p:cNvSpPr/>
          <p:nvPr/>
        </p:nvSpPr>
        <p:spPr>
          <a:xfrm>
            <a:off x="10140840" y="1463040"/>
            <a:ext cx="93168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4213d"/>
                </a:solidFill>
                <a:latin typeface="Aptos"/>
                <a:ea typeface="Aptos"/>
              </a:rPr>
              <a:t>Research report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Text 36"/>
          <p:cNvSpPr/>
          <p:nvPr/>
        </p:nvSpPr>
        <p:spPr>
          <a:xfrm>
            <a:off x="10140840" y="1892880"/>
            <a:ext cx="1297440" cy="116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rgbClr val="18212f"/>
                </a:solidFill>
                <a:latin typeface="Aptos"/>
                <a:ea typeface="Aptos"/>
              </a:rPr>
              <a:t>~10-page IEEE LaTeX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18212f"/>
                </a:solidFill>
                <a:latin typeface="Aptos"/>
                <a:ea typeface="Aptos"/>
              </a:rPr>
              <a:t>literature review</a:t>
            </a:r>
            <a:endParaRPr b="0" lang="en-US" sz="10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Shape 37"/>
          <p:cNvSpPr/>
          <p:nvPr/>
        </p:nvSpPr>
        <p:spPr>
          <a:xfrm>
            <a:off x="11109960" y="1481400"/>
            <a:ext cx="392040" cy="245880"/>
          </a:xfrm>
          <a:prstGeom prst="roundRect">
            <a:avLst>
              <a:gd name="adj" fmla="val 41176"/>
            </a:avLst>
          </a:prstGeom>
          <a:solidFill>
            <a:srgbClr val="eef4ff"/>
          </a:solidFill>
          <a:ln w="12700">
            <a:solidFill>
              <a:srgbClr val="eef4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Text 38"/>
          <p:cNvSpPr/>
          <p:nvPr/>
        </p:nvSpPr>
        <p:spPr>
          <a:xfrm>
            <a:off x="11146680" y="1522440"/>
            <a:ext cx="318960" cy="19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60" spc="-1" strike="noStrike">
                <a:solidFill>
                  <a:srgbClr val="2f67e8"/>
                </a:solidFill>
                <a:latin typeface="Aptos"/>
              </a:rPr>
              <a:t>In progress</a:t>
            </a:r>
            <a:endParaRPr b="0" lang="en-US" sz="8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" name="Text 39"/>
          <p:cNvSpPr/>
          <p:nvPr/>
        </p:nvSpPr>
        <p:spPr>
          <a:xfrm>
            <a:off x="658440" y="3749040"/>
            <a:ext cx="1827720" cy="18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667085"/>
                </a:solidFill>
                <a:latin typeface="Aptos"/>
              </a:rPr>
              <a:t>Literature review coverage</a:t>
            </a:r>
            <a:endParaRPr b="0" lang="en-US" sz="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Shape 40"/>
          <p:cNvSpPr/>
          <p:nvPr/>
        </p:nvSpPr>
        <p:spPr>
          <a:xfrm>
            <a:off x="658440" y="4069080"/>
            <a:ext cx="3245040" cy="309960"/>
          </a:xfrm>
          <a:prstGeom prst="roundRect">
            <a:avLst>
              <a:gd name="adj" fmla="val 41176"/>
            </a:avLst>
          </a:prstGeom>
          <a:solidFill>
            <a:srgbClr val="eef4ff"/>
          </a:solidFill>
          <a:ln w="12700">
            <a:solidFill>
              <a:srgbClr val="eef4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3" name="Text 41"/>
          <p:cNvSpPr/>
          <p:nvPr/>
        </p:nvSpPr>
        <p:spPr>
          <a:xfrm>
            <a:off x="731520" y="4133160"/>
            <a:ext cx="3098880" cy="1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2f67e8"/>
                </a:solidFill>
                <a:latin typeface="Aptos"/>
              </a:rPr>
              <a:t>Vehicle damage detection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Shape 42"/>
          <p:cNvSpPr/>
          <p:nvPr/>
        </p:nvSpPr>
        <p:spPr>
          <a:xfrm>
            <a:off x="4316040" y="4069080"/>
            <a:ext cx="3245040" cy="309960"/>
          </a:xfrm>
          <a:prstGeom prst="roundRect">
            <a:avLst>
              <a:gd name="adj" fmla="val 41176"/>
            </a:avLst>
          </a:prstGeom>
          <a:solidFill>
            <a:srgbClr val="eaf8f5"/>
          </a:solidFill>
          <a:ln w="12700">
            <a:solidFill>
              <a:srgbClr val="eaf8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Text 43"/>
          <p:cNvSpPr/>
          <p:nvPr/>
        </p:nvSpPr>
        <p:spPr>
          <a:xfrm>
            <a:off x="4389120" y="4133160"/>
            <a:ext cx="3098880" cy="1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1fa89a"/>
                </a:solidFill>
                <a:latin typeface="Aptos"/>
              </a:rPr>
              <a:t>CNN segmentation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6" name="Shape 44"/>
          <p:cNvSpPr/>
          <p:nvPr/>
        </p:nvSpPr>
        <p:spPr>
          <a:xfrm>
            <a:off x="7973640" y="4069080"/>
            <a:ext cx="3245040" cy="309960"/>
          </a:xfrm>
          <a:prstGeom prst="roundRect">
            <a:avLst>
              <a:gd name="adj" fmla="val 41176"/>
            </a:avLst>
          </a:prstGeom>
          <a:solidFill>
            <a:srgbClr val="f1eeff"/>
          </a:solidFill>
          <a:ln w="12700">
            <a:solidFill>
              <a:srgbClr val="f1ee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Text 45"/>
          <p:cNvSpPr/>
          <p:nvPr/>
        </p:nvSpPr>
        <p:spPr>
          <a:xfrm>
            <a:off x="8046720" y="4133160"/>
            <a:ext cx="3098880" cy="1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7a5af8"/>
                </a:solidFill>
                <a:latin typeface="Aptos"/>
              </a:rPr>
              <a:t>Transformer segmentation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Shape 46"/>
          <p:cNvSpPr/>
          <p:nvPr/>
        </p:nvSpPr>
        <p:spPr>
          <a:xfrm>
            <a:off x="658440" y="4507920"/>
            <a:ext cx="3245040" cy="309960"/>
          </a:xfrm>
          <a:prstGeom prst="roundRect">
            <a:avLst>
              <a:gd name="adj" fmla="val 41176"/>
            </a:avLst>
          </a:prstGeom>
          <a:solidFill>
            <a:srgbClr val="eef4ff"/>
          </a:solidFill>
          <a:ln w="12700">
            <a:solidFill>
              <a:srgbClr val="eef4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Text 47"/>
          <p:cNvSpPr/>
          <p:nvPr/>
        </p:nvSpPr>
        <p:spPr>
          <a:xfrm>
            <a:off x="731520" y="4572000"/>
            <a:ext cx="3098880" cy="1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2f67e8"/>
                </a:solidFill>
                <a:latin typeface="Aptos"/>
              </a:rPr>
              <a:t>CNN–Transformer hybrids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Shape 48"/>
          <p:cNvSpPr/>
          <p:nvPr/>
        </p:nvSpPr>
        <p:spPr>
          <a:xfrm>
            <a:off x="4316040" y="4507920"/>
            <a:ext cx="3245040" cy="309960"/>
          </a:xfrm>
          <a:prstGeom prst="roundRect">
            <a:avLst>
              <a:gd name="adj" fmla="val 41176"/>
            </a:avLst>
          </a:prstGeom>
          <a:solidFill>
            <a:srgbClr val="eaf8f5"/>
          </a:solidFill>
          <a:ln w="12700">
            <a:solidFill>
              <a:srgbClr val="eaf8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Text 49"/>
          <p:cNvSpPr/>
          <p:nvPr/>
        </p:nvSpPr>
        <p:spPr>
          <a:xfrm>
            <a:off x="4389120" y="4572000"/>
            <a:ext cx="3098880" cy="1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1fa89a"/>
                </a:solidFill>
                <a:latin typeface="Aptos"/>
              </a:rPr>
              <a:t>Small/fine-grained damage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Shape 50"/>
          <p:cNvSpPr/>
          <p:nvPr/>
        </p:nvSpPr>
        <p:spPr>
          <a:xfrm>
            <a:off x="7973640" y="4507920"/>
            <a:ext cx="3245040" cy="309960"/>
          </a:xfrm>
          <a:prstGeom prst="roundRect">
            <a:avLst>
              <a:gd name="adj" fmla="val 41176"/>
            </a:avLst>
          </a:prstGeom>
          <a:solidFill>
            <a:srgbClr val="f1eeff"/>
          </a:solidFill>
          <a:ln w="12700">
            <a:solidFill>
              <a:srgbClr val="f1ee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Text 51"/>
          <p:cNvSpPr/>
          <p:nvPr/>
        </p:nvSpPr>
        <p:spPr>
          <a:xfrm>
            <a:off x="8046720" y="4572000"/>
            <a:ext cx="3098880" cy="1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7a5af8"/>
                </a:solidFill>
                <a:latin typeface="Aptos"/>
              </a:rPr>
              <a:t>CarDD and automotive datasets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Shape 52"/>
          <p:cNvSpPr/>
          <p:nvPr/>
        </p:nvSpPr>
        <p:spPr>
          <a:xfrm>
            <a:off x="658440" y="4946760"/>
            <a:ext cx="3245040" cy="309960"/>
          </a:xfrm>
          <a:prstGeom prst="roundRect">
            <a:avLst>
              <a:gd name="adj" fmla="val 41176"/>
            </a:avLst>
          </a:prstGeom>
          <a:solidFill>
            <a:srgbClr val="eef4ff"/>
          </a:solidFill>
          <a:ln w="12700">
            <a:solidFill>
              <a:srgbClr val="eef4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Text 53"/>
          <p:cNvSpPr/>
          <p:nvPr/>
        </p:nvSpPr>
        <p:spPr>
          <a:xfrm>
            <a:off x="731520" y="5010840"/>
            <a:ext cx="3098880" cy="1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2f67e8"/>
                </a:solidFill>
                <a:latin typeface="Aptos"/>
              </a:rPr>
              <a:t>Image-quality assessment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" name="Shape 54"/>
          <p:cNvSpPr/>
          <p:nvPr/>
        </p:nvSpPr>
        <p:spPr>
          <a:xfrm>
            <a:off x="4316040" y="4946760"/>
            <a:ext cx="3245040" cy="309960"/>
          </a:xfrm>
          <a:prstGeom prst="roundRect">
            <a:avLst>
              <a:gd name="adj" fmla="val 41176"/>
            </a:avLst>
          </a:prstGeom>
          <a:solidFill>
            <a:srgbClr val="eaf8f5"/>
          </a:solidFill>
          <a:ln w="12700">
            <a:solidFill>
              <a:srgbClr val="eaf8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Text 55"/>
          <p:cNvSpPr/>
          <p:nvPr/>
        </p:nvSpPr>
        <p:spPr>
          <a:xfrm>
            <a:off x="4389120" y="5010840"/>
            <a:ext cx="3098880" cy="1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1fa89a"/>
                </a:solidFill>
                <a:latin typeface="Aptos"/>
              </a:rPr>
              <a:t>Vision + LLM inspection assistants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Shape 56"/>
          <p:cNvSpPr/>
          <p:nvPr/>
        </p:nvSpPr>
        <p:spPr>
          <a:xfrm>
            <a:off x="7973640" y="4946760"/>
            <a:ext cx="3245040" cy="309960"/>
          </a:xfrm>
          <a:prstGeom prst="roundRect">
            <a:avLst>
              <a:gd name="adj" fmla="val 41176"/>
            </a:avLst>
          </a:prstGeom>
          <a:solidFill>
            <a:srgbClr val="f1eeff"/>
          </a:solidFill>
          <a:ln w="12700">
            <a:solidFill>
              <a:srgbClr val="f1ee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Text 57"/>
          <p:cNvSpPr/>
          <p:nvPr/>
        </p:nvSpPr>
        <p:spPr>
          <a:xfrm>
            <a:off x="8046720" y="5010840"/>
            <a:ext cx="3098880" cy="12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7a5af8"/>
                </a:solidFill>
                <a:latin typeface="Aptos"/>
              </a:rPr>
              <a:t>Research gap + AutoInspect-X positioning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PlaceHolder 1"/>
          <p:cNvSpPr>
            <a:spLocks noGrp="1"/>
          </p:cNvSpPr>
          <p:nvPr>
            <p:ph type="sldNum" idx="18"/>
          </p:nvPr>
        </p:nvSpPr>
        <p:spPr>
          <a:xfrm>
            <a:off x="11292840" y="6574680"/>
            <a:ext cx="798840" cy="29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7b8494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621E8297-311F-4AEA-B3FB-884ED4D77313}" type="slidenum">
              <a:rPr b="0" lang="en-US" sz="850" spc="-1" strike="noStrike">
                <a:solidFill>
                  <a:srgbClr val="7b8494"/>
                </a:solidFill>
                <a:latin typeface="Aptos"/>
                <a:ea typeface="Aptos"/>
              </a:rPr>
              <a:t>&lt;number&gt;</a:t>
            </a:fld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Text 0"/>
          <p:cNvSpPr/>
          <p:nvPr/>
        </p:nvSpPr>
        <p:spPr>
          <a:xfrm>
            <a:off x="567000" y="292680"/>
            <a:ext cx="8960040" cy="40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14213d"/>
                </a:solidFill>
                <a:latin typeface="Aptos Display"/>
                <a:ea typeface="Aptos Display"/>
              </a:rPr>
              <a:t>Contribution of Each Member</a:t>
            </a:r>
            <a:endParaRPr b="0" lang="en-US" sz="2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Text 1"/>
          <p:cNvSpPr/>
          <p:nvPr/>
        </p:nvSpPr>
        <p:spPr>
          <a:xfrm>
            <a:off x="585360" y="749880"/>
            <a:ext cx="10697400" cy="291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667085"/>
                </a:solidFill>
                <a:latin typeface="Aptos"/>
                <a:ea typeface="Aptos"/>
              </a:rPr>
              <a:t>Roles remain aligned with the ML research, product integration and evaluation needs.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Text 2"/>
          <p:cNvSpPr/>
          <p:nvPr/>
        </p:nvSpPr>
        <p:spPr>
          <a:xfrm>
            <a:off x="10168200" y="356760"/>
            <a:ext cx="1416240" cy="20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72" strike="noStrike">
                <a:solidFill>
                  <a:srgbClr val="2f67e8"/>
                </a:solidFill>
                <a:latin typeface="Aptos"/>
                <a:ea typeface="Aptos"/>
              </a:rPr>
              <a:t>15</a:t>
            </a:r>
            <a:endParaRPr b="0" lang="en-US" sz="8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Shape 3"/>
          <p:cNvSpPr/>
          <p:nvPr/>
        </p:nvSpPr>
        <p:spPr>
          <a:xfrm>
            <a:off x="658440" y="1207080"/>
            <a:ext cx="2925000" cy="63900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Shape 4"/>
          <p:cNvSpPr/>
          <p:nvPr/>
        </p:nvSpPr>
        <p:spPr>
          <a:xfrm>
            <a:off x="658440" y="1207080"/>
            <a:ext cx="53640" cy="639000"/>
          </a:xfrm>
          <a:prstGeom prst="rect">
            <a:avLst/>
          </a:prstGeom>
          <a:solidFill>
            <a:srgbClr val="2f67e8"/>
          </a:solidFill>
          <a:ln w="12700">
            <a:solidFill>
              <a:srgbClr val="2f6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6" name="Text 5"/>
          <p:cNvSpPr/>
          <p:nvPr/>
        </p:nvSpPr>
        <p:spPr>
          <a:xfrm>
            <a:off x="859680" y="1344240"/>
            <a:ext cx="25408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Janvie Verma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Text 7"/>
          <p:cNvSpPr/>
          <p:nvPr/>
        </p:nvSpPr>
        <p:spPr>
          <a:xfrm>
            <a:off x="3794760" y="1371600"/>
            <a:ext cx="164484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14213d"/>
                </a:solidFill>
                <a:latin typeface="Aptos"/>
              </a:rPr>
              <a:t>Dataset + literature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Text 8"/>
          <p:cNvSpPr/>
          <p:nvPr/>
        </p:nvSpPr>
        <p:spPr>
          <a:xfrm>
            <a:off x="5577840" y="1316880"/>
            <a:ext cx="566820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30" spc="-1" strike="noStrike">
                <a:solidFill>
                  <a:srgbClr val="18212f"/>
                </a:solidFill>
                <a:latin typeface="Aptos"/>
              </a:rPr>
              <a:t>Dataset curation, literature matrix</a:t>
            </a:r>
            <a:endParaRPr b="0" lang="en-US" sz="9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Shape 9"/>
          <p:cNvSpPr/>
          <p:nvPr/>
        </p:nvSpPr>
        <p:spPr>
          <a:xfrm>
            <a:off x="658440" y="2030040"/>
            <a:ext cx="2925000" cy="63900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Shape 10"/>
          <p:cNvSpPr/>
          <p:nvPr/>
        </p:nvSpPr>
        <p:spPr>
          <a:xfrm>
            <a:off x="658440" y="2030040"/>
            <a:ext cx="53640" cy="639000"/>
          </a:xfrm>
          <a:prstGeom prst="rect">
            <a:avLst/>
          </a:prstGeom>
          <a:solidFill>
            <a:srgbClr val="7a5af8"/>
          </a:solidFill>
          <a:ln w="12700">
            <a:solidFill>
              <a:srgbClr val="7a5a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1" name="Text 11"/>
          <p:cNvSpPr/>
          <p:nvPr/>
        </p:nvSpPr>
        <p:spPr>
          <a:xfrm>
            <a:off x="859680" y="2167200"/>
            <a:ext cx="25408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Kislay Anand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Text 12"/>
          <p:cNvSpPr/>
          <p:nvPr/>
        </p:nvSpPr>
        <p:spPr>
          <a:xfrm>
            <a:off x="859680" y="2395440"/>
            <a:ext cx="256860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23BAI10359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Text 13"/>
          <p:cNvSpPr/>
          <p:nvPr/>
        </p:nvSpPr>
        <p:spPr>
          <a:xfrm>
            <a:off x="3794760" y="2194560"/>
            <a:ext cx="164484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14213d"/>
                </a:solidFill>
                <a:latin typeface="Aptos"/>
              </a:rPr>
              <a:t>ML / research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Text 14"/>
          <p:cNvSpPr/>
          <p:nvPr/>
        </p:nvSpPr>
        <p:spPr>
          <a:xfrm>
            <a:off x="5577840" y="2139840"/>
            <a:ext cx="566820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30" spc="-1" strike="noStrike">
                <a:solidFill>
                  <a:srgbClr val="18212f"/>
                </a:solidFill>
                <a:latin typeface="Aptos"/>
              </a:rPr>
              <a:t>Segmentation training, hybrid architecture, experiments</a:t>
            </a:r>
            <a:endParaRPr b="0" lang="en-US" sz="9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Shape 15"/>
          <p:cNvSpPr/>
          <p:nvPr/>
        </p:nvSpPr>
        <p:spPr>
          <a:xfrm>
            <a:off x="658440" y="2853000"/>
            <a:ext cx="2925000" cy="63900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Shape 16"/>
          <p:cNvSpPr/>
          <p:nvPr/>
        </p:nvSpPr>
        <p:spPr>
          <a:xfrm>
            <a:off x="658440" y="2853000"/>
            <a:ext cx="53640" cy="639000"/>
          </a:xfrm>
          <a:prstGeom prst="rect">
            <a:avLst/>
          </a:prstGeom>
          <a:solidFill>
            <a:srgbClr val="1fa89a"/>
          </a:solidFill>
          <a:ln w="12700">
            <a:solidFill>
              <a:srgbClr val="1fa89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7" name="Text 17"/>
          <p:cNvSpPr/>
          <p:nvPr/>
        </p:nvSpPr>
        <p:spPr>
          <a:xfrm>
            <a:off x="859680" y="2990160"/>
            <a:ext cx="25408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Chandrakant Anil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8" name="Text 18"/>
          <p:cNvSpPr/>
          <p:nvPr/>
        </p:nvSpPr>
        <p:spPr>
          <a:xfrm>
            <a:off x="859680" y="3228120"/>
            <a:ext cx="2568600" cy="9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 fontScale="87222" lnSpcReduction="10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23BAI11269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" name="Text 19"/>
          <p:cNvSpPr/>
          <p:nvPr/>
        </p:nvSpPr>
        <p:spPr>
          <a:xfrm>
            <a:off x="3794760" y="3017520"/>
            <a:ext cx="164484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14213d"/>
                </a:solidFill>
                <a:latin typeface="Aptos"/>
              </a:rPr>
              <a:t>Backend / integration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Text 20"/>
          <p:cNvSpPr/>
          <p:nvPr/>
        </p:nvSpPr>
        <p:spPr>
          <a:xfrm>
            <a:off x="5577840" y="2962800"/>
            <a:ext cx="566820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30" spc="-1" strike="noStrike">
                <a:solidFill>
                  <a:srgbClr val="18212f"/>
                </a:solidFill>
                <a:latin typeface="Aptos"/>
              </a:rPr>
              <a:t>FastAPI inference orchestration, report API</a:t>
            </a:r>
            <a:endParaRPr b="0" lang="en-US" sz="9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1" name="Shape 21"/>
          <p:cNvSpPr/>
          <p:nvPr/>
        </p:nvSpPr>
        <p:spPr>
          <a:xfrm>
            <a:off x="658440" y="3675960"/>
            <a:ext cx="2925000" cy="63900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2" name="Shape 22"/>
          <p:cNvSpPr/>
          <p:nvPr/>
        </p:nvSpPr>
        <p:spPr>
          <a:xfrm>
            <a:off x="658440" y="3675960"/>
            <a:ext cx="53640" cy="6390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Text 23"/>
          <p:cNvSpPr/>
          <p:nvPr/>
        </p:nvSpPr>
        <p:spPr>
          <a:xfrm>
            <a:off x="859680" y="3813120"/>
            <a:ext cx="25408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Parikshid Arya Poornachandra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Text 24"/>
          <p:cNvSpPr/>
          <p:nvPr/>
        </p:nvSpPr>
        <p:spPr>
          <a:xfrm>
            <a:off x="859680" y="4041360"/>
            <a:ext cx="256860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23BAI10656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Text 25"/>
          <p:cNvSpPr/>
          <p:nvPr/>
        </p:nvSpPr>
        <p:spPr>
          <a:xfrm>
            <a:off x="3794760" y="3840480"/>
            <a:ext cx="164484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14213d"/>
                </a:solidFill>
                <a:latin typeface="Aptos"/>
              </a:rPr>
              <a:t>Frontend / UX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6" name="Text 26"/>
          <p:cNvSpPr/>
          <p:nvPr/>
        </p:nvSpPr>
        <p:spPr>
          <a:xfrm>
            <a:off x="5577840" y="3785760"/>
            <a:ext cx="566820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30" spc="-1" strike="noStrike">
                <a:solidFill>
                  <a:srgbClr val="18212f"/>
                </a:solidFill>
                <a:latin typeface="Aptos"/>
              </a:rPr>
              <a:t>Inspection workflow, visualization, responsive chat experience</a:t>
            </a:r>
            <a:endParaRPr b="0" lang="en-US" sz="9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7" name="Shape 27"/>
          <p:cNvSpPr/>
          <p:nvPr/>
        </p:nvSpPr>
        <p:spPr>
          <a:xfrm>
            <a:off x="658440" y="4498920"/>
            <a:ext cx="2925000" cy="63900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0160">
            <a:solidFill>
              <a:srgbClr val="d9de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Shape 28"/>
          <p:cNvSpPr/>
          <p:nvPr/>
        </p:nvSpPr>
        <p:spPr>
          <a:xfrm>
            <a:off x="658440" y="4498920"/>
            <a:ext cx="53640" cy="639000"/>
          </a:xfrm>
          <a:prstGeom prst="rect">
            <a:avLst/>
          </a:prstGeom>
          <a:solidFill>
            <a:srgbClr val="14213d"/>
          </a:solidFill>
          <a:ln w="12700">
            <a:solidFill>
              <a:srgbClr val="14213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9" name="Text 29"/>
          <p:cNvSpPr/>
          <p:nvPr/>
        </p:nvSpPr>
        <p:spPr>
          <a:xfrm>
            <a:off x="859680" y="4636080"/>
            <a:ext cx="254088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4213d"/>
                </a:solidFill>
                <a:latin typeface="Aptos"/>
                <a:ea typeface="Aptos"/>
              </a:rPr>
              <a:t>Arya Khullar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0" name="Text 30"/>
          <p:cNvSpPr/>
          <p:nvPr/>
        </p:nvSpPr>
        <p:spPr>
          <a:xfrm>
            <a:off x="859680" y="4865040"/>
            <a:ext cx="256860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23BAI11198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Text 31"/>
          <p:cNvSpPr/>
          <p:nvPr/>
        </p:nvSpPr>
        <p:spPr>
          <a:xfrm>
            <a:off x="3794760" y="4663440"/>
            <a:ext cx="164484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50" spc="-1" strike="noStrike">
                <a:solidFill>
                  <a:srgbClr val="14213d"/>
                </a:solidFill>
                <a:latin typeface="Aptos"/>
              </a:rPr>
              <a:t>Evaluation / documentation</a:t>
            </a:r>
            <a:endParaRPr b="0" lang="en-US" sz="9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Text 32"/>
          <p:cNvSpPr/>
          <p:nvPr/>
        </p:nvSpPr>
        <p:spPr>
          <a:xfrm>
            <a:off x="5577840" y="4608720"/>
            <a:ext cx="5668200" cy="30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30" spc="-1" strike="noStrike">
                <a:solidFill>
                  <a:srgbClr val="18212f"/>
                </a:solidFill>
                <a:latin typeface="Aptos"/>
              </a:rPr>
              <a:t>Metrics, ablations, testing, research presentation</a:t>
            </a:r>
            <a:endParaRPr b="0" lang="en-US" sz="93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PlaceHolder 1"/>
          <p:cNvSpPr>
            <a:spLocks noGrp="1"/>
          </p:cNvSpPr>
          <p:nvPr>
            <p:ph type="sldNum" idx="19"/>
          </p:nvPr>
        </p:nvSpPr>
        <p:spPr>
          <a:xfrm>
            <a:off x="11292840" y="6574680"/>
            <a:ext cx="798840" cy="29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850" spc="-1" strike="noStrike">
                <a:solidFill>
                  <a:srgbClr val="7b8494"/>
                </a:solidFill>
                <a:latin typeface="Aptos"/>
                <a:ea typeface="Aptos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fld id="{10797E24-04E8-4159-B6A3-ECE4CD4B68EE}" type="slidenum">
              <a:rPr b="0" lang="en-US" sz="850" spc="-1" strike="noStrike">
                <a:solidFill>
                  <a:srgbClr val="7b8494"/>
                </a:solidFill>
                <a:latin typeface="Aptos"/>
                <a:ea typeface="Aptos"/>
              </a:rPr>
              <a:t>&lt;number&gt;</a:t>
            </a:fld>
            <a:endParaRPr b="0" lang="en-US" sz="85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4" name="Text 6"/>
          <p:cNvSpPr/>
          <p:nvPr/>
        </p:nvSpPr>
        <p:spPr>
          <a:xfrm>
            <a:off x="859680" y="1600200"/>
            <a:ext cx="2797200" cy="14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rIns="360" tIns="360" bIns="36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0" spc="-1" strike="noStrike">
                <a:solidFill>
                  <a:srgbClr val="18212f"/>
                </a:solidFill>
                <a:latin typeface="Aptos"/>
                <a:ea typeface="Aptos"/>
              </a:rPr>
              <a:t>23BAI10307</a:t>
            </a:r>
            <a:endParaRPr b="0" lang="en-US" sz="88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Text 0"/>
          <p:cNvSpPr/>
          <p:nvPr/>
        </p:nvSpPr>
        <p:spPr>
          <a:xfrm>
            <a:off x="658440" y="502920"/>
            <a:ext cx="411372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00" spc="-1" strike="noStrike">
                <a:solidFill>
                  <a:srgbClr val="ffffff"/>
                </a:solidFill>
                <a:latin typeface="Aptos Display"/>
                <a:ea typeface="Aptos Display"/>
              </a:rPr>
              <a:t>References &amp; Closing</a:t>
            </a:r>
            <a:endParaRPr b="0" lang="en-US" sz="2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6" name="Text 1"/>
          <p:cNvSpPr/>
          <p:nvPr/>
        </p:nvSpPr>
        <p:spPr>
          <a:xfrm>
            <a:off x="676800" y="932760"/>
            <a:ext cx="5028120" cy="22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050" spc="-1" strike="noStrike">
                <a:solidFill>
                  <a:srgbClr val="b9c7db"/>
                </a:solidFill>
                <a:latin typeface="Aptos"/>
              </a:rPr>
              <a:t>Key foundations used for the research framing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7" name="Text 2"/>
          <p:cNvSpPr/>
          <p:nvPr/>
        </p:nvSpPr>
        <p:spPr>
          <a:xfrm>
            <a:off x="685800" y="1353240"/>
            <a:ext cx="5192640" cy="71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9" spc="-1" strike="noStrike" u="sng">
                <a:solidFill>
                  <a:srgbClr val="0563c1"/>
                </a:solidFill>
                <a:uFillTx/>
                <a:latin typeface="Aptos"/>
                <a:hlinkClick r:id="rId1"/>
              </a:rPr>
              <a:t>1. Wang, X., Li, W., Wu, Z. “CarDD: A New Dataset for Vision-Based Car Damage Detection.” IEEE T-ITS, 2023. DOI: 10.1109/TITS.2023.3258480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8" name="Text 3"/>
          <p:cNvSpPr/>
          <p:nvPr/>
        </p:nvSpPr>
        <p:spPr>
          <a:xfrm>
            <a:off x="6309360" y="1353240"/>
            <a:ext cx="5192640" cy="71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9" spc="-1" strike="noStrike" u="sng">
                <a:solidFill>
                  <a:srgbClr val="0563c1"/>
                </a:solidFill>
                <a:uFillTx/>
                <a:latin typeface="Aptos"/>
                <a:hlinkClick r:id="rId2"/>
              </a:rPr>
              <a:t>2. Ronneberger, O., Fischer, P., Brox, T. “U-Net: Convolutional Networks for Biomedical Image Segmentation.” MICCAI, 2015.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9" name="Text 4"/>
          <p:cNvSpPr/>
          <p:nvPr/>
        </p:nvSpPr>
        <p:spPr>
          <a:xfrm>
            <a:off x="685800" y="2267640"/>
            <a:ext cx="5192640" cy="71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9" spc="-1" strike="noStrike" u="sng">
                <a:solidFill>
                  <a:srgbClr val="0563c1"/>
                </a:solidFill>
                <a:uFillTx/>
                <a:latin typeface="Aptos"/>
                <a:hlinkClick r:id="rId3"/>
              </a:rPr>
              <a:t>3. Chen, J. et al. “TransUNet: Transformers Make Strong Encoders for Medical Image Segmentation.” 2021. arXiv:2102.04306.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0" name="Text 5"/>
          <p:cNvSpPr/>
          <p:nvPr/>
        </p:nvSpPr>
        <p:spPr>
          <a:xfrm>
            <a:off x="6309360" y="2267640"/>
            <a:ext cx="5192640" cy="71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9" spc="-1" strike="noStrike" u="sng">
                <a:solidFill>
                  <a:srgbClr val="0563c1"/>
                </a:solidFill>
                <a:uFillTx/>
                <a:latin typeface="Aptos"/>
                <a:hlinkClick r:id="rId4"/>
              </a:rPr>
              <a:t>4. Cheng, B. et al. “Masked-Attention Mask Transformer for Universal Image Segmentation.” CVPR, 2022.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1" name="Text 6"/>
          <p:cNvSpPr/>
          <p:nvPr/>
        </p:nvSpPr>
        <p:spPr>
          <a:xfrm>
            <a:off x="685800" y="3182040"/>
            <a:ext cx="5192640" cy="71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9" spc="-1" strike="noStrike" u="sng">
                <a:solidFill>
                  <a:srgbClr val="0563c1"/>
                </a:solidFill>
                <a:uFillTx/>
                <a:latin typeface="Aptos"/>
                <a:hlinkClick r:id="rId5"/>
              </a:rPr>
              <a:t>5. Patil, K. et al. “Deep Learning Based Car Damage Classification.” IEEE ICMLA, 2017.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2" name="Text 7"/>
          <p:cNvSpPr/>
          <p:nvPr/>
        </p:nvSpPr>
        <p:spPr>
          <a:xfrm>
            <a:off x="6309360" y="3182040"/>
            <a:ext cx="5192640" cy="71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9" spc="-1" strike="noStrike" u="sng">
                <a:solidFill>
                  <a:srgbClr val="0563c1"/>
                </a:solidFill>
                <a:uFillTx/>
                <a:latin typeface="Aptos"/>
                <a:hlinkClick r:id="rId6"/>
              </a:rPr>
              <a:t>6. Venkatesh, M. et al. “Vehicle Damage Detection Using Machine Learning and Segmentation to Aid Insurance Claims.” IEEE INDICON, 2023.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3" name="Text 8"/>
          <p:cNvSpPr/>
          <p:nvPr/>
        </p:nvSpPr>
        <p:spPr>
          <a:xfrm>
            <a:off x="685800" y="4096440"/>
            <a:ext cx="5192640" cy="71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9" spc="-1" strike="noStrike" u="sng">
                <a:solidFill>
                  <a:srgbClr val="0563c1"/>
                </a:solidFill>
                <a:uFillTx/>
                <a:latin typeface="Aptos"/>
                <a:hlinkClick r:id="rId7"/>
              </a:rPr>
              <a:t>7. Hasan, M.J. et al. “Vehicle Damage Detection Using Artificial Intelligence: A Systematic Literature Review.” WIREs Data Mining &amp; Knowledge Discovery, 2025.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4" name="Text 9"/>
          <p:cNvSpPr/>
          <p:nvPr/>
        </p:nvSpPr>
        <p:spPr>
          <a:xfrm>
            <a:off x="6309360" y="4096440"/>
            <a:ext cx="5192640" cy="712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89" spc="-1" strike="noStrike" u="sng">
                <a:solidFill>
                  <a:srgbClr val="0563c1"/>
                </a:solidFill>
                <a:uFillTx/>
                <a:latin typeface="Aptos"/>
                <a:hlinkClick r:id="rId8"/>
              </a:rPr>
              <a:t>8. Huynh et al. “Powering AI-driven car damage identification based on VeHIDE dataset.” 2024.</a:t>
            </a:r>
            <a:endParaRPr b="0" lang="en-US" sz="88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5" name="Shape 10"/>
          <p:cNvSpPr/>
          <p:nvPr/>
        </p:nvSpPr>
        <p:spPr>
          <a:xfrm>
            <a:off x="676800" y="5212080"/>
            <a:ext cx="6582600" cy="748800"/>
          </a:xfrm>
          <a:prstGeom prst="roundRect">
            <a:avLst>
              <a:gd name="adj" fmla="val 9756"/>
            </a:avLst>
          </a:prstGeom>
          <a:solidFill>
            <a:srgbClr val="1b2b49"/>
          </a:solidFill>
          <a:ln w="12700">
            <a:solidFill>
              <a:srgbClr val="2b4a7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6" name="Text 11"/>
          <p:cNvSpPr/>
          <p:nvPr/>
        </p:nvSpPr>
        <p:spPr>
          <a:xfrm>
            <a:off x="932760" y="5403960"/>
            <a:ext cx="1461960" cy="16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00" spc="-1" strike="noStrike">
                <a:solidFill>
                  <a:srgbClr val="a9c6ff"/>
                </a:solidFill>
                <a:latin typeface="Aptos"/>
              </a:rPr>
              <a:t>AutoInspect-X</a:t>
            </a:r>
            <a:endParaRPr b="0" lang="en-US" sz="1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7" name="Text 12"/>
          <p:cNvSpPr/>
          <p:nvPr/>
        </p:nvSpPr>
        <p:spPr>
          <a:xfrm>
            <a:off x="2359080" y="5367600"/>
            <a:ext cx="4552560" cy="26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fontScale="87222" lnSpcReduction="10000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80" spc="-1" strike="noStrike">
                <a:solidFill>
                  <a:srgbClr val="ffffff"/>
                </a:solidFill>
                <a:latin typeface="Aptos"/>
              </a:rPr>
              <a:t>Accurate visible-damage segmentation, grounded explanation, and a defensible research evaluation.</a:t>
            </a:r>
            <a:endParaRPr b="0" lang="en-US" sz="108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8" name="Text 13"/>
          <p:cNvSpPr/>
          <p:nvPr/>
        </p:nvSpPr>
        <p:spPr>
          <a:xfrm>
            <a:off x="8458200" y="5349240"/>
            <a:ext cx="1919160" cy="25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123" strike="noStrike">
                <a:solidFill>
                  <a:srgbClr val="a9c6ff"/>
                </a:solidFill>
                <a:latin typeface="Aptos"/>
              </a:rPr>
              <a:t>THANK YOU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9" name="Text 14"/>
          <p:cNvSpPr/>
          <p:nvPr/>
        </p:nvSpPr>
        <p:spPr>
          <a:xfrm>
            <a:off x="11228760" y="6217920"/>
            <a:ext cx="254880" cy="14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850" spc="-1" strike="noStrike">
                <a:solidFill>
                  <a:srgbClr val="7fa1d6"/>
                </a:solidFill>
                <a:latin typeface="Aptos"/>
              </a:rPr>
              <a:t>17</a:t>
            </a:r>
            <a:endParaRPr b="0" lang="en-US" sz="8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0" name="TextBox 16"/>
          <p:cNvSpPr/>
          <p:nvPr/>
        </p:nvSpPr>
        <p:spPr>
          <a:xfrm>
            <a:off x="8612640" y="777240"/>
            <a:ext cx="197568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algn="ctr" defTabSz="914400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Application>LibreOffice/24.2.7.2$Linux_X86_64 LibreOffice_project/420$Build-2</Application>
  <AppVersion>15.0000</AppVersion>
  <Words>0</Words>
  <Paragraphs>0</Paragraphs>
  <Company>Capstone Project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2026-09-22T07:27:23Z</dcterms:created>
  <dc:creator>AutoInspect-X</dc:creator>
  <dc:description/>
  <dc:language>en-US</dc:language>
  <cp:lastModifiedBy/>
  <dcterms:modified xsi:type="dcterms:W3CDTF">2026-09-22T21:19:41Z</dcterms:modified>
  <cp:revision>5</cp:revision>
  <dc:subject>Capstone Project</dc:subject>
  <dc:title>AutoInspect-X — CNN–Transformer Hybrid Deep Learning for Vehicle Damage Segmentation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17</vt:i4>
  </property>
  <property fmtid="{D5CDD505-2E9C-101B-9397-08002B2CF9AE}" pid="3" name="PresentationFormat">
    <vt:lpwstr>On-screen Show (16:9)</vt:lpwstr>
  </property>
  <property fmtid="{D5CDD505-2E9C-101B-9397-08002B2CF9AE}" pid="4" name="Slides">
    <vt:i4>17</vt:i4>
  </property>
</Properties>
</file>