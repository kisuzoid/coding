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move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the slide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232A0CF-5947-4FB5-A171-29941236D17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5D5206-9AA2-4442-A55C-972E33D4E1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990236-6C1D-4282-9BA0-29EB2836A5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57A9D9-3D44-4BC5-A516-BD4E2951D8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4FCEB5-5EA5-4935-9362-13950AE865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E861AE-8116-4CAA-8388-5EBB63C666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B99544-F994-4F1C-870D-A5AA796C88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67CC6A-1EA5-498B-9B54-4489036684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ECB12F-6C00-47A9-A3C6-B6A71FB26B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A2768-80B6-4F8F-B4D6-B3B07E241F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5AD202-BD47-4D6B-A325-F2F0955A02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6DDA25-E0A2-4719-9BCC-05C0353135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72E26-225B-4F90-ABAC-4A93689C53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14241D-3FDA-42D5-97B1-0DE7F718A0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F464A3-0B75-48DB-AFAD-A5A1C5EC37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171167-1947-43E8-87BE-934C9F8653D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39BD6B-7796-4C65-ACB9-18E1082770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C9D5F8-92D3-427A-9A7F-283A45161B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178F916-C5F3-40EC-8AB0-3BD471CA5CB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6565320"/>
            <a:ext cx="11064240" cy="360"/>
          </a:xfrm>
          <a:prstGeom prst="line">
            <a:avLst/>
          </a:prstGeom>
          <a:ln w="889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7000" y="6602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AutoInspect-X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0204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Capstone Project • Fall 2026–27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D061187-9BB9-4AB4-AE01-BA33242E6747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doi.org/10.1109/TITS.2023.3258480" TargetMode="External"/><Relationship Id="rId2" Type="http://schemas.openxmlformats.org/officeDocument/2006/relationships/hyperlink" Target="https://lmb.informatik.uni-freiburg.de/people/ronneber/u-net/" TargetMode="External"/><Relationship Id="rId3" Type="http://schemas.openxmlformats.org/officeDocument/2006/relationships/hyperlink" Target="https://arxiv.org/abs/2102.04306" TargetMode="External"/><Relationship Id="rId4" Type="http://schemas.openxmlformats.org/officeDocument/2006/relationships/hyperlink" Target="https://openaccess.thecvf.com/content/CVPR2022/html/Cheng_Masked-Attention_Mask_Transformer_for_Universal_Image_Segmentation_CVPR_2022_paper.html" TargetMode="External"/><Relationship Id="rId5" Type="http://schemas.openxmlformats.org/officeDocument/2006/relationships/hyperlink" Target="https://doi.org/10.1109/ICMLA.2017.0-179" TargetMode="External"/><Relationship Id="rId6" Type="http://schemas.openxmlformats.org/officeDocument/2006/relationships/hyperlink" Target="https://doi.org/10.1109/INDICON59947.2023.10440856" TargetMode="External"/><Relationship Id="rId7" Type="http://schemas.openxmlformats.org/officeDocument/2006/relationships/hyperlink" Target="https://doi.org/10.1002/widm.70027" TargetMode="External"/><Relationship Id="rId8" Type="http://schemas.openxmlformats.org/officeDocument/2006/relationships/hyperlink" Target="https://doi.org/10.1080/24751839.2024.2367387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8869680" y="-731520"/>
            <a:ext cx="3748680" cy="3748680"/>
          </a:xfrm>
          <a:prstGeom prst="arc">
            <a:avLst>
              <a:gd name="adj1" fmla="val 16200000"/>
              <a:gd name="adj2" fmla="val 0"/>
            </a:avLst>
          </a:prstGeom>
          <a:noFill/>
          <a:ln w="88900">
            <a:solidFill>
              <a:srgbClr val="2c4b7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9555480" y="228600"/>
            <a:ext cx="2834280" cy="2834280"/>
          </a:xfrm>
          <a:prstGeom prst="arc">
            <a:avLst>
              <a:gd name="adj1" fmla="val 16200000"/>
              <a:gd name="adj2" fmla="val 0"/>
            </a:avLst>
          </a:prstGeom>
          <a:noFill/>
          <a:ln w="50800">
            <a:solidFill>
              <a:srgbClr val="2e8c93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76800" y="5302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9c6ff"/>
                </a:solidFill>
                <a:latin typeface="Aptos"/>
              </a:rPr>
              <a:t>AutoInspect-X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76800" y="941760"/>
            <a:ext cx="22950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5deed"/>
                </a:solidFill>
                <a:latin typeface="Aptos"/>
              </a:rPr>
              <a:t>Group – 160</a:t>
            </a:r>
            <a:endParaRPr b="1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76800" y="1417320"/>
            <a:ext cx="6400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CNN–Transformer Hybrid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Deep Learning for Vehicle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Damage Segmentation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13160" y="3355920"/>
            <a:ext cx="6491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8e2f0"/>
                </a:solidFill>
                <a:latin typeface="Aptos"/>
              </a:rPr>
              <a:t>Global vehicle context + local visual detail → precise pixel-level damage segmentation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13160" y="416052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17" strike="noStrike">
                <a:solidFill>
                  <a:srgbClr val="7fa1d6"/>
                </a:solidFill>
                <a:latin typeface="Aptos"/>
              </a:rPr>
              <a:t>TEAM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713160" y="44438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Janvie Verma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2743200" y="444384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23BAI10307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713160" y="473652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Kislay Anand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2743200" y="473652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23BAI10359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713160" y="502920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Chandrakant Anil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2743200" y="50292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23BAI11269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713160" y="532188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Parikshid Arya Poornachandra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2743200" y="532188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23BAI10656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713160" y="561456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Arya Khullar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2743200" y="56145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23BAI11198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8458200" y="534924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09" strike="noStrike">
                <a:solidFill>
                  <a:srgbClr val="7fa1d6"/>
                </a:solidFill>
                <a:latin typeface="Aptos"/>
              </a:rPr>
              <a:t>CAPSTONE PROJECT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8458200" y="56509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ptos"/>
              </a:rPr>
              <a:t>Fall Semester 2026–27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11155680" y="618120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fa1d6"/>
                </a:solidFill>
                <a:latin typeface="Aptos"/>
              </a:rPr>
              <a:t>01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Problem Statement • Objective • Scope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Direct photo inspection → damage segmentation → professional explanation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594360" y="1143000"/>
            <a:ext cx="3520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594360" y="1143000"/>
            <a:ext cx="54360" cy="18284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740520" y="1289160"/>
            <a:ext cx="310680" cy="310680"/>
          </a:xfrm>
          <a:prstGeom prst="ellipse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740520" y="131688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1161360" y="1280160"/>
            <a:ext cx="2770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Problem statement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795600" y="1618560"/>
            <a:ext cx="313596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18212f"/>
                </a:solidFill>
                <a:latin typeface="Aptos"/>
                <a:ea typeface="Aptos"/>
              </a:rPr>
              <a:t>A single vehicle photo may contain normal curves, reflections, shadows and genuine damage. Reliable inspection therefore requires both local visual evidence and surrounding context.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4343400" y="1143000"/>
            <a:ext cx="3520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4343400" y="1143000"/>
            <a:ext cx="54360" cy="18284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4489560" y="1289160"/>
            <a:ext cx="310680" cy="3106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489560" y="131688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O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910400" y="1280160"/>
            <a:ext cx="2770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Objective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4544640" y="1618560"/>
            <a:ext cx="313596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18212f"/>
                </a:solidFill>
                <a:latin typeface="Aptos"/>
                <a:ea typeface="Aptos"/>
              </a:rPr>
              <a:t>Develop and evaluate a lightweight CNN–Transformer model that produces detailed damage masks, class labels and confidence-aware evidence from one photo.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8092440" y="1143000"/>
            <a:ext cx="3520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8092440" y="1143000"/>
            <a:ext cx="54360" cy="18284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8238600" y="1289160"/>
            <a:ext cx="310680" cy="31068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8238600" y="131688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8659440" y="1280160"/>
            <a:ext cx="2770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Scope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8293680" y="1618560"/>
            <a:ext cx="313596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Photo quality check • hybrid segmentation • visual damage flagging • structured findings • professional LangChain explanation in the main chat.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621720" y="333756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17" strike="noStrike">
                <a:solidFill>
                  <a:srgbClr val="667085"/>
                </a:solidFill>
                <a:latin typeface="Aptos"/>
              </a:rPr>
              <a:t>INPUT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2"/>
          <p:cNvSpPr/>
          <p:nvPr/>
        </p:nvSpPr>
        <p:spPr>
          <a:xfrm>
            <a:off x="621720" y="3602880"/>
            <a:ext cx="141696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694800" y="3666600"/>
            <a:ext cx="1270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Vehicle photo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4"/>
          <p:cNvSpPr/>
          <p:nvPr/>
        </p:nvSpPr>
        <p:spPr>
          <a:xfrm>
            <a:off x="2194560" y="3602880"/>
            <a:ext cx="159984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2267640" y="3666600"/>
            <a:ext cx="1453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Optional camera capture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6"/>
          <p:cNvSpPr/>
          <p:nvPr/>
        </p:nvSpPr>
        <p:spPr>
          <a:xfrm>
            <a:off x="3977640" y="3630240"/>
            <a:ext cx="411120" cy="21924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27"/>
          <p:cNvSpPr/>
          <p:nvPr/>
        </p:nvSpPr>
        <p:spPr>
          <a:xfrm>
            <a:off x="4526280" y="3602880"/>
            <a:ext cx="1508400" cy="310680"/>
          </a:xfrm>
          <a:prstGeom prst="roundRect">
            <a:avLst>
              <a:gd name="adj" fmla="val 41176"/>
            </a:avLst>
          </a:prstGeom>
          <a:solidFill>
            <a:srgbClr val="fff5e1"/>
          </a:solidFill>
          <a:ln w="12700">
            <a:solidFill>
              <a:srgbClr val="fff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4599360" y="3666600"/>
            <a:ext cx="1362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e0b"/>
                </a:solidFill>
                <a:latin typeface="Aptos"/>
              </a:rPr>
              <a:t>Quality gate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9"/>
          <p:cNvSpPr/>
          <p:nvPr/>
        </p:nvSpPr>
        <p:spPr>
          <a:xfrm>
            <a:off x="6172200" y="3630240"/>
            <a:ext cx="411120" cy="21924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30"/>
          <p:cNvSpPr/>
          <p:nvPr/>
        </p:nvSpPr>
        <p:spPr>
          <a:xfrm>
            <a:off x="6720840" y="3602880"/>
            <a:ext cx="1691280" cy="31068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1"/>
          <p:cNvSpPr/>
          <p:nvPr/>
        </p:nvSpPr>
        <p:spPr>
          <a:xfrm>
            <a:off x="6793920" y="3666600"/>
            <a:ext cx="1545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Hybrid segmentation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32"/>
          <p:cNvSpPr/>
          <p:nvPr/>
        </p:nvSpPr>
        <p:spPr>
          <a:xfrm>
            <a:off x="8540640" y="3630240"/>
            <a:ext cx="411120" cy="21924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33"/>
          <p:cNvSpPr/>
          <p:nvPr/>
        </p:nvSpPr>
        <p:spPr>
          <a:xfrm>
            <a:off x="9098280" y="3602880"/>
            <a:ext cx="141696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4"/>
          <p:cNvSpPr/>
          <p:nvPr/>
        </p:nvSpPr>
        <p:spPr>
          <a:xfrm>
            <a:off x="9171360" y="3666600"/>
            <a:ext cx="1270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Damage evidence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35"/>
          <p:cNvSpPr/>
          <p:nvPr/>
        </p:nvSpPr>
        <p:spPr>
          <a:xfrm>
            <a:off x="10680120" y="3630240"/>
            <a:ext cx="411120" cy="2192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36"/>
          <p:cNvSpPr/>
          <p:nvPr/>
        </p:nvSpPr>
        <p:spPr>
          <a:xfrm>
            <a:off x="11137320" y="3602880"/>
            <a:ext cx="59400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7"/>
          <p:cNvSpPr/>
          <p:nvPr/>
        </p:nvSpPr>
        <p:spPr>
          <a:xfrm>
            <a:off x="11210400" y="3666600"/>
            <a:ext cx="447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Chat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38"/>
          <p:cNvSpPr/>
          <p:nvPr/>
        </p:nvSpPr>
        <p:spPr>
          <a:xfrm>
            <a:off x="594360" y="4251960"/>
            <a:ext cx="544032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39"/>
          <p:cNvSpPr/>
          <p:nvPr/>
        </p:nvSpPr>
        <p:spPr>
          <a:xfrm>
            <a:off x="594360" y="4251960"/>
            <a:ext cx="54360" cy="123408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40"/>
          <p:cNvSpPr/>
          <p:nvPr/>
        </p:nvSpPr>
        <p:spPr>
          <a:xfrm>
            <a:off x="795600" y="4389120"/>
            <a:ext cx="505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Explicitly out of scope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1"/>
          <p:cNvSpPr/>
          <p:nvPr/>
        </p:nvSpPr>
        <p:spPr>
          <a:xfrm>
            <a:off x="795600" y="4727520"/>
            <a:ext cx="505620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Repair-cost prediction • repair-action prediction • vehicle-part segmentation without additional labels • reference-image comparison against a perfect vehicle.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42"/>
          <p:cNvSpPr/>
          <p:nvPr/>
        </p:nvSpPr>
        <p:spPr>
          <a:xfrm>
            <a:off x="6263640" y="4251960"/>
            <a:ext cx="534888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43"/>
          <p:cNvSpPr/>
          <p:nvPr/>
        </p:nvSpPr>
        <p:spPr>
          <a:xfrm>
            <a:off x="6263640" y="4251960"/>
            <a:ext cx="54360" cy="1234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44"/>
          <p:cNvSpPr/>
          <p:nvPr/>
        </p:nvSpPr>
        <p:spPr>
          <a:xfrm>
            <a:off x="6464880" y="4389120"/>
            <a:ext cx="496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Core product boundary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45"/>
          <p:cNvSpPr/>
          <p:nvPr/>
        </p:nvSpPr>
        <p:spPr>
          <a:xfrm>
            <a:off x="6464880" y="4727520"/>
            <a:ext cx="496476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The vision model supplies evidence. The LLM explains that evidence, guides retakes when quality fails, and supports follow-up conversation.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5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134FFDC-0F51-4777-A36C-4969FEE5A7E0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2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Why this is a research project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The contribution is the model design and controlled evaluation — not the chatbot itself.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621720" y="1143000"/>
            <a:ext cx="34743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621720" y="1143000"/>
            <a:ext cx="54360" cy="15084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822960" y="1280160"/>
            <a:ext cx="30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Real problem in the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822960" y="1618560"/>
            <a:ext cx="30902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CarDD contains six damage classes, unequal class frequencies, and wide variation in damage area. Small cracks and scratches are particularly challenging.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4370760" y="1143000"/>
            <a:ext cx="34743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4370760" y="1143000"/>
            <a:ext cx="54360" cy="15084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4572000" y="1280160"/>
            <a:ext cx="30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Architectural question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4572000" y="1618560"/>
            <a:ext cx="30902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Can global contextual modelling from a lightweight Transformer complement CNN local features and improve pixel-level damage segmentation?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8119800" y="1143000"/>
            <a:ext cx="34743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8119800" y="1143000"/>
            <a:ext cx="54360" cy="15084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8321040" y="1280160"/>
            <a:ext cx="30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Testable contribution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8321040" y="1618560"/>
            <a:ext cx="30902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Compare a controlled ResNet34-U-Net baseline with the same backbone + bottleneck Transformer, using identical training and evaluation procedures.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621720" y="306324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621720" y="312732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R1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1207080" y="309996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Research question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621720" y="3520440"/>
            <a:ext cx="10972440" cy="105120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 w="12700">
            <a:solidFill>
              <a:srgbClr val="c9d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868680" y="3758040"/>
            <a:ext cx="104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Can a lightweight CNN–Transformer hybrid improve vehicle-damage segmentation, particularly for small and visually subtle damage, compared with a conventional CNN baseline while remaining computationally practical?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621720" y="49834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Research logic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1"/>
          <p:cNvSpPr/>
          <p:nvPr/>
        </p:nvSpPr>
        <p:spPr>
          <a:xfrm>
            <a:off x="621720" y="5285160"/>
            <a:ext cx="1691280" cy="310680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694800" y="5349240"/>
            <a:ext cx="1545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4213d"/>
                </a:solidFill>
                <a:latin typeface="Aptos"/>
              </a:rPr>
              <a:t>Baseline: CNN/U-Net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3"/>
          <p:cNvSpPr/>
          <p:nvPr/>
        </p:nvSpPr>
        <p:spPr>
          <a:xfrm>
            <a:off x="2514600" y="5321880"/>
            <a:ext cx="420120" cy="20088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24"/>
          <p:cNvSpPr/>
          <p:nvPr/>
        </p:nvSpPr>
        <p:spPr>
          <a:xfrm>
            <a:off x="3063240" y="5285160"/>
            <a:ext cx="178272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3136320" y="5349240"/>
            <a:ext cx="16365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Add global context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6"/>
          <p:cNvSpPr/>
          <p:nvPr/>
        </p:nvSpPr>
        <p:spPr>
          <a:xfrm>
            <a:off x="5010840" y="5321880"/>
            <a:ext cx="420120" cy="20088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5559480" y="5285160"/>
            <a:ext cx="1599840" cy="31068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5632560" y="5349240"/>
            <a:ext cx="1453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Hybrid model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9"/>
          <p:cNvSpPr/>
          <p:nvPr/>
        </p:nvSpPr>
        <p:spPr>
          <a:xfrm>
            <a:off x="7360920" y="5321880"/>
            <a:ext cx="420120" cy="20088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30"/>
          <p:cNvSpPr/>
          <p:nvPr/>
        </p:nvSpPr>
        <p:spPr>
          <a:xfrm>
            <a:off x="7909560" y="5285160"/>
            <a:ext cx="141696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1"/>
          <p:cNvSpPr/>
          <p:nvPr/>
        </p:nvSpPr>
        <p:spPr>
          <a:xfrm>
            <a:off x="7982640" y="5349240"/>
            <a:ext cx="1270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Measure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2"/>
          <p:cNvSpPr/>
          <p:nvPr/>
        </p:nvSpPr>
        <p:spPr>
          <a:xfrm>
            <a:off x="9509760" y="5321880"/>
            <a:ext cx="420120" cy="20088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33"/>
          <p:cNvSpPr/>
          <p:nvPr/>
        </p:nvSpPr>
        <p:spPr>
          <a:xfrm>
            <a:off x="10058400" y="5285160"/>
            <a:ext cx="1416960" cy="310680"/>
          </a:xfrm>
          <a:prstGeom prst="roundRect">
            <a:avLst>
              <a:gd name="adj" fmla="val 41176"/>
            </a:avLst>
          </a:prstGeom>
          <a:solidFill>
            <a:srgbClr val="fff5e1"/>
          </a:solidFill>
          <a:ln w="12700">
            <a:solidFill>
              <a:srgbClr val="fff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4"/>
          <p:cNvSpPr/>
          <p:nvPr/>
        </p:nvSpPr>
        <p:spPr>
          <a:xfrm>
            <a:off x="10131480" y="5349240"/>
            <a:ext cx="1270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e0b"/>
                </a:solidFill>
                <a:latin typeface="Aptos"/>
              </a:rPr>
              <a:t>Conclude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sldNum" idx="6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8C04A2-19C6-4682-8200-31DF4BF36E0B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3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Methodology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A controlled workflow separates data preparation, model research, evaluation and product integration.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640080" y="1371600"/>
            <a:ext cx="242280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640080" y="1371600"/>
            <a:ext cx="54360" cy="23313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786240" y="1517760"/>
            <a:ext cx="310680" cy="310680"/>
          </a:xfrm>
          <a:prstGeom prst="ellipse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786240" y="154548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207080" y="150876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Dataset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841320" y="1847160"/>
            <a:ext cx="2038680" cy="17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Audit CarDD; keep train/validation/test separated; verify labels and leakage.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3429000" y="1371600"/>
            <a:ext cx="242280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0"/>
          <p:cNvSpPr/>
          <p:nvPr/>
        </p:nvSpPr>
        <p:spPr>
          <a:xfrm>
            <a:off x="3429000" y="1371600"/>
            <a:ext cx="54360" cy="2331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3575160" y="1517760"/>
            <a:ext cx="310680" cy="3106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3575160" y="154548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3996000" y="150876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Baseline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3630240" y="1847160"/>
            <a:ext cx="2038680" cy="17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Train controlled ResNet34-U-Net under the shared training procedure.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6217920" y="1371600"/>
            <a:ext cx="242280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6"/>
          <p:cNvSpPr/>
          <p:nvPr/>
        </p:nvSpPr>
        <p:spPr>
          <a:xfrm>
            <a:off x="6217920" y="1371600"/>
            <a:ext cx="54360" cy="23313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7"/>
          <p:cNvSpPr/>
          <p:nvPr/>
        </p:nvSpPr>
        <p:spPr>
          <a:xfrm>
            <a:off x="6364080" y="1517760"/>
            <a:ext cx="310680" cy="31068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6364080" y="154548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6784920" y="150876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Hybrid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6419160" y="1847160"/>
            <a:ext cx="2038680" cy="17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Add the bottleneck Transformer + fusion; keep all other conditions fixed.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1"/>
          <p:cNvSpPr/>
          <p:nvPr/>
        </p:nvSpPr>
        <p:spPr>
          <a:xfrm>
            <a:off x="9006840" y="1371600"/>
            <a:ext cx="242280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2"/>
          <p:cNvSpPr/>
          <p:nvPr/>
        </p:nvSpPr>
        <p:spPr>
          <a:xfrm>
            <a:off x="9006840" y="1371600"/>
            <a:ext cx="54360" cy="23313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9153000" y="1517760"/>
            <a:ext cx="310680" cy="3106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9153000" y="154548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9573840" y="150876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Evaluation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6"/>
          <p:cNvSpPr/>
          <p:nvPr/>
        </p:nvSpPr>
        <p:spPr>
          <a:xfrm>
            <a:off x="9208080" y="1847160"/>
            <a:ext cx="2038680" cy="17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Multi-seed metrics, small-damage analysis, error analysis and efficiency.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7"/>
          <p:cNvSpPr/>
          <p:nvPr/>
        </p:nvSpPr>
        <p:spPr>
          <a:xfrm>
            <a:off x="3127320" y="2340720"/>
            <a:ext cx="319680" cy="22824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8"/>
          <p:cNvSpPr/>
          <p:nvPr/>
        </p:nvSpPr>
        <p:spPr>
          <a:xfrm>
            <a:off x="5916240" y="2340720"/>
            <a:ext cx="319680" cy="22824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9"/>
          <p:cNvSpPr/>
          <p:nvPr/>
        </p:nvSpPr>
        <p:spPr>
          <a:xfrm>
            <a:off x="8705160" y="2340720"/>
            <a:ext cx="319680" cy="22824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30"/>
          <p:cNvSpPr/>
          <p:nvPr/>
        </p:nvSpPr>
        <p:spPr>
          <a:xfrm>
            <a:off x="667440" y="40690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213d"/>
                </a:solidFill>
                <a:latin typeface="Aptos"/>
              </a:rPr>
              <a:t>Product integration happens after the model is validated.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31"/>
          <p:cNvSpPr/>
          <p:nvPr/>
        </p:nvSpPr>
        <p:spPr>
          <a:xfrm>
            <a:off x="658440" y="4480560"/>
            <a:ext cx="324576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2"/>
          <p:cNvSpPr/>
          <p:nvPr/>
        </p:nvSpPr>
        <p:spPr>
          <a:xfrm>
            <a:off x="658440" y="4480560"/>
            <a:ext cx="54360" cy="109692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33"/>
          <p:cNvSpPr/>
          <p:nvPr/>
        </p:nvSpPr>
        <p:spPr>
          <a:xfrm>
            <a:off x="859680" y="461772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Vision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34"/>
          <p:cNvSpPr/>
          <p:nvPr/>
        </p:nvSpPr>
        <p:spPr>
          <a:xfrm>
            <a:off x="859680" y="4956120"/>
            <a:ext cx="2861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Image quality → segmentation → masks → class → calibrated confidence.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5"/>
          <p:cNvSpPr/>
          <p:nvPr/>
        </p:nvSpPr>
        <p:spPr>
          <a:xfrm>
            <a:off x="4114800" y="4827960"/>
            <a:ext cx="502560" cy="25560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36"/>
          <p:cNvSpPr/>
          <p:nvPr/>
        </p:nvSpPr>
        <p:spPr>
          <a:xfrm>
            <a:off x="4709160" y="4480560"/>
            <a:ext cx="292572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7"/>
          <p:cNvSpPr/>
          <p:nvPr/>
        </p:nvSpPr>
        <p:spPr>
          <a:xfrm>
            <a:off x="4709160" y="4480560"/>
            <a:ext cx="54360" cy="10969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8"/>
          <p:cNvSpPr/>
          <p:nvPr/>
        </p:nvSpPr>
        <p:spPr>
          <a:xfrm>
            <a:off x="4910400" y="4617720"/>
            <a:ext cx="254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Structured result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9"/>
          <p:cNvSpPr/>
          <p:nvPr/>
        </p:nvSpPr>
        <p:spPr>
          <a:xfrm>
            <a:off x="4910400" y="4956120"/>
            <a:ext cx="2541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Typed evidence passed to the application and conversational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40"/>
          <p:cNvSpPr/>
          <p:nvPr/>
        </p:nvSpPr>
        <p:spPr>
          <a:xfrm>
            <a:off x="7882200" y="4827960"/>
            <a:ext cx="502560" cy="25560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41"/>
          <p:cNvSpPr/>
          <p:nvPr/>
        </p:nvSpPr>
        <p:spPr>
          <a:xfrm>
            <a:off x="8485560" y="4480560"/>
            <a:ext cx="306288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2"/>
          <p:cNvSpPr/>
          <p:nvPr/>
        </p:nvSpPr>
        <p:spPr>
          <a:xfrm>
            <a:off x="8485560" y="4480560"/>
            <a:ext cx="54360" cy="10969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43"/>
          <p:cNvSpPr/>
          <p:nvPr/>
        </p:nvSpPr>
        <p:spPr>
          <a:xfrm>
            <a:off x="8686800" y="4617720"/>
            <a:ext cx="267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Conversational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4"/>
          <p:cNvSpPr/>
          <p:nvPr/>
        </p:nvSpPr>
        <p:spPr>
          <a:xfrm>
            <a:off x="8686800" y="4956120"/>
            <a:ext cx="2678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LangChain LLM explains findings and handles follow-up chat.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7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A41D46-BB1E-4A51-BEC2-05F71762D27E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4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Architecture / Process Flow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Human-inspired principle: global context → suspicious region → local detail → precise segmentation.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658440" y="107892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658440" y="114300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A1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243440" y="111564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Human inspection analogy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658440" y="1572840"/>
            <a:ext cx="173700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658440" y="1572840"/>
            <a:ext cx="54360" cy="840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859680" y="171000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Whole 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859680" y="2048400"/>
            <a:ext cx="1352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Observe overall view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2468880" y="1856160"/>
            <a:ext cx="292320" cy="19152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2788920" y="1572840"/>
            <a:ext cx="173700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2788920" y="1572840"/>
            <a:ext cx="54360" cy="8409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2990160" y="171000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Global context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2990160" y="2048400"/>
            <a:ext cx="1352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Understand surrounding structure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5"/>
          <p:cNvSpPr/>
          <p:nvPr/>
        </p:nvSpPr>
        <p:spPr>
          <a:xfrm>
            <a:off x="4599360" y="1856160"/>
            <a:ext cx="292320" cy="19152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6"/>
          <p:cNvSpPr/>
          <p:nvPr/>
        </p:nvSpPr>
        <p:spPr>
          <a:xfrm>
            <a:off x="4919400" y="1572840"/>
            <a:ext cx="173700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4919400" y="1572840"/>
            <a:ext cx="54360" cy="840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5120640" y="171000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Discrepancy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5120640" y="2048400"/>
            <a:ext cx="1352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Notice an unusual pattern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0"/>
          <p:cNvSpPr/>
          <p:nvPr/>
        </p:nvSpPr>
        <p:spPr>
          <a:xfrm>
            <a:off x="6729840" y="1856160"/>
            <a:ext cx="292320" cy="19152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1"/>
          <p:cNvSpPr/>
          <p:nvPr/>
        </p:nvSpPr>
        <p:spPr>
          <a:xfrm>
            <a:off x="7049880" y="1572840"/>
            <a:ext cx="173700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2"/>
          <p:cNvSpPr/>
          <p:nvPr/>
        </p:nvSpPr>
        <p:spPr>
          <a:xfrm>
            <a:off x="7049880" y="1572840"/>
            <a:ext cx="54360" cy="8409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7251120" y="171000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Focus region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4"/>
          <p:cNvSpPr/>
          <p:nvPr/>
        </p:nvSpPr>
        <p:spPr>
          <a:xfrm>
            <a:off x="7251120" y="2048400"/>
            <a:ext cx="1352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Attention shifts to area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5"/>
          <p:cNvSpPr/>
          <p:nvPr/>
        </p:nvSpPr>
        <p:spPr>
          <a:xfrm>
            <a:off x="8860680" y="1856160"/>
            <a:ext cx="292320" cy="19152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26"/>
          <p:cNvSpPr/>
          <p:nvPr/>
        </p:nvSpPr>
        <p:spPr>
          <a:xfrm>
            <a:off x="9180720" y="1572840"/>
            <a:ext cx="173700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7"/>
          <p:cNvSpPr/>
          <p:nvPr/>
        </p:nvSpPr>
        <p:spPr>
          <a:xfrm>
            <a:off x="9180720" y="1572840"/>
            <a:ext cx="54360" cy="8409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8"/>
          <p:cNvSpPr/>
          <p:nvPr/>
        </p:nvSpPr>
        <p:spPr>
          <a:xfrm>
            <a:off x="9381600" y="171000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Local 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9381600" y="2048400"/>
            <a:ext cx="1352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Inspect texture / boundary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0"/>
          <p:cNvSpPr/>
          <p:nvPr/>
        </p:nvSpPr>
        <p:spPr>
          <a:xfrm>
            <a:off x="658440" y="288036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31"/>
          <p:cNvSpPr/>
          <p:nvPr/>
        </p:nvSpPr>
        <p:spPr>
          <a:xfrm>
            <a:off x="658440" y="29444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A2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2"/>
          <p:cNvSpPr/>
          <p:nvPr/>
        </p:nvSpPr>
        <p:spPr>
          <a:xfrm>
            <a:off x="1243440" y="291708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Model translation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3"/>
          <p:cNvSpPr/>
          <p:nvPr/>
        </p:nvSpPr>
        <p:spPr>
          <a:xfrm>
            <a:off x="658440" y="3364920"/>
            <a:ext cx="2377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4"/>
          <p:cNvSpPr/>
          <p:nvPr/>
        </p:nvSpPr>
        <p:spPr>
          <a:xfrm>
            <a:off x="658440" y="3364920"/>
            <a:ext cx="54360" cy="11426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5"/>
          <p:cNvSpPr/>
          <p:nvPr/>
        </p:nvSpPr>
        <p:spPr>
          <a:xfrm>
            <a:off x="859680" y="350208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CNN encoder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6"/>
          <p:cNvSpPr/>
          <p:nvPr/>
        </p:nvSpPr>
        <p:spPr>
          <a:xfrm>
            <a:off x="859680" y="3840480"/>
            <a:ext cx="19929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Local edges, textures, shapes and hierarchical features.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7"/>
          <p:cNvSpPr/>
          <p:nvPr/>
        </p:nvSpPr>
        <p:spPr>
          <a:xfrm>
            <a:off x="3182040" y="3730680"/>
            <a:ext cx="502560" cy="22824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38"/>
          <p:cNvSpPr/>
          <p:nvPr/>
        </p:nvSpPr>
        <p:spPr>
          <a:xfrm>
            <a:off x="3794760" y="3364920"/>
            <a:ext cx="25599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9"/>
          <p:cNvSpPr/>
          <p:nvPr/>
        </p:nvSpPr>
        <p:spPr>
          <a:xfrm>
            <a:off x="3794760" y="3364920"/>
            <a:ext cx="54360" cy="11426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40"/>
          <p:cNvSpPr/>
          <p:nvPr/>
        </p:nvSpPr>
        <p:spPr>
          <a:xfrm>
            <a:off x="3996000" y="3502080"/>
            <a:ext cx="217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Transformer bottleneck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1"/>
          <p:cNvSpPr/>
          <p:nvPr/>
        </p:nvSpPr>
        <p:spPr>
          <a:xfrm>
            <a:off x="3996000" y="3840480"/>
            <a:ext cx="21758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Global spatial relationships at 16×16 feature resolution.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42"/>
          <p:cNvSpPr/>
          <p:nvPr/>
        </p:nvSpPr>
        <p:spPr>
          <a:xfrm>
            <a:off x="6519600" y="3730680"/>
            <a:ext cx="502560" cy="22824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43"/>
          <p:cNvSpPr/>
          <p:nvPr/>
        </p:nvSpPr>
        <p:spPr>
          <a:xfrm>
            <a:off x="7132320" y="3364920"/>
            <a:ext cx="2377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44"/>
          <p:cNvSpPr/>
          <p:nvPr/>
        </p:nvSpPr>
        <p:spPr>
          <a:xfrm>
            <a:off x="7132320" y="3364920"/>
            <a:ext cx="54360" cy="11426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45"/>
          <p:cNvSpPr/>
          <p:nvPr/>
        </p:nvSpPr>
        <p:spPr>
          <a:xfrm>
            <a:off x="7333560" y="350208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Feature fusion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46"/>
          <p:cNvSpPr/>
          <p:nvPr/>
        </p:nvSpPr>
        <p:spPr>
          <a:xfrm>
            <a:off x="7333560" y="3840480"/>
            <a:ext cx="19929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Global context + local CNN bottleneck through residual addition.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47"/>
          <p:cNvSpPr/>
          <p:nvPr/>
        </p:nvSpPr>
        <p:spPr>
          <a:xfrm>
            <a:off x="9655920" y="3730680"/>
            <a:ext cx="502560" cy="2282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48"/>
          <p:cNvSpPr/>
          <p:nvPr/>
        </p:nvSpPr>
        <p:spPr>
          <a:xfrm>
            <a:off x="10268640" y="3364920"/>
            <a:ext cx="13071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49"/>
          <p:cNvSpPr/>
          <p:nvPr/>
        </p:nvSpPr>
        <p:spPr>
          <a:xfrm>
            <a:off x="10268640" y="3364920"/>
            <a:ext cx="54360" cy="1142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0"/>
          <p:cNvSpPr/>
          <p:nvPr/>
        </p:nvSpPr>
        <p:spPr>
          <a:xfrm>
            <a:off x="10469880" y="3502080"/>
            <a:ext cx="923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Decoder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51"/>
          <p:cNvSpPr/>
          <p:nvPr/>
        </p:nvSpPr>
        <p:spPr>
          <a:xfrm>
            <a:off x="10469880" y="3840480"/>
            <a:ext cx="9230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8212f"/>
                </a:solidFill>
                <a:latin typeface="Aptos"/>
                <a:ea typeface="Aptos"/>
              </a:rPr>
              <a:t>Recover detail → mask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52"/>
          <p:cNvSpPr/>
          <p:nvPr/>
        </p:nvSpPr>
        <p:spPr>
          <a:xfrm>
            <a:off x="2011680" y="4983480"/>
            <a:ext cx="8137800" cy="868320"/>
          </a:xfrm>
          <a:prstGeom prst="roundRect">
            <a:avLst>
              <a:gd name="adj" fmla="val 6316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53"/>
          <p:cNvSpPr/>
          <p:nvPr/>
        </p:nvSpPr>
        <p:spPr>
          <a:xfrm>
            <a:off x="2267640" y="5184720"/>
            <a:ext cx="13255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eb9ea"/>
                </a:solidFill>
                <a:latin typeface="Aptos"/>
              </a:rPr>
              <a:t>Design statement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4"/>
          <p:cNvSpPr/>
          <p:nvPr/>
        </p:nvSpPr>
        <p:spPr>
          <a:xfrm>
            <a:off x="3566160" y="5102280"/>
            <a:ext cx="6263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The model jointly captures global vehicle context and local visual features to improve pixel-level damage segmentation.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ldNum" idx="8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AEBE15-2638-47A5-8123-B5A0DB6C61B8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5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CarDD Dataset &amp; Evaluation Protocol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Keep the official split structure intact; test remains untouched until final evaluation.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658440" y="123444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658440" y="1234440"/>
            <a:ext cx="54360" cy="1508400"/>
          </a:xfrm>
          <a:prstGeom prst="rect">
            <a:avLst/>
          </a:prstGeom>
          <a:solidFill>
            <a:srgbClr val="c29e7f"/>
          </a:solidFill>
          <a:ln w="12700">
            <a:solidFill>
              <a:srgbClr val="c29e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859680" y="13716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Training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859680" y="1710000"/>
            <a:ext cx="28616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2,816 images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Parameter learning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2944440" y="143568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4213d"/>
                </a:solidFill>
                <a:latin typeface="Aptos"/>
              </a:rPr>
              <a:t>2,816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4407480" y="123444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9"/>
          <p:cNvSpPr/>
          <p:nvPr/>
        </p:nvSpPr>
        <p:spPr>
          <a:xfrm>
            <a:off x="4407480" y="1234440"/>
            <a:ext cx="54360" cy="1508400"/>
          </a:xfrm>
          <a:prstGeom prst="rect">
            <a:avLst/>
          </a:prstGeom>
          <a:solidFill>
            <a:srgbClr val="4a80e8"/>
          </a:solidFill>
          <a:ln w="12700">
            <a:solidFill>
              <a:srgbClr val="4a8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4608720" y="13716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4608720" y="1710000"/>
            <a:ext cx="28616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810 images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Checkpoint / tuning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6693480" y="143568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4213d"/>
                </a:solidFill>
                <a:latin typeface="Aptos"/>
              </a:rPr>
              <a:t>810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8156520" y="123444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8156520" y="1234440"/>
            <a:ext cx="54360" cy="15084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8357760" y="13716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Testing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8357760" y="1710000"/>
            <a:ext cx="28616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374 images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Final evaluation only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10442520" y="143568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4213d"/>
                </a:solidFill>
                <a:latin typeface="Aptos"/>
              </a:rPr>
              <a:t>374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658440" y="315468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658440" y="321876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D1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1243440" y="3191400"/>
            <a:ext cx="1508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Class mapping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658440" y="3593520"/>
            <a:ext cx="2514240" cy="310680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731520" y="3657600"/>
            <a:ext cx="2368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67085"/>
                </a:solidFill>
                <a:latin typeface="Aptos"/>
              </a:rPr>
              <a:t>background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3"/>
          <p:cNvSpPr/>
          <p:nvPr/>
        </p:nvSpPr>
        <p:spPr>
          <a:xfrm>
            <a:off x="3447360" y="3593520"/>
            <a:ext cx="251424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3520440" y="3657600"/>
            <a:ext cx="2368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dent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5"/>
          <p:cNvSpPr/>
          <p:nvPr/>
        </p:nvSpPr>
        <p:spPr>
          <a:xfrm>
            <a:off x="6236280" y="3593520"/>
            <a:ext cx="251424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6"/>
          <p:cNvSpPr/>
          <p:nvPr/>
        </p:nvSpPr>
        <p:spPr>
          <a:xfrm>
            <a:off x="6309360" y="3657600"/>
            <a:ext cx="2368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scratch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9025200" y="3593520"/>
            <a:ext cx="251424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9098280" y="3657600"/>
            <a:ext cx="2368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crack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658440" y="4096440"/>
            <a:ext cx="251424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30"/>
          <p:cNvSpPr/>
          <p:nvPr/>
        </p:nvSpPr>
        <p:spPr>
          <a:xfrm>
            <a:off x="731520" y="4160520"/>
            <a:ext cx="2368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glass shatter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3447360" y="4096440"/>
            <a:ext cx="251424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2"/>
          <p:cNvSpPr/>
          <p:nvPr/>
        </p:nvSpPr>
        <p:spPr>
          <a:xfrm>
            <a:off x="3520440" y="4160520"/>
            <a:ext cx="2368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lamp broken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3"/>
          <p:cNvSpPr/>
          <p:nvPr/>
        </p:nvSpPr>
        <p:spPr>
          <a:xfrm>
            <a:off x="6236280" y="4096440"/>
            <a:ext cx="251424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4"/>
          <p:cNvSpPr/>
          <p:nvPr/>
        </p:nvSpPr>
        <p:spPr>
          <a:xfrm>
            <a:off x="6309360" y="4160520"/>
            <a:ext cx="2368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tire flat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5"/>
          <p:cNvSpPr/>
          <p:nvPr/>
        </p:nvSpPr>
        <p:spPr>
          <a:xfrm>
            <a:off x="658440" y="4800600"/>
            <a:ext cx="525744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6"/>
          <p:cNvSpPr/>
          <p:nvPr/>
        </p:nvSpPr>
        <p:spPr>
          <a:xfrm>
            <a:off x="658440" y="4800600"/>
            <a:ext cx="54360" cy="9140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7"/>
          <p:cNvSpPr/>
          <p:nvPr/>
        </p:nvSpPr>
        <p:spPr>
          <a:xfrm>
            <a:off x="859680" y="4937760"/>
            <a:ext cx="487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Training policy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8"/>
          <p:cNvSpPr/>
          <p:nvPr/>
        </p:nvSpPr>
        <p:spPr>
          <a:xfrm>
            <a:off x="859680" y="5276160"/>
            <a:ext cx="4873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18212f"/>
                </a:solidFill>
                <a:latin typeface="Aptos"/>
                <a:ea typeface="Aptos"/>
              </a:rPr>
              <a:t>Training: augmentation + optimization. Validation: model selection. Test: frozen until final evaluation.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9"/>
          <p:cNvSpPr/>
          <p:nvPr/>
        </p:nvSpPr>
        <p:spPr>
          <a:xfrm>
            <a:off x="6144840" y="4800600"/>
            <a:ext cx="537624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40"/>
          <p:cNvSpPr/>
          <p:nvPr/>
        </p:nvSpPr>
        <p:spPr>
          <a:xfrm>
            <a:off x="6144840" y="4800600"/>
            <a:ext cx="54360" cy="914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41"/>
          <p:cNvSpPr/>
          <p:nvPr/>
        </p:nvSpPr>
        <p:spPr>
          <a:xfrm>
            <a:off x="6346080" y="4937760"/>
            <a:ext cx="499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Data constraint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42"/>
          <p:cNvSpPr/>
          <p:nvPr/>
        </p:nvSpPr>
        <p:spPr>
          <a:xfrm>
            <a:off x="6346080" y="5276160"/>
            <a:ext cx="499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18212f"/>
                </a:solidFill>
                <a:latin typeface="Aptos"/>
                <a:ea typeface="Aptos"/>
              </a:rPr>
              <a:t>CarDD contains damage masks but no vehicle-part masks. Exact hood/bumper/fender segmentation is therefore not claimed.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sldNum" idx="9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0C8381-D9BE-45C4-BF10-9F153FC56174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Proposed Hybrid Model — Detailed Architecture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Locked implementation specification for the first research model.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594360" y="1234440"/>
            <a:ext cx="12340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594360" y="1234440"/>
            <a:ext cx="54360" cy="10512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795600" y="1371600"/>
            <a:ext cx="84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Input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795600" y="1710000"/>
            <a:ext cx="8499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512×512×3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1856160" y="1627560"/>
            <a:ext cx="228240" cy="17352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2011680" y="1234440"/>
            <a:ext cx="12340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2011680" y="1234440"/>
            <a:ext cx="54360" cy="10512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2212920" y="1371600"/>
            <a:ext cx="84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2212920" y="1710000"/>
            <a:ext cx="8499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128×128×64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3273480" y="1627560"/>
            <a:ext cx="228240" cy="17352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3429000" y="1234440"/>
            <a:ext cx="12340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3429000" y="1234440"/>
            <a:ext cx="54360" cy="10512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3630240" y="1371600"/>
            <a:ext cx="84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3630240" y="1710000"/>
            <a:ext cx="8499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64×64×128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4690800" y="1627560"/>
            <a:ext cx="228240" cy="17352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4846320" y="1234440"/>
            <a:ext cx="12340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4846320" y="1234440"/>
            <a:ext cx="54360" cy="10512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5047560" y="1371600"/>
            <a:ext cx="84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5047560" y="1710000"/>
            <a:ext cx="8499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32×32×256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2"/>
          <p:cNvSpPr/>
          <p:nvPr/>
        </p:nvSpPr>
        <p:spPr>
          <a:xfrm>
            <a:off x="6108120" y="1627560"/>
            <a:ext cx="228240" cy="17352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6263640" y="1234440"/>
            <a:ext cx="12340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6263640" y="1234440"/>
            <a:ext cx="54360" cy="10512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6464880" y="1371600"/>
            <a:ext cx="84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26"/>
          <p:cNvSpPr/>
          <p:nvPr/>
        </p:nvSpPr>
        <p:spPr>
          <a:xfrm>
            <a:off x="6464880" y="1710000"/>
            <a:ext cx="8499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16×16×512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27"/>
          <p:cNvSpPr/>
          <p:nvPr/>
        </p:nvSpPr>
        <p:spPr>
          <a:xfrm>
            <a:off x="7863840" y="1097280"/>
            <a:ext cx="3611520" cy="1325520"/>
          </a:xfrm>
          <a:prstGeom prst="roundRect">
            <a:avLst>
              <a:gd name="adj" fmla="val 4138"/>
            </a:avLst>
          </a:prstGeom>
          <a:solidFill>
            <a:srgbClr val="f1eeff"/>
          </a:solidFill>
          <a:ln w="10160">
            <a:solidFill>
              <a:srgbClr val="d8d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8119800" y="12801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7" strike="noStrike">
                <a:solidFill>
                  <a:srgbClr val="7a5af8"/>
                </a:solidFill>
                <a:latin typeface="Aptos"/>
              </a:rPr>
              <a:t>TRANSFORMER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9"/>
          <p:cNvSpPr/>
          <p:nvPr/>
        </p:nvSpPr>
        <p:spPr>
          <a:xfrm>
            <a:off x="8119800" y="1554480"/>
            <a:ext cx="3017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14213d"/>
                </a:solidFill>
                <a:latin typeface="Aptos"/>
              </a:rPr>
              <a:t>4 blocks • 4 heads • dim 256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14213d"/>
                </a:solidFill>
                <a:latin typeface="Aptos"/>
              </a:rPr>
              <a:t>FFN 1024 • GELU • Pre-LN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14213d"/>
                </a:solidFill>
                <a:latin typeface="Aptos"/>
              </a:rPr>
              <a:t>16×16 tokens + learned 2-D position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0"/>
          <p:cNvSpPr/>
          <p:nvPr/>
        </p:nvSpPr>
        <p:spPr>
          <a:xfrm>
            <a:off x="7178400" y="1625400"/>
            <a:ext cx="822600" cy="23724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31"/>
          <p:cNvSpPr/>
          <p:nvPr/>
        </p:nvSpPr>
        <p:spPr>
          <a:xfrm>
            <a:off x="640080" y="278892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32"/>
          <p:cNvSpPr/>
          <p:nvPr/>
        </p:nvSpPr>
        <p:spPr>
          <a:xfrm>
            <a:off x="640080" y="285300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M1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33"/>
          <p:cNvSpPr/>
          <p:nvPr/>
        </p:nvSpPr>
        <p:spPr>
          <a:xfrm>
            <a:off x="1225440" y="28256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Decoder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4"/>
          <p:cNvSpPr/>
          <p:nvPr/>
        </p:nvSpPr>
        <p:spPr>
          <a:xfrm>
            <a:off x="658440" y="32187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5"/>
          <p:cNvSpPr/>
          <p:nvPr/>
        </p:nvSpPr>
        <p:spPr>
          <a:xfrm>
            <a:off x="658440" y="3218760"/>
            <a:ext cx="54360" cy="1051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6"/>
          <p:cNvSpPr/>
          <p:nvPr/>
        </p:nvSpPr>
        <p:spPr>
          <a:xfrm>
            <a:off x="859680" y="335592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16×16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37"/>
          <p:cNvSpPr/>
          <p:nvPr/>
        </p:nvSpPr>
        <p:spPr>
          <a:xfrm>
            <a:off x="859680" y="3694320"/>
            <a:ext cx="1170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256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38"/>
          <p:cNvSpPr/>
          <p:nvPr/>
        </p:nvSpPr>
        <p:spPr>
          <a:xfrm>
            <a:off x="2249280" y="3566160"/>
            <a:ext cx="200880" cy="16416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39"/>
          <p:cNvSpPr/>
          <p:nvPr/>
        </p:nvSpPr>
        <p:spPr>
          <a:xfrm>
            <a:off x="2487240" y="32187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40"/>
          <p:cNvSpPr/>
          <p:nvPr/>
        </p:nvSpPr>
        <p:spPr>
          <a:xfrm>
            <a:off x="2487240" y="3218760"/>
            <a:ext cx="54360" cy="1051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41"/>
          <p:cNvSpPr/>
          <p:nvPr/>
        </p:nvSpPr>
        <p:spPr>
          <a:xfrm>
            <a:off x="2688480" y="335592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32×32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42"/>
          <p:cNvSpPr/>
          <p:nvPr/>
        </p:nvSpPr>
        <p:spPr>
          <a:xfrm>
            <a:off x="2688480" y="3694320"/>
            <a:ext cx="1170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256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43"/>
          <p:cNvSpPr/>
          <p:nvPr/>
        </p:nvSpPr>
        <p:spPr>
          <a:xfrm>
            <a:off x="4078080" y="3566160"/>
            <a:ext cx="200880" cy="16416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44"/>
          <p:cNvSpPr/>
          <p:nvPr/>
        </p:nvSpPr>
        <p:spPr>
          <a:xfrm>
            <a:off x="4316040" y="32187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45"/>
          <p:cNvSpPr/>
          <p:nvPr/>
        </p:nvSpPr>
        <p:spPr>
          <a:xfrm>
            <a:off x="4316040" y="3218760"/>
            <a:ext cx="54360" cy="1051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46"/>
          <p:cNvSpPr/>
          <p:nvPr/>
        </p:nvSpPr>
        <p:spPr>
          <a:xfrm>
            <a:off x="4517280" y="335592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64×64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47"/>
          <p:cNvSpPr/>
          <p:nvPr/>
        </p:nvSpPr>
        <p:spPr>
          <a:xfrm>
            <a:off x="4517280" y="3694320"/>
            <a:ext cx="1170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128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48"/>
          <p:cNvSpPr/>
          <p:nvPr/>
        </p:nvSpPr>
        <p:spPr>
          <a:xfrm>
            <a:off x="5906880" y="3566160"/>
            <a:ext cx="200880" cy="16416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49"/>
          <p:cNvSpPr/>
          <p:nvPr/>
        </p:nvSpPr>
        <p:spPr>
          <a:xfrm>
            <a:off x="6144840" y="32187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50"/>
          <p:cNvSpPr/>
          <p:nvPr/>
        </p:nvSpPr>
        <p:spPr>
          <a:xfrm>
            <a:off x="6144840" y="3218760"/>
            <a:ext cx="54360" cy="1051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51"/>
          <p:cNvSpPr/>
          <p:nvPr/>
        </p:nvSpPr>
        <p:spPr>
          <a:xfrm>
            <a:off x="6346080" y="335592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128×128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52"/>
          <p:cNvSpPr/>
          <p:nvPr/>
        </p:nvSpPr>
        <p:spPr>
          <a:xfrm>
            <a:off x="6346080" y="3694320"/>
            <a:ext cx="1170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64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53"/>
          <p:cNvSpPr/>
          <p:nvPr/>
        </p:nvSpPr>
        <p:spPr>
          <a:xfrm>
            <a:off x="7735680" y="3566160"/>
            <a:ext cx="200880" cy="16416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54"/>
          <p:cNvSpPr/>
          <p:nvPr/>
        </p:nvSpPr>
        <p:spPr>
          <a:xfrm>
            <a:off x="7973640" y="32187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55"/>
          <p:cNvSpPr/>
          <p:nvPr/>
        </p:nvSpPr>
        <p:spPr>
          <a:xfrm>
            <a:off x="7973640" y="3218760"/>
            <a:ext cx="54360" cy="1051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56"/>
          <p:cNvSpPr/>
          <p:nvPr/>
        </p:nvSpPr>
        <p:spPr>
          <a:xfrm>
            <a:off x="8174880" y="335592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256×256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57"/>
          <p:cNvSpPr/>
          <p:nvPr/>
        </p:nvSpPr>
        <p:spPr>
          <a:xfrm>
            <a:off x="8174880" y="3694320"/>
            <a:ext cx="1170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64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58"/>
          <p:cNvSpPr/>
          <p:nvPr/>
        </p:nvSpPr>
        <p:spPr>
          <a:xfrm>
            <a:off x="9564480" y="3566160"/>
            <a:ext cx="200880" cy="16416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59"/>
          <p:cNvSpPr/>
          <p:nvPr/>
        </p:nvSpPr>
        <p:spPr>
          <a:xfrm>
            <a:off x="9802440" y="3218760"/>
            <a:ext cx="1554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60"/>
          <p:cNvSpPr/>
          <p:nvPr/>
        </p:nvSpPr>
        <p:spPr>
          <a:xfrm>
            <a:off x="9802440" y="3218760"/>
            <a:ext cx="54360" cy="1051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61"/>
          <p:cNvSpPr/>
          <p:nvPr/>
        </p:nvSpPr>
        <p:spPr>
          <a:xfrm>
            <a:off x="10003680" y="335592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512×512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62"/>
          <p:cNvSpPr/>
          <p:nvPr/>
        </p:nvSpPr>
        <p:spPr>
          <a:xfrm>
            <a:off x="10003680" y="3694320"/>
            <a:ext cx="1170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32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63"/>
          <p:cNvSpPr/>
          <p:nvPr/>
        </p:nvSpPr>
        <p:spPr>
          <a:xfrm>
            <a:off x="658440" y="4617720"/>
            <a:ext cx="342864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64"/>
          <p:cNvSpPr/>
          <p:nvPr/>
        </p:nvSpPr>
        <p:spPr>
          <a:xfrm>
            <a:off x="658440" y="4617720"/>
            <a:ext cx="54360" cy="959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65"/>
          <p:cNvSpPr/>
          <p:nvPr/>
        </p:nvSpPr>
        <p:spPr>
          <a:xfrm>
            <a:off x="859680" y="4754880"/>
            <a:ext cx="304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Fusion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66"/>
          <p:cNvSpPr/>
          <p:nvPr/>
        </p:nvSpPr>
        <p:spPr>
          <a:xfrm>
            <a:off x="859680" y="5093280"/>
            <a:ext cx="30445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Projected CNN C5 + Transformer output → element-wise addition.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67"/>
          <p:cNvSpPr/>
          <p:nvPr/>
        </p:nvSpPr>
        <p:spPr>
          <a:xfrm>
            <a:off x="4297680" y="4617720"/>
            <a:ext cx="342864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68"/>
          <p:cNvSpPr/>
          <p:nvPr/>
        </p:nvSpPr>
        <p:spPr>
          <a:xfrm>
            <a:off x="4297680" y="4617720"/>
            <a:ext cx="54360" cy="9597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69"/>
          <p:cNvSpPr/>
          <p:nvPr/>
        </p:nvSpPr>
        <p:spPr>
          <a:xfrm>
            <a:off x="4498920" y="4754880"/>
            <a:ext cx="304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Deep supervision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70"/>
          <p:cNvSpPr/>
          <p:nvPr/>
        </p:nvSpPr>
        <p:spPr>
          <a:xfrm>
            <a:off x="4498920" y="5093280"/>
            <a:ext cx="30445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Auxiliary heads at 128² and 64²; weights 0.15 / 0.10; main = 0.75.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71"/>
          <p:cNvSpPr/>
          <p:nvPr/>
        </p:nvSpPr>
        <p:spPr>
          <a:xfrm>
            <a:off x="7936920" y="4617720"/>
            <a:ext cx="358416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72"/>
          <p:cNvSpPr/>
          <p:nvPr/>
        </p:nvSpPr>
        <p:spPr>
          <a:xfrm>
            <a:off x="7936920" y="4617720"/>
            <a:ext cx="54360" cy="9597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73"/>
          <p:cNvSpPr/>
          <p:nvPr/>
        </p:nvSpPr>
        <p:spPr>
          <a:xfrm>
            <a:off x="8138160" y="47548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Output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74"/>
          <p:cNvSpPr/>
          <p:nvPr/>
        </p:nvSpPr>
        <p:spPr>
          <a:xfrm>
            <a:off x="8138160" y="5093280"/>
            <a:ext cx="3200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7-channel logits → pixel class + region mask + derived confidence.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sldNum" idx="10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B242EF3-698E-48E2-BB35-5FF4E3E7DCAB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7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Training Objective &amp; Confidence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Training choices are shared with the controlled baseline unless explicitly marked as a later ablation.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658440" y="123444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658440" y="1234440"/>
            <a:ext cx="54360" cy="14169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859680" y="1371600"/>
            <a:ext cx="299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Core loss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859680" y="1710000"/>
            <a:ext cx="29988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L = 0.50 × Dice + 0.50 × Focal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Focal γ = 2.0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Foreground-only Dice; class weights from training split.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4297680" y="123444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4297680" y="1234440"/>
            <a:ext cx="54360" cy="14169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4498920" y="1371600"/>
            <a:ext cx="299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Optimization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4498920" y="1710000"/>
            <a:ext cx="29988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AdamW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LR: 1e−4 (encoder), 3e−4 (new modules)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5-epoch warm-up + cosine decay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60 epoch max / early stop 10.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1"/>
          <p:cNvSpPr/>
          <p:nvPr/>
        </p:nvSpPr>
        <p:spPr>
          <a:xfrm>
            <a:off x="7936920" y="1234440"/>
            <a:ext cx="35841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7936920" y="1234440"/>
            <a:ext cx="54360" cy="1416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3"/>
          <p:cNvSpPr/>
          <p:nvPr/>
        </p:nvSpPr>
        <p:spPr>
          <a:xfrm>
            <a:off x="8138160" y="13716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Memory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8138160" y="1710000"/>
            <a:ext cx="320004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Mixed precision • effective batch ≈ 4 • gradient accumulation when required • EMA • frozen BN statistics for small-batch training.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5"/>
          <p:cNvSpPr/>
          <p:nvPr/>
        </p:nvSpPr>
        <p:spPr>
          <a:xfrm>
            <a:off x="658440" y="315468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6"/>
          <p:cNvSpPr/>
          <p:nvPr/>
        </p:nvSpPr>
        <p:spPr>
          <a:xfrm>
            <a:off x="658440" y="321876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C1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1243440" y="319140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Confidence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8"/>
          <p:cNvSpPr/>
          <p:nvPr/>
        </p:nvSpPr>
        <p:spPr>
          <a:xfrm>
            <a:off x="658440" y="3611880"/>
            <a:ext cx="233136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9"/>
          <p:cNvSpPr/>
          <p:nvPr/>
        </p:nvSpPr>
        <p:spPr>
          <a:xfrm>
            <a:off x="658440" y="3611880"/>
            <a:ext cx="54360" cy="10054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0"/>
          <p:cNvSpPr/>
          <p:nvPr/>
        </p:nvSpPr>
        <p:spPr>
          <a:xfrm>
            <a:off x="859680" y="3749040"/>
            <a:ext cx="19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Segmentation logits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21"/>
          <p:cNvSpPr/>
          <p:nvPr/>
        </p:nvSpPr>
        <p:spPr>
          <a:xfrm>
            <a:off x="859680" y="4087440"/>
            <a:ext cx="194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Model evidence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2"/>
          <p:cNvSpPr/>
          <p:nvPr/>
        </p:nvSpPr>
        <p:spPr>
          <a:xfrm>
            <a:off x="3054240" y="3959280"/>
            <a:ext cx="255600" cy="16416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23"/>
          <p:cNvSpPr/>
          <p:nvPr/>
        </p:nvSpPr>
        <p:spPr>
          <a:xfrm>
            <a:off x="3383280" y="3611880"/>
            <a:ext cx="233136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24"/>
          <p:cNvSpPr/>
          <p:nvPr/>
        </p:nvSpPr>
        <p:spPr>
          <a:xfrm>
            <a:off x="3383280" y="3611880"/>
            <a:ext cx="54360" cy="100548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5"/>
          <p:cNvSpPr/>
          <p:nvPr/>
        </p:nvSpPr>
        <p:spPr>
          <a:xfrm>
            <a:off x="3584520" y="3749040"/>
            <a:ext cx="19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Softmax probability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6"/>
          <p:cNvSpPr/>
          <p:nvPr/>
        </p:nvSpPr>
        <p:spPr>
          <a:xfrm>
            <a:off x="3584520" y="4087440"/>
            <a:ext cx="194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Max class probability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7"/>
          <p:cNvSpPr/>
          <p:nvPr/>
        </p:nvSpPr>
        <p:spPr>
          <a:xfrm>
            <a:off x="5779080" y="3959280"/>
            <a:ext cx="255600" cy="16416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28"/>
          <p:cNvSpPr/>
          <p:nvPr/>
        </p:nvSpPr>
        <p:spPr>
          <a:xfrm>
            <a:off x="6108120" y="3611880"/>
            <a:ext cx="233136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9"/>
          <p:cNvSpPr/>
          <p:nvPr/>
        </p:nvSpPr>
        <p:spPr>
          <a:xfrm>
            <a:off x="6108120" y="3611880"/>
            <a:ext cx="54360" cy="10054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30"/>
          <p:cNvSpPr/>
          <p:nvPr/>
        </p:nvSpPr>
        <p:spPr>
          <a:xfrm>
            <a:off x="6309360" y="3749040"/>
            <a:ext cx="19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Region confidence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31"/>
          <p:cNvSpPr/>
          <p:nvPr/>
        </p:nvSpPr>
        <p:spPr>
          <a:xfrm>
            <a:off x="6309360" y="4087440"/>
            <a:ext cx="194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Mean predicted-class probability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2"/>
          <p:cNvSpPr/>
          <p:nvPr/>
        </p:nvSpPr>
        <p:spPr>
          <a:xfrm>
            <a:off x="8503920" y="3959280"/>
            <a:ext cx="255600" cy="16416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33"/>
          <p:cNvSpPr/>
          <p:nvPr/>
        </p:nvSpPr>
        <p:spPr>
          <a:xfrm>
            <a:off x="8832960" y="3611880"/>
            <a:ext cx="233136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4"/>
          <p:cNvSpPr/>
          <p:nvPr/>
        </p:nvSpPr>
        <p:spPr>
          <a:xfrm>
            <a:off x="8832960" y="3611880"/>
            <a:ext cx="54360" cy="100548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35"/>
          <p:cNvSpPr/>
          <p:nvPr/>
        </p:nvSpPr>
        <p:spPr>
          <a:xfrm>
            <a:off x="9034200" y="3749040"/>
            <a:ext cx="19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Validation calibration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36"/>
          <p:cNvSpPr/>
          <p:nvPr/>
        </p:nvSpPr>
        <p:spPr>
          <a:xfrm>
            <a:off x="9034200" y="4087440"/>
            <a:ext cx="1947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Temperature scaling on validation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37"/>
          <p:cNvSpPr/>
          <p:nvPr/>
        </p:nvSpPr>
        <p:spPr>
          <a:xfrm>
            <a:off x="658440" y="4892040"/>
            <a:ext cx="52574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8"/>
          <p:cNvSpPr/>
          <p:nvPr/>
        </p:nvSpPr>
        <p:spPr>
          <a:xfrm>
            <a:off x="658440" y="4892040"/>
            <a:ext cx="54360" cy="89568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39"/>
          <p:cNvSpPr/>
          <p:nvPr/>
        </p:nvSpPr>
        <p:spPr>
          <a:xfrm>
            <a:off x="859680" y="5029200"/>
            <a:ext cx="487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Important separation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40"/>
          <p:cNvSpPr/>
          <p:nvPr/>
        </p:nvSpPr>
        <p:spPr>
          <a:xfrm>
            <a:off x="859680" y="5367600"/>
            <a:ext cx="4873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8212f"/>
                </a:solidFill>
                <a:latin typeface="Aptos"/>
                <a:ea typeface="Aptos"/>
              </a:rPr>
              <a:t>Low confidence ≠ poor photo. A quality failure is handled by the classical image-quality gate; model uncertainty is handled after segmentation.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41"/>
          <p:cNvSpPr/>
          <p:nvPr/>
        </p:nvSpPr>
        <p:spPr>
          <a:xfrm>
            <a:off x="6144840" y="4892040"/>
            <a:ext cx="53762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42"/>
          <p:cNvSpPr/>
          <p:nvPr/>
        </p:nvSpPr>
        <p:spPr>
          <a:xfrm>
            <a:off x="6144840" y="4892040"/>
            <a:ext cx="54360" cy="89568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43"/>
          <p:cNvSpPr/>
          <p:nvPr/>
        </p:nvSpPr>
        <p:spPr>
          <a:xfrm>
            <a:off x="6346080" y="5029200"/>
            <a:ext cx="499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Product consequence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44"/>
          <p:cNvSpPr/>
          <p:nvPr/>
        </p:nvSpPr>
        <p:spPr>
          <a:xfrm>
            <a:off x="6346080" y="5367600"/>
            <a:ext cx="499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8212f"/>
                </a:solidFill>
                <a:latin typeface="Aptos"/>
                <a:ea typeface="Aptos"/>
              </a:rPr>
              <a:t>The calibrated evidence can trigger clarification / retake guidance; the LLM never invents an unsupported damage class.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sldNum" idx="11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B9A16AB-DFD4-4222-AE01-983882E704F7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8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Research Experiments &amp; Ablation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The core comparison isolates the Transformer contribution.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658440" y="1234440"/>
            <a:ext cx="324576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658440" y="1234440"/>
            <a:ext cx="54360" cy="18284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859680" y="13716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A — Controlled baseline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859680" y="1710000"/>
            <a:ext cx="286164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ResNet34 encoder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U-Net decoder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shared loss / augmentation / EMA / sampling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+ 7-channel output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7"/>
          <p:cNvSpPr/>
          <p:nvPr/>
        </p:nvSpPr>
        <p:spPr>
          <a:xfrm>
            <a:off x="4096440" y="1856160"/>
            <a:ext cx="502560" cy="25560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8"/>
          <p:cNvSpPr/>
          <p:nvPr/>
        </p:nvSpPr>
        <p:spPr>
          <a:xfrm>
            <a:off x="4709160" y="1234440"/>
            <a:ext cx="324576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9"/>
          <p:cNvSpPr/>
          <p:nvPr/>
        </p:nvSpPr>
        <p:spPr>
          <a:xfrm>
            <a:off x="4709160" y="1234440"/>
            <a:ext cx="54360" cy="18284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0"/>
          <p:cNvSpPr/>
          <p:nvPr/>
        </p:nvSpPr>
        <p:spPr>
          <a:xfrm>
            <a:off x="4910400" y="13716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 — Proposed hybrid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1"/>
          <p:cNvSpPr/>
          <p:nvPr/>
        </p:nvSpPr>
        <p:spPr>
          <a:xfrm>
            <a:off x="4910400" y="1710000"/>
            <a:ext cx="286164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Same ResNet34 + decoder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+ 16×16 bottleneck Transformer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projected additive fusion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same training protocol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2"/>
          <p:cNvSpPr/>
          <p:nvPr/>
        </p:nvSpPr>
        <p:spPr>
          <a:xfrm>
            <a:off x="8156520" y="1856160"/>
            <a:ext cx="502560" cy="25560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3"/>
          <p:cNvSpPr/>
          <p:nvPr/>
        </p:nvSpPr>
        <p:spPr>
          <a:xfrm>
            <a:off x="8778240" y="1234440"/>
            <a:ext cx="27428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4"/>
          <p:cNvSpPr/>
          <p:nvPr/>
        </p:nvSpPr>
        <p:spPr>
          <a:xfrm>
            <a:off x="8778240" y="1234440"/>
            <a:ext cx="54360" cy="18284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5"/>
          <p:cNvSpPr/>
          <p:nvPr/>
        </p:nvSpPr>
        <p:spPr>
          <a:xfrm>
            <a:off x="8979480" y="1371600"/>
            <a:ext cx="235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6"/>
          <p:cNvSpPr/>
          <p:nvPr/>
        </p:nvSpPr>
        <p:spPr>
          <a:xfrm>
            <a:off x="8979480" y="1710000"/>
            <a:ext cx="235872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Overall mIoU / Dice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Per-class results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Small-damage analysis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Latency / VRAM / parameters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7"/>
          <p:cNvSpPr/>
          <p:nvPr/>
        </p:nvSpPr>
        <p:spPr>
          <a:xfrm>
            <a:off x="658440" y="347472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18"/>
          <p:cNvSpPr/>
          <p:nvPr/>
        </p:nvSpPr>
        <p:spPr>
          <a:xfrm>
            <a:off x="658440" y="353880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Abl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9"/>
          <p:cNvSpPr/>
          <p:nvPr/>
        </p:nvSpPr>
        <p:spPr>
          <a:xfrm>
            <a:off x="1243440" y="351144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Optional later experiments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0"/>
          <p:cNvSpPr/>
          <p:nvPr/>
        </p:nvSpPr>
        <p:spPr>
          <a:xfrm>
            <a:off x="658440" y="3950280"/>
            <a:ext cx="52117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21"/>
          <p:cNvSpPr/>
          <p:nvPr/>
        </p:nvSpPr>
        <p:spPr>
          <a:xfrm>
            <a:off x="658440" y="3950280"/>
            <a:ext cx="54360" cy="731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2"/>
          <p:cNvSpPr/>
          <p:nvPr/>
        </p:nvSpPr>
        <p:spPr>
          <a:xfrm>
            <a:off x="859680" y="4087440"/>
            <a:ext cx="4827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Boundary loss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23"/>
          <p:cNvSpPr/>
          <p:nvPr/>
        </p:nvSpPr>
        <p:spPr>
          <a:xfrm>
            <a:off x="859680" y="4425840"/>
            <a:ext cx="4827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Only after core A/B comparison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4"/>
          <p:cNvSpPr/>
          <p:nvPr/>
        </p:nvSpPr>
        <p:spPr>
          <a:xfrm>
            <a:off x="6144840" y="3950280"/>
            <a:ext cx="52117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5"/>
          <p:cNvSpPr/>
          <p:nvPr/>
        </p:nvSpPr>
        <p:spPr>
          <a:xfrm>
            <a:off x="6144840" y="3950280"/>
            <a:ext cx="54360" cy="7311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26"/>
          <p:cNvSpPr/>
          <p:nvPr/>
        </p:nvSpPr>
        <p:spPr>
          <a:xfrm>
            <a:off x="6346080" y="4087440"/>
            <a:ext cx="4827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YOLO11-seg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27"/>
          <p:cNvSpPr/>
          <p:nvPr/>
        </p:nvSpPr>
        <p:spPr>
          <a:xfrm>
            <a:off x="6346080" y="4425840"/>
            <a:ext cx="4827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Practical comparator if time permits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8"/>
          <p:cNvSpPr/>
          <p:nvPr/>
        </p:nvSpPr>
        <p:spPr>
          <a:xfrm>
            <a:off x="658440" y="4864680"/>
            <a:ext cx="52117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9"/>
          <p:cNvSpPr/>
          <p:nvPr/>
        </p:nvSpPr>
        <p:spPr>
          <a:xfrm>
            <a:off x="658440" y="4864680"/>
            <a:ext cx="54360" cy="7311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30"/>
          <p:cNvSpPr/>
          <p:nvPr/>
        </p:nvSpPr>
        <p:spPr>
          <a:xfrm>
            <a:off x="859680" y="5001840"/>
            <a:ext cx="4827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Mask2Former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31"/>
          <p:cNvSpPr/>
          <p:nvPr/>
        </p:nvSpPr>
        <p:spPr>
          <a:xfrm>
            <a:off x="859680" y="5340240"/>
            <a:ext cx="4827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Pretrained fine-tuning stretch goal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32"/>
          <p:cNvSpPr/>
          <p:nvPr/>
        </p:nvSpPr>
        <p:spPr>
          <a:xfrm>
            <a:off x="6144840" y="4864680"/>
            <a:ext cx="52117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3"/>
          <p:cNvSpPr/>
          <p:nvPr/>
        </p:nvSpPr>
        <p:spPr>
          <a:xfrm>
            <a:off x="6144840" y="4864680"/>
            <a:ext cx="54360" cy="7311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34"/>
          <p:cNvSpPr/>
          <p:nvPr/>
        </p:nvSpPr>
        <p:spPr>
          <a:xfrm>
            <a:off x="6346080" y="5001840"/>
            <a:ext cx="4827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35"/>
          <p:cNvSpPr/>
          <p:nvPr/>
        </p:nvSpPr>
        <p:spPr>
          <a:xfrm>
            <a:off x="6346080" y="5340240"/>
            <a:ext cx="4827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Separate secondary evaluation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sldNum" idx="12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7D715E0-87FF-49B2-88F1-95AEDB799FE0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9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Evaluation Plan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Measure segmentation quality, class behavior, small-damage performance and practical efficiency.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09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3"/>
          <p:cNvSpPr/>
          <p:nvPr/>
        </p:nvSpPr>
        <p:spPr>
          <a:xfrm>
            <a:off x="658440" y="1234440"/>
            <a:ext cx="525744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4"/>
          <p:cNvSpPr/>
          <p:nvPr/>
        </p:nvSpPr>
        <p:spPr>
          <a:xfrm>
            <a:off x="658440" y="1234440"/>
            <a:ext cx="54360" cy="11426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5"/>
          <p:cNvSpPr/>
          <p:nvPr/>
        </p:nvSpPr>
        <p:spPr>
          <a:xfrm>
            <a:off x="859680" y="1371600"/>
            <a:ext cx="487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Primary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859680" y="1710000"/>
            <a:ext cx="48733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Foreground mIoU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Foreground mean Dice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7"/>
          <p:cNvSpPr/>
          <p:nvPr/>
        </p:nvSpPr>
        <p:spPr>
          <a:xfrm>
            <a:off x="6190560" y="1234440"/>
            <a:ext cx="525744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8"/>
          <p:cNvSpPr/>
          <p:nvPr/>
        </p:nvSpPr>
        <p:spPr>
          <a:xfrm>
            <a:off x="6190560" y="1234440"/>
            <a:ext cx="54360" cy="11426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9"/>
          <p:cNvSpPr/>
          <p:nvPr/>
        </p:nvSpPr>
        <p:spPr>
          <a:xfrm>
            <a:off x="6391800" y="1371600"/>
            <a:ext cx="487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Per class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0"/>
          <p:cNvSpPr/>
          <p:nvPr/>
        </p:nvSpPr>
        <p:spPr>
          <a:xfrm>
            <a:off x="6391800" y="1710000"/>
            <a:ext cx="48733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IoU + Dice for all six classes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1"/>
          <p:cNvSpPr/>
          <p:nvPr/>
        </p:nvSpPr>
        <p:spPr>
          <a:xfrm>
            <a:off x="658440" y="2651760"/>
            <a:ext cx="525744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2"/>
          <p:cNvSpPr/>
          <p:nvPr/>
        </p:nvSpPr>
        <p:spPr>
          <a:xfrm>
            <a:off x="658440" y="2651760"/>
            <a:ext cx="54360" cy="11426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13"/>
          <p:cNvSpPr/>
          <p:nvPr/>
        </p:nvSpPr>
        <p:spPr>
          <a:xfrm>
            <a:off x="859680" y="2788920"/>
            <a:ext cx="487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Small damage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14"/>
          <p:cNvSpPr/>
          <p:nvPr/>
        </p:nvSpPr>
        <p:spPr>
          <a:xfrm>
            <a:off x="859680" y="3127320"/>
            <a:ext cx="48733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Small / medium / large mask strata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5"/>
          <p:cNvSpPr/>
          <p:nvPr/>
        </p:nvSpPr>
        <p:spPr>
          <a:xfrm>
            <a:off x="6190560" y="2651760"/>
            <a:ext cx="525744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6"/>
          <p:cNvSpPr/>
          <p:nvPr/>
        </p:nvSpPr>
        <p:spPr>
          <a:xfrm>
            <a:off x="6190560" y="2651760"/>
            <a:ext cx="54360" cy="1142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17"/>
          <p:cNvSpPr/>
          <p:nvPr/>
        </p:nvSpPr>
        <p:spPr>
          <a:xfrm>
            <a:off x="6391800" y="2788920"/>
            <a:ext cx="487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Efficiency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18"/>
          <p:cNvSpPr/>
          <p:nvPr/>
        </p:nvSpPr>
        <p:spPr>
          <a:xfrm>
            <a:off x="6391800" y="3127320"/>
            <a:ext cx="48733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Parameters • VRAM • latency • training 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9"/>
          <p:cNvSpPr/>
          <p:nvPr/>
        </p:nvSpPr>
        <p:spPr>
          <a:xfrm>
            <a:off x="658440" y="425196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20"/>
          <p:cNvSpPr/>
          <p:nvPr/>
        </p:nvSpPr>
        <p:spPr>
          <a:xfrm>
            <a:off x="658440" y="4316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E1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1"/>
          <p:cNvSpPr/>
          <p:nvPr/>
        </p:nvSpPr>
        <p:spPr>
          <a:xfrm>
            <a:off x="1243440" y="428868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Robustness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22"/>
          <p:cNvSpPr/>
          <p:nvPr/>
        </p:nvSpPr>
        <p:spPr>
          <a:xfrm>
            <a:off x="658440" y="4663440"/>
            <a:ext cx="324576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3"/>
          <p:cNvSpPr/>
          <p:nvPr/>
        </p:nvSpPr>
        <p:spPr>
          <a:xfrm>
            <a:off x="658440" y="4663440"/>
            <a:ext cx="54360" cy="9140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24"/>
          <p:cNvSpPr/>
          <p:nvPr/>
        </p:nvSpPr>
        <p:spPr>
          <a:xfrm>
            <a:off x="859680" y="48006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3 random seeds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25"/>
          <p:cNvSpPr/>
          <p:nvPr/>
        </p:nvSpPr>
        <p:spPr>
          <a:xfrm>
            <a:off x="859680" y="5139000"/>
            <a:ext cx="286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42 • 1337 • 2026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Report mean ± standard deviation.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6"/>
          <p:cNvSpPr/>
          <p:nvPr/>
        </p:nvSpPr>
        <p:spPr>
          <a:xfrm>
            <a:off x="4187880" y="4663440"/>
            <a:ext cx="324576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7"/>
          <p:cNvSpPr/>
          <p:nvPr/>
        </p:nvSpPr>
        <p:spPr>
          <a:xfrm>
            <a:off x="4187880" y="4663440"/>
            <a:ext cx="54360" cy="91404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8"/>
          <p:cNvSpPr/>
          <p:nvPr/>
        </p:nvSpPr>
        <p:spPr>
          <a:xfrm>
            <a:off x="4389120" y="48006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Error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29"/>
          <p:cNvSpPr/>
          <p:nvPr/>
        </p:nvSpPr>
        <p:spPr>
          <a:xfrm>
            <a:off x="4389120" y="5139000"/>
            <a:ext cx="286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False positives, false negatives, thin damage and confusing visual patterns.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30"/>
          <p:cNvSpPr/>
          <p:nvPr/>
        </p:nvSpPr>
        <p:spPr>
          <a:xfrm>
            <a:off x="7717680" y="4663440"/>
            <a:ext cx="3803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31"/>
          <p:cNvSpPr/>
          <p:nvPr/>
        </p:nvSpPr>
        <p:spPr>
          <a:xfrm>
            <a:off x="7717680" y="4663440"/>
            <a:ext cx="54360" cy="9140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32"/>
          <p:cNvSpPr/>
          <p:nvPr/>
        </p:nvSpPr>
        <p:spPr>
          <a:xfrm>
            <a:off x="7918560" y="4800600"/>
            <a:ext cx="3419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Test discipline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33"/>
          <p:cNvSpPr/>
          <p:nvPr/>
        </p:nvSpPr>
        <p:spPr>
          <a:xfrm>
            <a:off x="7918560" y="5139000"/>
            <a:ext cx="3419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No tuning on test. Primary result uses single-pass inference; TTA remains separate.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sldNum" idx="13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4FC83DA-542D-4E20-AEB7-C1F34D8CFB91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10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Product Architecture &amp; Model Boundary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Vision evidence and conversational intelligence remain separate.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10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"/>
          <p:cNvSpPr/>
          <p:nvPr/>
        </p:nvSpPr>
        <p:spPr>
          <a:xfrm>
            <a:off x="658440" y="1417320"/>
            <a:ext cx="191988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4"/>
          <p:cNvSpPr/>
          <p:nvPr/>
        </p:nvSpPr>
        <p:spPr>
          <a:xfrm>
            <a:off x="658440" y="1417320"/>
            <a:ext cx="54360" cy="1096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859680" y="1554480"/>
            <a:ext cx="153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Photo input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859680" y="1892880"/>
            <a:ext cx="1535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Upload / camera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Preview / replace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7"/>
          <p:cNvSpPr/>
          <p:nvPr/>
        </p:nvSpPr>
        <p:spPr>
          <a:xfrm>
            <a:off x="2724840" y="1783080"/>
            <a:ext cx="411120" cy="22824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8"/>
          <p:cNvSpPr/>
          <p:nvPr/>
        </p:nvSpPr>
        <p:spPr>
          <a:xfrm>
            <a:off x="3200400" y="1417320"/>
            <a:ext cx="191988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9"/>
          <p:cNvSpPr/>
          <p:nvPr/>
        </p:nvSpPr>
        <p:spPr>
          <a:xfrm>
            <a:off x="3200400" y="1417320"/>
            <a:ext cx="54360" cy="1096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10"/>
          <p:cNvSpPr/>
          <p:nvPr/>
        </p:nvSpPr>
        <p:spPr>
          <a:xfrm>
            <a:off x="3401640" y="1554480"/>
            <a:ext cx="153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Quality gate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11"/>
          <p:cNvSpPr/>
          <p:nvPr/>
        </p:nvSpPr>
        <p:spPr>
          <a:xfrm>
            <a:off x="3401640" y="1892880"/>
            <a:ext cx="1535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Blur / exposure / framing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Fail → retake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2"/>
          <p:cNvSpPr/>
          <p:nvPr/>
        </p:nvSpPr>
        <p:spPr>
          <a:xfrm>
            <a:off x="5285160" y="1783080"/>
            <a:ext cx="411120" cy="22824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3"/>
          <p:cNvSpPr/>
          <p:nvPr/>
        </p:nvSpPr>
        <p:spPr>
          <a:xfrm>
            <a:off x="5760720" y="1417320"/>
            <a:ext cx="205704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4"/>
          <p:cNvSpPr/>
          <p:nvPr/>
        </p:nvSpPr>
        <p:spPr>
          <a:xfrm>
            <a:off x="5760720" y="1417320"/>
            <a:ext cx="54360" cy="10969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15"/>
          <p:cNvSpPr/>
          <p:nvPr/>
        </p:nvSpPr>
        <p:spPr>
          <a:xfrm>
            <a:off x="5961960" y="155448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Hybrid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5961960" y="1892880"/>
            <a:ext cx="16729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Class + mask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Confidence / uncertainty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17"/>
          <p:cNvSpPr/>
          <p:nvPr/>
        </p:nvSpPr>
        <p:spPr>
          <a:xfrm>
            <a:off x="7973640" y="1783080"/>
            <a:ext cx="411120" cy="22824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18"/>
          <p:cNvSpPr/>
          <p:nvPr/>
        </p:nvSpPr>
        <p:spPr>
          <a:xfrm>
            <a:off x="8458200" y="1417320"/>
            <a:ext cx="191988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9"/>
          <p:cNvSpPr/>
          <p:nvPr/>
        </p:nvSpPr>
        <p:spPr>
          <a:xfrm>
            <a:off x="8458200" y="1417320"/>
            <a:ext cx="54360" cy="10969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20"/>
          <p:cNvSpPr/>
          <p:nvPr/>
        </p:nvSpPr>
        <p:spPr>
          <a:xfrm>
            <a:off x="8659440" y="1554480"/>
            <a:ext cx="153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Structured 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21"/>
          <p:cNvSpPr/>
          <p:nvPr/>
        </p:nvSpPr>
        <p:spPr>
          <a:xfrm>
            <a:off x="8659440" y="1892880"/>
            <a:ext cx="1535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Typed inspection result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2"/>
          <p:cNvSpPr/>
          <p:nvPr/>
        </p:nvSpPr>
        <p:spPr>
          <a:xfrm>
            <a:off x="10561320" y="1783080"/>
            <a:ext cx="411120" cy="2282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23"/>
          <p:cNvSpPr/>
          <p:nvPr/>
        </p:nvSpPr>
        <p:spPr>
          <a:xfrm>
            <a:off x="11018520" y="1417320"/>
            <a:ext cx="502560" cy="1096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24"/>
          <p:cNvSpPr/>
          <p:nvPr/>
        </p:nvSpPr>
        <p:spPr>
          <a:xfrm>
            <a:off x="11018520" y="1417320"/>
            <a:ext cx="54360" cy="109692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25"/>
          <p:cNvSpPr/>
          <p:nvPr/>
        </p:nvSpPr>
        <p:spPr>
          <a:xfrm>
            <a:off x="11219760" y="1554480"/>
            <a:ext cx="11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LLM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26"/>
          <p:cNvSpPr/>
          <p:nvPr/>
        </p:nvSpPr>
        <p:spPr>
          <a:xfrm>
            <a:off x="11219760" y="1892880"/>
            <a:ext cx="118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18212f"/>
                </a:solidFill>
                <a:latin typeface="Aptos"/>
                <a:ea typeface="Aptos"/>
              </a:rPr>
              <a:t>Explain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27"/>
          <p:cNvSpPr/>
          <p:nvPr/>
        </p:nvSpPr>
        <p:spPr>
          <a:xfrm>
            <a:off x="658440" y="2971800"/>
            <a:ext cx="475200" cy="29232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28"/>
          <p:cNvSpPr/>
          <p:nvPr/>
        </p:nvSpPr>
        <p:spPr>
          <a:xfrm>
            <a:off x="658440" y="303588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B1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29"/>
          <p:cNvSpPr/>
          <p:nvPr/>
        </p:nvSpPr>
        <p:spPr>
          <a:xfrm>
            <a:off x="1243440" y="30085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Conversational layer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30"/>
          <p:cNvSpPr/>
          <p:nvPr/>
        </p:nvSpPr>
        <p:spPr>
          <a:xfrm>
            <a:off x="658440" y="3401640"/>
            <a:ext cx="32457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31"/>
          <p:cNvSpPr/>
          <p:nvPr/>
        </p:nvSpPr>
        <p:spPr>
          <a:xfrm>
            <a:off x="658440" y="3401640"/>
            <a:ext cx="54360" cy="14169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32"/>
          <p:cNvSpPr/>
          <p:nvPr/>
        </p:nvSpPr>
        <p:spPr>
          <a:xfrm>
            <a:off x="859680" y="35388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LangChain + Groq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33"/>
          <p:cNvSpPr/>
          <p:nvPr/>
        </p:nvSpPr>
        <p:spPr>
          <a:xfrm>
            <a:off x="859680" y="3877200"/>
            <a:ext cx="286164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Professional LLM persona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Evidence-grounded responses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No hard-coded production templates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API key remains server-side.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4"/>
          <p:cNvSpPr/>
          <p:nvPr/>
        </p:nvSpPr>
        <p:spPr>
          <a:xfrm>
            <a:off x="4206240" y="3401640"/>
            <a:ext cx="32457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35"/>
          <p:cNvSpPr/>
          <p:nvPr/>
        </p:nvSpPr>
        <p:spPr>
          <a:xfrm>
            <a:off x="4206240" y="3401640"/>
            <a:ext cx="54360" cy="14169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36"/>
          <p:cNvSpPr/>
          <p:nvPr/>
        </p:nvSpPr>
        <p:spPr>
          <a:xfrm>
            <a:off x="4407480" y="3538800"/>
            <a:ext cx="286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Main chat experience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37"/>
          <p:cNvSpPr/>
          <p:nvPr/>
        </p:nvSpPr>
        <p:spPr>
          <a:xfrm>
            <a:off x="4407480" y="3877200"/>
            <a:ext cx="286164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Photo attachment + analysis result + description appear in the same conversation. User can continue chatting after analysis.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38"/>
          <p:cNvSpPr/>
          <p:nvPr/>
        </p:nvSpPr>
        <p:spPr>
          <a:xfrm>
            <a:off x="7754040" y="3401640"/>
            <a:ext cx="37670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39"/>
          <p:cNvSpPr/>
          <p:nvPr/>
        </p:nvSpPr>
        <p:spPr>
          <a:xfrm>
            <a:off x="7754040" y="3401640"/>
            <a:ext cx="54360" cy="141696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40"/>
          <p:cNvSpPr/>
          <p:nvPr/>
        </p:nvSpPr>
        <p:spPr>
          <a:xfrm>
            <a:off x="7955280" y="353880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No cost pathway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41"/>
          <p:cNvSpPr/>
          <p:nvPr/>
        </p:nvSpPr>
        <p:spPr>
          <a:xfrm>
            <a:off x="7955280" y="3877200"/>
            <a:ext cx="338292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Cost prediction, repair quotes, P10/P50/P90 and cost-related UI/API are removed from the current scope.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42"/>
          <p:cNvSpPr/>
          <p:nvPr/>
        </p:nvSpPr>
        <p:spPr>
          <a:xfrm>
            <a:off x="658440" y="52578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Model responsibility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43"/>
          <p:cNvSpPr/>
          <p:nvPr/>
        </p:nvSpPr>
        <p:spPr>
          <a:xfrm>
            <a:off x="1920240" y="5203080"/>
            <a:ext cx="132552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44"/>
          <p:cNvSpPr/>
          <p:nvPr/>
        </p:nvSpPr>
        <p:spPr>
          <a:xfrm>
            <a:off x="1993320" y="5266800"/>
            <a:ext cx="11793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Evidence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45"/>
          <p:cNvSpPr/>
          <p:nvPr/>
        </p:nvSpPr>
        <p:spPr>
          <a:xfrm>
            <a:off x="3410640" y="5203080"/>
            <a:ext cx="159984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46"/>
          <p:cNvSpPr/>
          <p:nvPr/>
        </p:nvSpPr>
        <p:spPr>
          <a:xfrm>
            <a:off x="3483720" y="5266800"/>
            <a:ext cx="1453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Confidence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47"/>
          <p:cNvSpPr/>
          <p:nvPr/>
        </p:nvSpPr>
        <p:spPr>
          <a:xfrm>
            <a:off x="5184720" y="5203080"/>
            <a:ext cx="1416960" cy="31068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48"/>
          <p:cNvSpPr/>
          <p:nvPr/>
        </p:nvSpPr>
        <p:spPr>
          <a:xfrm>
            <a:off x="5257800" y="5266800"/>
            <a:ext cx="1270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Explanation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49"/>
          <p:cNvSpPr/>
          <p:nvPr/>
        </p:nvSpPr>
        <p:spPr>
          <a:xfrm>
            <a:off x="6766560" y="5203080"/>
            <a:ext cx="1279800" cy="310680"/>
          </a:xfrm>
          <a:prstGeom prst="roundRect">
            <a:avLst>
              <a:gd name="adj" fmla="val 41176"/>
            </a:avLst>
          </a:prstGeom>
          <a:solidFill>
            <a:srgbClr val="fff5e1"/>
          </a:solidFill>
          <a:ln w="12700">
            <a:solidFill>
              <a:srgbClr val="fff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50"/>
          <p:cNvSpPr/>
          <p:nvPr/>
        </p:nvSpPr>
        <p:spPr>
          <a:xfrm>
            <a:off x="6839640" y="5266800"/>
            <a:ext cx="1133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e0b"/>
                </a:solidFill>
                <a:latin typeface="Aptos"/>
              </a:rPr>
              <a:t>Follow-up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14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6AFD7D3-17B0-4671-B297-FC4B1ABA5934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11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Expected Demo / User Experience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ChatGPT-like photo interaction: the inspection result lives in the main conversation.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11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3"/>
          <p:cNvSpPr/>
          <p:nvPr/>
        </p:nvSpPr>
        <p:spPr>
          <a:xfrm>
            <a:off x="658440" y="1234440"/>
            <a:ext cx="345600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4"/>
          <p:cNvSpPr/>
          <p:nvPr/>
        </p:nvSpPr>
        <p:spPr>
          <a:xfrm>
            <a:off x="658440" y="1234440"/>
            <a:ext cx="54360" cy="18741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5"/>
          <p:cNvSpPr/>
          <p:nvPr/>
        </p:nvSpPr>
        <p:spPr>
          <a:xfrm>
            <a:off x="859680" y="1371600"/>
            <a:ext cx="307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1 — Attach or capture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6"/>
          <p:cNvSpPr/>
          <p:nvPr/>
        </p:nvSpPr>
        <p:spPr>
          <a:xfrm>
            <a:off x="859680" y="1710000"/>
            <a:ext cx="3071880" cy="12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Upload or camera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Preview image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Remove / replace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Send / Analyze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7"/>
          <p:cNvSpPr/>
          <p:nvPr/>
        </p:nvSpPr>
        <p:spPr>
          <a:xfrm>
            <a:off x="4370760" y="1234440"/>
            <a:ext cx="345600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8"/>
          <p:cNvSpPr/>
          <p:nvPr/>
        </p:nvSpPr>
        <p:spPr>
          <a:xfrm>
            <a:off x="4370760" y="1234440"/>
            <a:ext cx="54360" cy="18741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9"/>
          <p:cNvSpPr/>
          <p:nvPr/>
        </p:nvSpPr>
        <p:spPr>
          <a:xfrm>
            <a:off x="4572000" y="1371600"/>
            <a:ext cx="307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2 — Analyze in chat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0"/>
          <p:cNvSpPr/>
          <p:nvPr/>
        </p:nvSpPr>
        <p:spPr>
          <a:xfrm>
            <a:off x="4572000" y="1710000"/>
            <a:ext cx="3071880" cy="12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Quality gate first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Hybrid segmentation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Damage mask + class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Confidence / uncertainty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11"/>
          <p:cNvSpPr/>
          <p:nvPr/>
        </p:nvSpPr>
        <p:spPr>
          <a:xfrm>
            <a:off x="8083440" y="1234440"/>
            <a:ext cx="345600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2"/>
          <p:cNvSpPr/>
          <p:nvPr/>
        </p:nvSpPr>
        <p:spPr>
          <a:xfrm>
            <a:off x="8083440" y="1234440"/>
            <a:ext cx="54360" cy="18741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3"/>
          <p:cNvSpPr/>
          <p:nvPr/>
        </p:nvSpPr>
        <p:spPr>
          <a:xfrm>
            <a:off x="8284320" y="1371600"/>
            <a:ext cx="307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3 — Continue conversation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14"/>
          <p:cNvSpPr/>
          <p:nvPr/>
        </p:nvSpPr>
        <p:spPr>
          <a:xfrm>
            <a:off x="8284320" y="1710000"/>
            <a:ext cx="3071880" cy="12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Professional description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Ask follow-up questions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Clarify findings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Retake when needed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15"/>
          <p:cNvSpPr/>
          <p:nvPr/>
        </p:nvSpPr>
        <p:spPr>
          <a:xfrm>
            <a:off x="658440" y="35204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Conversation example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6"/>
          <p:cNvSpPr/>
          <p:nvPr/>
        </p:nvSpPr>
        <p:spPr>
          <a:xfrm>
            <a:off x="658440" y="3858840"/>
            <a:ext cx="374868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17"/>
          <p:cNvSpPr/>
          <p:nvPr/>
        </p:nvSpPr>
        <p:spPr>
          <a:xfrm>
            <a:off x="868680" y="4087440"/>
            <a:ext cx="3291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</a:rPr>
              <a:t>USER  •  [vehicle photo]  Analyze this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8"/>
          <p:cNvSpPr/>
          <p:nvPr/>
        </p:nvSpPr>
        <p:spPr>
          <a:xfrm>
            <a:off x="4590360" y="4041720"/>
            <a:ext cx="594000" cy="25560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19"/>
          <p:cNvSpPr/>
          <p:nvPr/>
        </p:nvSpPr>
        <p:spPr>
          <a:xfrm>
            <a:off x="5349240" y="3675960"/>
            <a:ext cx="6171840" cy="1023840"/>
          </a:xfrm>
          <a:prstGeom prst="roundRect">
            <a:avLst>
              <a:gd name="adj" fmla="val 7143"/>
            </a:avLst>
          </a:prstGeom>
          <a:solidFill>
            <a:srgbClr val="eef4ff"/>
          </a:solidFill>
          <a:ln w="12700">
            <a:solidFill>
              <a:srgbClr val="c9d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20"/>
          <p:cNvSpPr/>
          <p:nvPr/>
        </p:nvSpPr>
        <p:spPr>
          <a:xfrm>
            <a:off x="5577840" y="3858840"/>
            <a:ext cx="776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2f67e8"/>
                </a:solidFill>
                <a:latin typeface="Aptos"/>
              </a:rPr>
              <a:t>ASSISTANT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21"/>
          <p:cNvSpPr/>
          <p:nvPr/>
        </p:nvSpPr>
        <p:spPr>
          <a:xfrm>
            <a:off x="5577840" y="4096440"/>
            <a:ext cx="5623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4213d"/>
                </a:solidFill>
                <a:latin typeface="Aptos"/>
              </a:rPr>
              <a:t>Scratch detected in the highlighted region. The image passed the quality check; model confidence is moderate. Here is what the segmentation shows…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2"/>
          <p:cNvSpPr/>
          <p:nvPr/>
        </p:nvSpPr>
        <p:spPr>
          <a:xfrm>
            <a:off x="658440" y="4983480"/>
            <a:ext cx="10862640" cy="594000"/>
          </a:xfrm>
          <a:prstGeom prst="roundRect">
            <a:avLst>
              <a:gd name="adj" fmla="val 27692"/>
            </a:avLst>
          </a:prstGeom>
          <a:solidFill>
            <a:srgbClr val="ffffff"/>
          </a:solidFill>
          <a:ln w="1270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23"/>
          <p:cNvSpPr/>
          <p:nvPr/>
        </p:nvSpPr>
        <p:spPr>
          <a:xfrm>
            <a:off x="868680" y="5175360"/>
            <a:ext cx="639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Composer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24"/>
          <p:cNvSpPr/>
          <p:nvPr/>
        </p:nvSpPr>
        <p:spPr>
          <a:xfrm>
            <a:off x="1828800" y="5083920"/>
            <a:ext cx="109692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25"/>
          <p:cNvSpPr/>
          <p:nvPr/>
        </p:nvSpPr>
        <p:spPr>
          <a:xfrm>
            <a:off x="1901880" y="5148000"/>
            <a:ext cx="950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Attach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6"/>
          <p:cNvSpPr/>
          <p:nvPr/>
        </p:nvSpPr>
        <p:spPr>
          <a:xfrm>
            <a:off x="3127320" y="5083920"/>
            <a:ext cx="100548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27"/>
          <p:cNvSpPr/>
          <p:nvPr/>
        </p:nvSpPr>
        <p:spPr>
          <a:xfrm>
            <a:off x="3200400" y="5148000"/>
            <a:ext cx="8593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Camera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8"/>
          <p:cNvSpPr/>
          <p:nvPr/>
        </p:nvSpPr>
        <p:spPr>
          <a:xfrm>
            <a:off x="9985320" y="5083920"/>
            <a:ext cx="959760" cy="310680"/>
          </a:xfrm>
          <a:prstGeom prst="roundRect">
            <a:avLst>
              <a:gd name="adj" fmla="val 41176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29"/>
          <p:cNvSpPr/>
          <p:nvPr/>
        </p:nvSpPr>
        <p:spPr>
          <a:xfrm>
            <a:off x="10058400" y="5148000"/>
            <a:ext cx="813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Send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30"/>
          <p:cNvSpPr/>
          <p:nvPr/>
        </p:nvSpPr>
        <p:spPr>
          <a:xfrm>
            <a:off x="4480560" y="5175360"/>
            <a:ext cx="2925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67085"/>
                </a:solidFill>
                <a:latin typeface="Aptos"/>
              </a:rPr>
              <a:t>Text input stays active after analysis.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1"/>
          <p:cNvSpPr>
            <a:spLocks noGrp="1"/>
          </p:cNvSpPr>
          <p:nvPr>
            <p:ph type="sldNum" idx="15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F06377-115C-4322-87CA-888433D78804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12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Implementation Structure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Training remains reusable across local, Colab and Kaggle environments; product code stays separate.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12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3"/>
          <p:cNvSpPr/>
          <p:nvPr/>
        </p:nvSpPr>
        <p:spPr>
          <a:xfrm>
            <a:off x="658440" y="1207080"/>
            <a:ext cx="5486040" cy="4251600"/>
          </a:xfrm>
          <a:prstGeom prst="roundRect">
            <a:avLst>
              <a:gd name="adj" fmla="val 1075"/>
            </a:avLst>
          </a:prstGeom>
          <a:solidFill>
            <a:srgbClr val="121826"/>
          </a:solidFill>
          <a:ln w="12700">
            <a:solidFill>
              <a:srgbClr val="1218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4"/>
          <p:cNvSpPr/>
          <p:nvPr/>
        </p:nvSpPr>
        <p:spPr>
          <a:xfrm>
            <a:off x="914400" y="1463040"/>
            <a:ext cx="4983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AutoInspect-X/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apps/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web/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└──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api/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ml/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datasets/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models/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cardd_unet.py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resnet34_unet.py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│   └──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hybrid_segmentation.py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training/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inference/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evaluation/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│   └──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experiments/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docs/architecture/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├──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tests/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└── </a:t>
            </a:r>
            <a:r>
              <a:rPr b="0" lang="en-US" sz="1100" spc="-1" strike="noStrike">
                <a:solidFill>
                  <a:srgbClr val="e6ecf5"/>
                </a:solidFill>
                <a:latin typeface="Courier New"/>
                <a:ea typeface="Courier New"/>
              </a:rPr>
              <a:t>README / TASKS / MEMORY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5"/>
          <p:cNvSpPr/>
          <p:nvPr/>
        </p:nvSpPr>
        <p:spPr>
          <a:xfrm>
            <a:off x="6428160" y="1207080"/>
            <a:ext cx="2514240" cy="1279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6"/>
          <p:cNvSpPr/>
          <p:nvPr/>
        </p:nvSpPr>
        <p:spPr>
          <a:xfrm>
            <a:off x="6428160" y="1207080"/>
            <a:ext cx="54360" cy="12798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7"/>
          <p:cNvSpPr/>
          <p:nvPr/>
        </p:nvSpPr>
        <p:spPr>
          <a:xfrm>
            <a:off x="6629400" y="1344240"/>
            <a:ext cx="213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Baseline stays separate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8"/>
          <p:cNvSpPr/>
          <p:nvPr/>
        </p:nvSpPr>
        <p:spPr>
          <a:xfrm>
            <a:off x="6629400" y="1682640"/>
            <a:ext cx="2130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Existing CarddUNet remains available. Controlled baseline uses ResNet34-U-Net.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9"/>
          <p:cNvSpPr/>
          <p:nvPr/>
        </p:nvSpPr>
        <p:spPr>
          <a:xfrm>
            <a:off x="9144000" y="1207080"/>
            <a:ext cx="2377080" cy="1279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10"/>
          <p:cNvSpPr/>
          <p:nvPr/>
        </p:nvSpPr>
        <p:spPr>
          <a:xfrm>
            <a:off x="9144000" y="1207080"/>
            <a:ext cx="54360" cy="12798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11"/>
          <p:cNvSpPr/>
          <p:nvPr/>
        </p:nvSpPr>
        <p:spPr>
          <a:xfrm>
            <a:off x="9345240" y="134424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Hybrid is new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12"/>
          <p:cNvSpPr/>
          <p:nvPr/>
        </p:nvSpPr>
        <p:spPr>
          <a:xfrm>
            <a:off x="9345240" y="1682640"/>
            <a:ext cx="1992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CNN + bottleneck Transformer + fusion + decoder lives in its own model module.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3"/>
          <p:cNvSpPr/>
          <p:nvPr/>
        </p:nvSpPr>
        <p:spPr>
          <a:xfrm>
            <a:off x="6428160" y="2743200"/>
            <a:ext cx="509292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4"/>
          <p:cNvSpPr/>
          <p:nvPr/>
        </p:nvSpPr>
        <p:spPr>
          <a:xfrm>
            <a:off x="6428160" y="2743200"/>
            <a:ext cx="54360" cy="11426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15"/>
          <p:cNvSpPr/>
          <p:nvPr/>
        </p:nvSpPr>
        <p:spPr>
          <a:xfrm>
            <a:off x="6629400" y="288036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Shared infrastructure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16"/>
          <p:cNvSpPr/>
          <p:nvPr/>
        </p:nvSpPr>
        <p:spPr>
          <a:xfrm>
            <a:off x="6629400" y="3218760"/>
            <a:ext cx="470880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One dataset adapter • one trainer • one metric implementation • one experiment record format.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7"/>
          <p:cNvSpPr/>
          <p:nvPr/>
        </p:nvSpPr>
        <p:spPr>
          <a:xfrm>
            <a:off x="6428160" y="4160520"/>
            <a:ext cx="5092920" cy="1298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8"/>
          <p:cNvSpPr/>
          <p:nvPr/>
        </p:nvSpPr>
        <p:spPr>
          <a:xfrm>
            <a:off x="6428160" y="4160520"/>
            <a:ext cx="54360" cy="1298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9"/>
          <p:cNvSpPr/>
          <p:nvPr/>
        </p:nvSpPr>
        <p:spPr>
          <a:xfrm>
            <a:off x="6629400" y="429768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Portability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20"/>
          <p:cNvSpPr/>
          <p:nvPr/>
        </p:nvSpPr>
        <p:spPr>
          <a:xfrm>
            <a:off x="6629400" y="4636080"/>
            <a:ext cx="47088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Local: smoke/debug.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Colab: primary full training.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Kaggle: secondary / overflow.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Only --data-root changes.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1"/>
          <p:cNvSpPr>
            <a:spLocks noGrp="1"/>
          </p:cNvSpPr>
          <p:nvPr>
            <p:ph type="sldNum" idx="16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CC0F61-43B2-4906-BE0A-AD4D598D332A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13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Current Implementation Status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Local engineering gate is complete; the next evidence comes from cloud training.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13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3"/>
          <p:cNvSpPr/>
          <p:nvPr/>
        </p:nvSpPr>
        <p:spPr>
          <a:xfrm>
            <a:off x="658440" y="1234440"/>
            <a:ext cx="19929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4"/>
          <p:cNvSpPr/>
          <p:nvPr/>
        </p:nvSpPr>
        <p:spPr>
          <a:xfrm>
            <a:off x="658440" y="1234440"/>
            <a:ext cx="54360" cy="123408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859680" y="1371600"/>
            <a:ext cx="160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mypy --strict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859680" y="1710000"/>
            <a:ext cx="16088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0 errors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7"/>
          <p:cNvSpPr/>
          <p:nvPr/>
        </p:nvSpPr>
        <p:spPr>
          <a:xfrm>
            <a:off x="2917080" y="1234440"/>
            <a:ext cx="19929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8"/>
          <p:cNvSpPr/>
          <p:nvPr/>
        </p:nvSpPr>
        <p:spPr>
          <a:xfrm>
            <a:off x="2917080" y="1234440"/>
            <a:ext cx="54360" cy="123408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9"/>
          <p:cNvSpPr/>
          <p:nvPr/>
        </p:nvSpPr>
        <p:spPr>
          <a:xfrm>
            <a:off x="3117960" y="1371600"/>
            <a:ext cx="160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ruff check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0"/>
          <p:cNvSpPr/>
          <p:nvPr/>
        </p:nvSpPr>
        <p:spPr>
          <a:xfrm>
            <a:off x="3117960" y="1710000"/>
            <a:ext cx="16088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clean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1"/>
          <p:cNvSpPr/>
          <p:nvPr/>
        </p:nvSpPr>
        <p:spPr>
          <a:xfrm>
            <a:off x="5175360" y="1234440"/>
            <a:ext cx="19929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2"/>
          <p:cNvSpPr/>
          <p:nvPr/>
        </p:nvSpPr>
        <p:spPr>
          <a:xfrm>
            <a:off x="5175360" y="1234440"/>
            <a:ext cx="54360" cy="123408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13"/>
          <p:cNvSpPr/>
          <p:nvPr/>
        </p:nvSpPr>
        <p:spPr>
          <a:xfrm>
            <a:off x="5376600" y="1371600"/>
            <a:ext cx="160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pytest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14"/>
          <p:cNvSpPr/>
          <p:nvPr/>
        </p:nvSpPr>
        <p:spPr>
          <a:xfrm>
            <a:off x="5376600" y="1710000"/>
            <a:ext cx="16088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green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5"/>
          <p:cNvSpPr/>
          <p:nvPr/>
        </p:nvSpPr>
        <p:spPr>
          <a:xfrm>
            <a:off x="7434000" y="1234440"/>
            <a:ext cx="19929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6"/>
          <p:cNvSpPr/>
          <p:nvPr/>
        </p:nvSpPr>
        <p:spPr>
          <a:xfrm>
            <a:off x="7434000" y="1234440"/>
            <a:ext cx="54360" cy="123408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17"/>
          <p:cNvSpPr/>
          <p:nvPr/>
        </p:nvSpPr>
        <p:spPr>
          <a:xfrm>
            <a:off x="7635240" y="1371600"/>
            <a:ext cx="160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GPU forward smoke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18"/>
          <p:cNvSpPr/>
          <p:nvPr/>
        </p:nvSpPr>
        <p:spPr>
          <a:xfrm>
            <a:off x="7635240" y="1710000"/>
            <a:ext cx="16088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green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9"/>
          <p:cNvSpPr/>
          <p:nvPr/>
        </p:nvSpPr>
        <p:spPr>
          <a:xfrm>
            <a:off x="9692640" y="1234440"/>
            <a:ext cx="19929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0"/>
          <p:cNvSpPr/>
          <p:nvPr/>
        </p:nvSpPr>
        <p:spPr>
          <a:xfrm>
            <a:off x="9692640" y="1234440"/>
            <a:ext cx="54360" cy="123408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21"/>
          <p:cNvSpPr/>
          <p:nvPr/>
        </p:nvSpPr>
        <p:spPr>
          <a:xfrm>
            <a:off x="9893880" y="1371600"/>
            <a:ext cx="160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GPU tiny train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22"/>
          <p:cNvSpPr/>
          <p:nvPr/>
        </p:nvSpPr>
        <p:spPr>
          <a:xfrm>
            <a:off x="9893880" y="1710000"/>
            <a:ext cx="16088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baseline + hybrid green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3"/>
          <p:cNvSpPr/>
          <p:nvPr/>
        </p:nvSpPr>
        <p:spPr>
          <a:xfrm>
            <a:off x="658440" y="2926080"/>
            <a:ext cx="34743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4"/>
          <p:cNvSpPr/>
          <p:nvPr/>
        </p:nvSpPr>
        <p:spPr>
          <a:xfrm>
            <a:off x="658440" y="2926080"/>
            <a:ext cx="54360" cy="132552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25"/>
          <p:cNvSpPr/>
          <p:nvPr/>
        </p:nvSpPr>
        <p:spPr>
          <a:xfrm>
            <a:off x="859680" y="3063240"/>
            <a:ext cx="30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Hardware 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26"/>
          <p:cNvSpPr/>
          <p:nvPr/>
        </p:nvSpPr>
        <p:spPr>
          <a:xfrm>
            <a:off x="859680" y="3401640"/>
            <a:ext cx="30902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RTX 3050 Laptop • ~4 GB VRAM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Hybrid 512² smoke peak ≈ 1.37 GB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Hybrid ≈ 27.9M parameters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7"/>
          <p:cNvSpPr/>
          <p:nvPr/>
        </p:nvSpPr>
        <p:spPr>
          <a:xfrm>
            <a:off x="4370760" y="2926080"/>
            <a:ext cx="34743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8"/>
          <p:cNvSpPr/>
          <p:nvPr/>
        </p:nvSpPr>
        <p:spPr>
          <a:xfrm>
            <a:off x="4370760" y="2926080"/>
            <a:ext cx="54360" cy="1325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29"/>
          <p:cNvSpPr/>
          <p:nvPr/>
        </p:nvSpPr>
        <p:spPr>
          <a:xfrm>
            <a:off x="4572000" y="3063240"/>
            <a:ext cx="30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What the smoke test proves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 30"/>
          <p:cNvSpPr/>
          <p:nvPr/>
        </p:nvSpPr>
        <p:spPr>
          <a:xfrm>
            <a:off x="4572000" y="3401640"/>
            <a:ext cx="30902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The architecture, loss, EMA, AMP, deep supervision and data sampling can execute end-to-end.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1"/>
          <p:cNvSpPr/>
          <p:nvPr/>
        </p:nvSpPr>
        <p:spPr>
          <a:xfrm>
            <a:off x="8083440" y="2926080"/>
            <a:ext cx="343764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32"/>
          <p:cNvSpPr/>
          <p:nvPr/>
        </p:nvSpPr>
        <p:spPr>
          <a:xfrm>
            <a:off x="8083440" y="2926080"/>
            <a:ext cx="54360" cy="132552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33"/>
          <p:cNvSpPr/>
          <p:nvPr/>
        </p:nvSpPr>
        <p:spPr>
          <a:xfrm>
            <a:off x="8284320" y="3063240"/>
            <a:ext cx="3053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What it does NOT prove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34"/>
          <p:cNvSpPr/>
          <p:nvPr/>
        </p:nvSpPr>
        <p:spPr>
          <a:xfrm>
            <a:off x="8284320" y="3401640"/>
            <a:ext cx="30538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Tiny-run mIoU is not a research result. Full-scale training is required to judge learning quality.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35"/>
          <p:cNvSpPr/>
          <p:nvPr/>
        </p:nvSpPr>
        <p:spPr>
          <a:xfrm>
            <a:off x="658440" y="4645080"/>
            <a:ext cx="10862640" cy="868320"/>
          </a:xfrm>
          <a:prstGeom prst="roundRect">
            <a:avLst>
              <a:gd name="adj" fmla="val 8421"/>
            </a:avLst>
          </a:prstGeom>
          <a:solidFill>
            <a:srgbClr val="eaf8f5"/>
          </a:solidFill>
          <a:ln w="12700">
            <a:solidFill>
              <a:srgbClr val="bde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36"/>
          <p:cNvSpPr/>
          <p:nvPr/>
        </p:nvSpPr>
        <p:spPr>
          <a:xfrm>
            <a:off x="914400" y="4919400"/>
            <a:ext cx="502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fa89a"/>
                </a:solidFill>
                <a:latin typeface="Aptos"/>
              </a:rPr>
              <a:t>NEXT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37"/>
          <p:cNvSpPr/>
          <p:nvPr/>
        </p:nvSpPr>
        <p:spPr>
          <a:xfrm>
            <a:off x="1600200" y="4873680"/>
            <a:ext cx="9235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13d"/>
                </a:solidFill>
                <a:latin typeface="Aptos"/>
              </a:rPr>
              <a:t>Move the existing code to Colab → pilot training → inspect learning curves → then commit to the full multi-seed experiment.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1"/>
          <p:cNvSpPr>
            <a:spLocks noGrp="1"/>
          </p:cNvSpPr>
          <p:nvPr>
            <p:ph type="sldNum" idx="17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55296E3-F25B-4190-9ECC-B6E7623F1351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14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Timeline &amp; Research Deliverables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Development is complete enough to start the experimental phase.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14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"/>
          <p:cNvSpPr/>
          <p:nvPr/>
        </p:nvSpPr>
        <p:spPr>
          <a:xfrm>
            <a:off x="567000" y="1325880"/>
            <a:ext cx="1627200" cy="18741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4"/>
          <p:cNvSpPr/>
          <p:nvPr/>
        </p:nvSpPr>
        <p:spPr>
          <a:xfrm>
            <a:off x="567000" y="1325880"/>
            <a:ext cx="54360" cy="187416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5"/>
          <p:cNvSpPr/>
          <p:nvPr/>
        </p:nvSpPr>
        <p:spPr>
          <a:xfrm>
            <a:off x="768240" y="1463040"/>
            <a:ext cx="93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Dataset audit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6"/>
          <p:cNvSpPr/>
          <p:nvPr/>
        </p:nvSpPr>
        <p:spPr>
          <a:xfrm>
            <a:off x="768240" y="1892880"/>
            <a:ext cx="12981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CarDD split + labels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7"/>
          <p:cNvSpPr/>
          <p:nvPr/>
        </p:nvSpPr>
        <p:spPr>
          <a:xfrm>
            <a:off x="1737360" y="1481400"/>
            <a:ext cx="392760" cy="24660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8"/>
          <p:cNvSpPr/>
          <p:nvPr/>
        </p:nvSpPr>
        <p:spPr>
          <a:xfrm>
            <a:off x="1774080" y="1522440"/>
            <a:ext cx="3196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1fa89a"/>
                </a:solidFill>
                <a:latin typeface="Aptos"/>
              </a:rPr>
              <a:t>Done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9"/>
          <p:cNvSpPr/>
          <p:nvPr/>
        </p:nvSpPr>
        <p:spPr>
          <a:xfrm>
            <a:off x="2441520" y="1325880"/>
            <a:ext cx="1627200" cy="18741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0"/>
          <p:cNvSpPr/>
          <p:nvPr/>
        </p:nvSpPr>
        <p:spPr>
          <a:xfrm>
            <a:off x="2441520" y="1325880"/>
            <a:ext cx="54360" cy="187416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11"/>
          <p:cNvSpPr/>
          <p:nvPr/>
        </p:nvSpPr>
        <p:spPr>
          <a:xfrm>
            <a:off x="2642760" y="1463040"/>
            <a:ext cx="93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Architecture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2"/>
          <p:cNvSpPr/>
          <p:nvPr/>
        </p:nvSpPr>
        <p:spPr>
          <a:xfrm>
            <a:off x="2642760" y="1892880"/>
            <a:ext cx="12981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ResNet34 + hybrid implemented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3"/>
          <p:cNvSpPr/>
          <p:nvPr/>
        </p:nvSpPr>
        <p:spPr>
          <a:xfrm>
            <a:off x="3611880" y="1481400"/>
            <a:ext cx="392760" cy="24660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4"/>
          <p:cNvSpPr/>
          <p:nvPr/>
        </p:nvSpPr>
        <p:spPr>
          <a:xfrm>
            <a:off x="3648600" y="1522440"/>
            <a:ext cx="3196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1fa89a"/>
                </a:solidFill>
                <a:latin typeface="Aptos"/>
              </a:rPr>
              <a:t>Done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5"/>
          <p:cNvSpPr/>
          <p:nvPr/>
        </p:nvSpPr>
        <p:spPr>
          <a:xfrm>
            <a:off x="4316040" y="1325880"/>
            <a:ext cx="1627200" cy="18741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6"/>
          <p:cNvSpPr/>
          <p:nvPr/>
        </p:nvSpPr>
        <p:spPr>
          <a:xfrm>
            <a:off x="4316040" y="1325880"/>
            <a:ext cx="54360" cy="18741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17"/>
          <p:cNvSpPr/>
          <p:nvPr/>
        </p:nvSpPr>
        <p:spPr>
          <a:xfrm>
            <a:off x="4517280" y="1463040"/>
            <a:ext cx="93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Cloud pilot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18"/>
          <p:cNvSpPr/>
          <p:nvPr/>
        </p:nvSpPr>
        <p:spPr>
          <a:xfrm>
            <a:off x="4517280" y="1892880"/>
            <a:ext cx="12981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5–10 epoch learning check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9"/>
          <p:cNvSpPr/>
          <p:nvPr/>
        </p:nvSpPr>
        <p:spPr>
          <a:xfrm>
            <a:off x="5486400" y="1481400"/>
            <a:ext cx="392760" cy="24660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20"/>
          <p:cNvSpPr/>
          <p:nvPr/>
        </p:nvSpPr>
        <p:spPr>
          <a:xfrm>
            <a:off x="5523120" y="1522440"/>
            <a:ext cx="3196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Next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1"/>
          <p:cNvSpPr/>
          <p:nvPr/>
        </p:nvSpPr>
        <p:spPr>
          <a:xfrm>
            <a:off x="6190560" y="1325880"/>
            <a:ext cx="1627200" cy="18741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2"/>
          <p:cNvSpPr/>
          <p:nvPr/>
        </p:nvSpPr>
        <p:spPr>
          <a:xfrm>
            <a:off x="6190560" y="1325880"/>
            <a:ext cx="54360" cy="18741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 23"/>
          <p:cNvSpPr/>
          <p:nvPr/>
        </p:nvSpPr>
        <p:spPr>
          <a:xfrm>
            <a:off x="6391800" y="1463040"/>
            <a:ext cx="93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Full training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24"/>
          <p:cNvSpPr/>
          <p:nvPr/>
        </p:nvSpPr>
        <p:spPr>
          <a:xfrm>
            <a:off x="6391800" y="1892880"/>
            <a:ext cx="12981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60 epoch max + early stop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5"/>
          <p:cNvSpPr/>
          <p:nvPr/>
        </p:nvSpPr>
        <p:spPr>
          <a:xfrm>
            <a:off x="7360920" y="1481400"/>
            <a:ext cx="392760" cy="24660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26"/>
          <p:cNvSpPr/>
          <p:nvPr/>
        </p:nvSpPr>
        <p:spPr>
          <a:xfrm>
            <a:off x="7397640" y="1522440"/>
            <a:ext cx="3196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Next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27"/>
          <p:cNvSpPr/>
          <p:nvPr/>
        </p:nvSpPr>
        <p:spPr>
          <a:xfrm>
            <a:off x="8065080" y="1325880"/>
            <a:ext cx="1627200" cy="18741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28"/>
          <p:cNvSpPr/>
          <p:nvPr/>
        </p:nvSpPr>
        <p:spPr>
          <a:xfrm>
            <a:off x="8065080" y="1325880"/>
            <a:ext cx="54360" cy="1874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29"/>
          <p:cNvSpPr/>
          <p:nvPr/>
        </p:nvSpPr>
        <p:spPr>
          <a:xfrm>
            <a:off x="8266320" y="1463040"/>
            <a:ext cx="93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Final evaluation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30"/>
          <p:cNvSpPr/>
          <p:nvPr/>
        </p:nvSpPr>
        <p:spPr>
          <a:xfrm>
            <a:off x="8266320" y="1892880"/>
            <a:ext cx="12981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3 seeds + frozen test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1"/>
          <p:cNvSpPr/>
          <p:nvPr/>
        </p:nvSpPr>
        <p:spPr>
          <a:xfrm>
            <a:off x="9235440" y="1481400"/>
            <a:ext cx="392760" cy="24660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32"/>
          <p:cNvSpPr/>
          <p:nvPr/>
        </p:nvSpPr>
        <p:spPr>
          <a:xfrm>
            <a:off x="9272160" y="1522440"/>
            <a:ext cx="3196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Next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3"/>
          <p:cNvSpPr/>
          <p:nvPr/>
        </p:nvSpPr>
        <p:spPr>
          <a:xfrm>
            <a:off x="9939600" y="1325880"/>
            <a:ext cx="1627200" cy="18741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34"/>
          <p:cNvSpPr/>
          <p:nvPr/>
        </p:nvSpPr>
        <p:spPr>
          <a:xfrm>
            <a:off x="9939600" y="1325880"/>
            <a:ext cx="54360" cy="18741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35"/>
          <p:cNvSpPr/>
          <p:nvPr/>
        </p:nvSpPr>
        <p:spPr>
          <a:xfrm>
            <a:off x="10140840" y="1463040"/>
            <a:ext cx="93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Research report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36"/>
          <p:cNvSpPr/>
          <p:nvPr/>
        </p:nvSpPr>
        <p:spPr>
          <a:xfrm>
            <a:off x="10140840" y="1892880"/>
            <a:ext cx="12981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~10-page literature review + findings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37"/>
          <p:cNvSpPr/>
          <p:nvPr/>
        </p:nvSpPr>
        <p:spPr>
          <a:xfrm>
            <a:off x="11109960" y="1481400"/>
            <a:ext cx="392760" cy="24660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38"/>
          <p:cNvSpPr/>
          <p:nvPr/>
        </p:nvSpPr>
        <p:spPr>
          <a:xfrm>
            <a:off x="11146680" y="1522440"/>
            <a:ext cx="3196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Next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39"/>
          <p:cNvSpPr/>
          <p:nvPr/>
        </p:nvSpPr>
        <p:spPr>
          <a:xfrm>
            <a:off x="658440" y="37490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Literature review coverage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40"/>
          <p:cNvSpPr/>
          <p:nvPr/>
        </p:nvSpPr>
        <p:spPr>
          <a:xfrm>
            <a:off x="658440" y="406908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41"/>
          <p:cNvSpPr/>
          <p:nvPr/>
        </p:nvSpPr>
        <p:spPr>
          <a:xfrm>
            <a:off x="731520" y="413316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Vehicle damage detection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42"/>
          <p:cNvSpPr/>
          <p:nvPr/>
        </p:nvSpPr>
        <p:spPr>
          <a:xfrm>
            <a:off x="4316040" y="406908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43"/>
          <p:cNvSpPr/>
          <p:nvPr/>
        </p:nvSpPr>
        <p:spPr>
          <a:xfrm>
            <a:off x="4389120" y="413316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CNN segmentation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44"/>
          <p:cNvSpPr/>
          <p:nvPr/>
        </p:nvSpPr>
        <p:spPr>
          <a:xfrm>
            <a:off x="7973640" y="406908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45"/>
          <p:cNvSpPr/>
          <p:nvPr/>
        </p:nvSpPr>
        <p:spPr>
          <a:xfrm>
            <a:off x="8046720" y="413316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Transformer segmentation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46"/>
          <p:cNvSpPr/>
          <p:nvPr/>
        </p:nvSpPr>
        <p:spPr>
          <a:xfrm>
            <a:off x="658440" y="450792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47"/>
          <p:cNvSpPr/>
          <p:nvPr/>
        </p:nvSpPr>
        <p:spPr>
          <a:xfrm>
            <a:off x="731520" y="457200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CNN–Transformer hybrids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48"/>
          <p:cNvSpPr/>
          <p:nvPr/>
        </p:nvSpPr>
        <p:spPr>
          <a:xfrm>
            <a:off x="4316040" y="450792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49"/>
          <p:cNvSpPr/>
          <p:nvPr/>
        </p:nvSpPr>
        <p:spPr>
          <a:xfrm>
            <a:off x="4389120" y="457200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Small/fine-grained damage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50"/>
          <p:cNvSpPr/>
          <p:nvPr/>
        </p:nvSpPr>
        <p:spPr>
          <a:xfrm>
            <a:off x="7973640" y="450792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51"/>
          <p:cNvSpPr/>
          <p:nvPr/>
        </p:nvSpPr>
        <p:spPr>
          <a:xfrm>
            <a:off x="8046720" y="457200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CarDD and automotive datasets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52"/>
          <p:cNvSpPr/>
          <p:nvPr/>
        </p:nvSpPr>
        <p:spPr>
          <a:xfrm>
            <a:off x="658440" y="494676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 53"/>
          <p:cNvSpPr/>
          <p:nvPr/>
        </p:nvSpPr>
        <p:spPr>
          <a:xfrm>
            <a:off x="731520" y="501084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Image-quality assessment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54"/>
          <p:cNvSpPr/>
          <p:nvPr/>
        </p:nvSpPr>
        <p:spPr>
          <a:xfrm>
            <a:off x="4316040" y="494676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55"/>
          <p:cNvSpPr/>
          <p:nvPr/>
        </p:nvSpPr>
        <p:spPr>
          <a:xfrm>
            <a:off x="4389120" y="501084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Vision + LLM inspection assistants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56"/>
          <p:cNvSpPr/>
          <p:nvPr/>
        </p:nvSpPr>
        <p:spPr>
          <a:xfrm>
            <a:off x="7973640" y="4946760"/>
            <a:ext cx="3245760" cy="31068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 57"/>
          <p:cNvSpPr/>
          <p:nvPr/>
        </p:nvSpPr>
        <p:spPr>
          <a:xfrm>
            <a:off x="8046720" y="5010840"/>
            <a:ext cx="3099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Research gap + AutoInspect-X positioning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sldNum" idx="18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22CA4F0-9CEC-4775-81A0-99C5CADFDC5F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15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Text 0"/>
          <p:cNvSpPr/>
          <p:nvPr/>
        </p:nvSpPr>
        <p:spPr>
          <a:xfrm>
            <a:off x="567000" y="292680"/>
            <a:ext cx="8960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Contribution of Each Member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1"/>
          <p:cNvSpPr/>
          <p:nvPr/>
        </p:nvSpPr>
        <p:spPr>
          <a:xfrm>
            <a:off x="585360" y="7498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Roles remain aligned with the ML research, product integration and evaluation needs.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 2"/>
          <p:cNvSpPr/>
          <p:nvPr/>
        </p:nvSpPr>
        <p:spPr>
          <a:xfrm>
            <a:off x="10168200" y="356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2f67e8"/>
                </a:solidFill>
                <a:latin typeface="Aptos"/>
                <a:ea typeface="Aptos"/>
              </a:rPr>
              <a:t>15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3"/>
          <p:cNvSpPr/>
          <p:nvPr/>
        </p:nvSpPr>
        <p:spPr>
          <a:xfrm>
            <a:off x="658440" y="1207080"/>
            <a:ext cx="29257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4"/>
          <p:cNvSpPr/>
          <p:nvPr/>
        </p:nvSpPr>
        <p:spPr>
          <a:xfrm>
            <a:off x="658440" y="1207080"/>
            <a:ext cx="54360" cy="63972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5"/>
          <p:cNvSpPr/>
          <p:nvPr/>
        </p:nvSpPr>
        <p:spPr>
          <a:xfrm>
            <a:off x="859680" y="1344240"/>
            <a:ext cx="254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Janvie Verma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 7"/>
          <p:cNvSpPr/>
          <p:nvPr/>
        </p:nvSpPr>
        <p:spPr>
          <a:xfrm>
            <a:off x="3794760" y="13716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Dataset + literature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8"/>
          <p:cNvSpPr/>
          <p:nvPr/>
        </p:nvSpPr>
        <p:spPr>
          <a:xfrm>
            <a:off x="5577840" y="1316880"/>
            <a:ext cx="566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Dataset curation, literature matrix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9"/>
          <p:cNvSpPr/>
          <p:nvPr/>
        </p:nvSpPr>
        <p:spPr>
          <a:xfrm>
            <a:off x="658440" y="2030040"/>
            <a:ext cx="29257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0"/>
          <p:cNvSpPr/>
          <p:nvPr/>
        </p:nvSpPr>
        <p:spPr>
          <a:xfrm>
            <a:off x="658440" y="2030040"/>
            <a:ext cx="54360" cy="6397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1"/>
          <p:cNvSpPr/>
          <p:nvPr/>
        </p:nvSpPr>
        <p:spPr>
          <a:xfrm>
            <a:off x="859680" y="2167200"/>
            <a:ext cx="254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Kislay Anand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12"/>
          <p:cNvSpPr/>
          <p:nvPr/>
        </p:nvSpPr>
        <p:spPr>
          <a:xfrm>
            <a:off x="859680" y="2395440"/>
            <a:ext cx="2569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23BAI10359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13"/>
          <p:cNvSpPr/>
          <p:nvPr/>
        </p:nvSpPr>
        <p:spPr>
          <a:xfrm>
            <a:off x="3794760" y="219456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ML / research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14"/>
          <p:cNvSpPr/>
          <p:nvPr/>
        </p:nvSpPr>
        <p:spPr>
          <a:xfrm>
            <a:off x="5577840" y="2139840"/>
            <a:ext cx="566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Segmentation training, hybrid architecture, experiments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15"/>
          <p:cNvSpPr/>
          <p:nvPr/>
        </p:nvSpPr>
        <p:spPr>
          <a:xfrm>
            <a:off x="658440" y="2853000"/>
            <a:ext cx="29257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6"/>
          <p:cNvSpPr/>
          <p:nvPr/>
        </p:nvSpPr>
        <p:spPr>
          <a:xfrm>
            <a:off x="658440" y="2853000"/>
            <a:ext cx="54360" cy="6397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17"/>
          <p:cNvSpPr/>
          <p:nvPr/>
        </p:nvSpPr>
        <p:spPr>
          <a:xfrm>
            <a:off x="859680" y="2990160"/>
            <a:ext cx="254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Chandrakant Anil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18"/>
          <p:cNvSpPr/>
          <p:nvPr/>
        </p:nvSpPr>
        <p:spPr>
          <a:xfrm>
            <a:off x="859680" y="3228120"/>
            <a:ext cx="2569320" cy="1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23BAI11269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19"/>
          <p:cNvSpPr/>
          <p:nvPr/>
        </p:nvSpPr>
        <p:spPr>
          <a:xfrm>
            <a:off x="3794760" y="301752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Backend / integration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 20"/>
          <p:cNvSpPr/>
          <p:nvPr/>
        </p:nvSpPr>
        <p:spPr>
          <a:xfrm>
            <a:off x="5577840" y="2962800"/>
            <a:ext cx="566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FastAPI inference orchestration, report API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21"/>
          <p:cNvSpPr/>
          <p:nvPr/>
        </p:nvSpPr>
        <p:spPr>
          <a:xfrm>
            <a:off x="658440" y="3675960"/>
            <a:ext cx="29257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22"/>
          <p:cNvSpPr/>
          <p:nvPr/>
        </p:nvSpPr>
        <p:spPr>
          <a:xfrm>
            <a:off x="658440" y="3675960"/>
            <a:ext cx="54360" cy="639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23"/>
          <p:cNvSpPr/>
          <p:nvPr/>
        </p:nvSpPr>
        <p:spPr>
          <a:xfrm>
            <a:off x="859680" y="3813120"/>
            <a:ext cx="254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Parikshid Arya Poornachandra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24"/>
          <p:cNvSpPr/>
          <p:nvPr/>
        </p:nvSpPr>
        <p:spPr>
          <a:xfrm>
            <a:off x="859680" y="4041360"/>
            <a:ext cx="2569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23BAI10656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25"/>
          <p:cNvSpPr/>
          <p:nvPr/>
        </p:nvSpPr>
        <p:spPr>
          <a:xfrm>
            <a:off x="3794760" y="38404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Frontend / UX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 26"/>
          <p:cNvSpPr/>
          <p:nvPr/>
        </p:nvSpPr>
        <p:spPr>
          <a:xfrm>
            <a:off x="5577840" y="3785760"/>
            <a:ext cx="566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Inspection workflow, visualization, responsive chat experience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27"/>
          <p:cNvSpPr/>
          <p:nvPr/>
        </p:nvSpPr>
        <p:spPr>
          <a:xfrm>
            <a:off x="658440" y="4498920"/>
            <a:ext cx="29257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28"/>
          <p:cNvSpPr/>
          <p:nvPr/>
        </p:nvSpPr>
        <p:spPr>
          <a:xfrm>
            <a:off x="658440" y="4498920"/>
            <a:ext cx="54360" cy="6397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29"/>
          <p:cNvSpPr/>
          <p:nvPr/>
        </p:nvSpPr>
        <p:spPr>
          <a:xfrm>
            <a:off x="859680" y="4636080"/>
            <a:ext cx="254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Arya Khullar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30"/>
          <p:cNvSpPr/>
          <p:nvPr/>
        </p:nvSpPr>
        <p:spPr>
          <a:xfrm>
            <a:off x="859680" y="4865040"/>
            <a:ext cx="2569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23BAI11198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31"/>
          <p:cNvSpPr/>
          <p:nvPr/>
        </p:nvSpPr>
        <p:spPr>
          <a:xfrm>
            <a:off x="3794760" y="46634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Evaluation / documentation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32"/>
          <p:cNvSpPr/>
          <p:nvPr/>
        </p:nvSpPr>
        <p:spPr>
          <a:xfrm>
            <a:off x="5577840" y="4608720"/>
            <a:ext cx="566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Metrics, ablations, testing, research presentation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1"/>
          <p:cNvSpPr>
            <a:spLocks noGrp="1"/>
          </p:cNvSpPr>
          <p:nvPr>
            <p:ph type="sldNum" idx="19"/>
          </p:nvPr>
        </p:nvSpPr>
        <p:spPr>
          <a:xfrm>
            <a:off x="11292840" y="65746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2C0AE10-67AE-408B-A4A8-BD2756071FD7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16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Text 6"/>
          <p:cNvSpPr/>
          <p:nvPr/>
        </p:nvSpPr>
        <p:spPr>
          <a:xfrm>
            <a:off x="859680" y="1600200"/>
            <a:ext cx="279792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23BAI10307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 0"/>
          <p:cNvSpPr/>
          <p:nvPr/>
        </p:nvSpPr>
        <p:spPr>
          <a:xfrm>
            <a:off x="658440" y="5029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References &amp; Closing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1"/>
          <p:cNvSpPr/>
          <p:nvPr/>
        </p:nvSpPr>
        <p:spPr>
          <a:xfrm>
            <a:off x="676800" y="93276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9c7db"/>
                </a:solidFill>
                <a:latin typeface="Aptos"/>
              </a:rPr>
              <a:t>Key foundations used for the research framing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 2"/>
          <p:cNvSpPr/>
          <p:nvPr/>
        </p:nvSpPr>
        <p:spPr>
          <a:xfrm>
            <a:off x="685800" y="13532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1"/>
              </a:rPr>
              <a:t>1. Wang, X., Li, W., Wu, Z. “CarDD: A New Dataset for Vision-Based Car Damage Detection.” IEEE T-ITS, 2023. DOI: 10.1109/TITS.2023.3258480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3"/>
          <p:cNvSpPr/>
          <p:nvPr/>
        </p:nvSpPr>
        <p:spPr>
          <a:xfrm>
            <a:off x="6309360" y="13532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2"/>
              </a:rPr>
              <a:t>2. Ronneberger, O., Fischer, P., Brox, T. “U-Net: Convolutional Networks for Biomedical Image Segmentation.” MICCAI, 2015.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4"/>
          <p:cNvSpPr/>
          <p:nvPr/>
        </p:nvSpPr>
        <p:spPr>
          <a:xfrm>
            <a:off x="685800" y="22676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3"/>
              </a:rPr>
              <a:t>3. Chen, J. et al. “TransUNet: Transformers Make Strong Encoders for Medical Image Segmentation.” 2021. arXiv:2102.04306.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5"/>
          <p:cNvSpPr/>
          <p:nvPr/>
        </p:nvSpPr>
        <p:spPr>
          <a:xfrm>
            <a:off x="6309360" y="22676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4"/>
              </a:rPr>
              <a:t>4. Cheng, B. et al. “Masked-Attention Mask Transformer for Universal Image Segmentation.” CVPR, 2022.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6"/>
          <p:cNvSpPr/>
          <p:nvPr/>
        </p:nvSpPr>
        <p:spPr>
          <a:xfrm>
            <a:off x="685800" y="31820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5"/>
              </a:rPr>
              <a:t>5. Patil, K. et al. “Deep Learning Based Car Damage Classification.” IEEE ICMLA, 2017.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7"/>
          <p:cNvSpPr/>
          <p:nvPr/>
        </p:nvSpPr>
        <p:spPr>
          <a:xfrm>
            <a:off x="6309360" y="31820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6"/>
              </a:rPr>
              <a:t>6. Venkatesh, M. et al. “Vehicle Damage Detection Using Machine Learning and Segmentation to Aid Insurance Claims.” IEEE INDICON, 2023.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8"/>
          <p:cNvSpPr/>
          <p:nvPr/>
        </p:nvSpPr>
        <p:spPr>
          <a:xfrm>
            <a:off x="685800" y="40964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7"/>
              </a:rPr>
              <a:t>7. Hasan, M.J. et al. “Vehicle Damage Detection Using Artificial Intelligence: A Systematic Literature Review.” WIREs Data Mining &amp; Knowledge Discovery, 2025.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9"/>
          <p:cNvSpPr/>
          <p:nvPr/>
        </p:nvSpPr>
        <p:spPr>
          <a:xfrm>
            <a:off x="6309360" y="4096440"/>
            <a:ext cx="5193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8"/>
              </a:rPr>
              <a:t>8. Huynh et al. “Powering AI-driven car damage identification based on VeHIDE dataset.” 2024.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10"/>
          <p:cNvSpPr/>
          <p:nvPr/>
        </p:nvSpPr>
        <p:spPr>
          <a:xfrm>
            <a:off x="676800" y="5212080"/>
            <a:ext cx="6583320" cy="749520"/>
          </a:xfrm>
          <a:prstGeom prst="roundRect">
            <a:avLst>
              <a:gd name="adj" fmla="val 9756"/>
            </a:avLst>
          </a:prstGeom>
          <a:solidFill>
            <a:srgbClr val="1b2b49"/>
          </a:solidFill>
          <a:ln w="12700">
            <a:solidFill>
              <a:srgbClr val="2b4a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11"/>
          <p:cNvSpPr/>
          <p:nvPr/>
        </p:nvSpPr>
        <p:spPr>
          <a:xfrm>
            <a:off x="932760" y="540396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a9c6ff"/>
                </a:solidFill>
                <a:latin typeface="Aptos"/>
              </a:rPr>
              <a:t>AutoInspect-X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12"/>
          <p:cNvSpPr/>
          <p:nvPr/>
        </p:nvSpPr>
        <p:spPr>
          <a:xfrm>
            <a:off x="2359080" y="5367600"/>
            <a:ext cx="4553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ffffff"/>
                </a:solidFill>
                <a:latin typeface="Aptos"/>
              </a:rPr>
              <a:t>Accurate visible-damage segmentation, grounded explanation, and a defensible research evaluation.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13"/>
          <p:cNvSpPr/>
          <p:nvPr/>
        </p:nvSpPr>
        <p:spPr>
          <a:xfrm>
            <a:off x="8458200" y="53492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28" strike="noStrike">
                <a:solidFill>
                  <a:srgbClr val="a9c6ff"/>
                </a:solidFill>
                <a:latin typeface="Aptos"/>
              </a:rPr>
              <a:t>THANK YOU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 14"/>
          <p:cNvSpPr/>
          <p:nvPr/>
        </p:nvSpPr>
        <p:spPr>
          <a:xfrm>
            <a:off x="11228760" y="6217920"/>
            <a:ext cx="255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fa1d6"/>
                </a:solidFill>
                <a:latin typeface="Aptos"/>
              </a:rPr>
              <a:t>17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Box 16"/>
          <p:cNvSpPr/>
          <p:nvPr/>
        </p:nvSpPr>
        <p:spPr>
          <a:xfrm>
            <a:off x="8612640" y="777240"/>
            <a:ext cx="1976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900" spc="-1" strike="noStrike">
                <a:solidFill>
                  <a:srgbClr val="667287"/>
                </a:solidFill>
                <a:latin typeface="Aptos"/>
              </a:rPr>
              <a:t>Click a reference to open the source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  <Company>Capstone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2026-09-22T07:27:23Z</dcterms:created>
  <dc:creator>AutoInspect-X</dc:creator>
  <dc:description/>
  <dc:language>en-US</dc:language>
  <cp:lastModifiedBy/>
  <dcterms:modified xsi:type="dcterms:W3CDTF">2026-09-22T13:15:07Z</dcterms:modified>
  <cp:revision>3</cp:revision>
  <dc:subject>Capstone Project</dc:subject>
  <dc:title>AutoInspect-X — CNN–Transformer Hybrid Deep Learning for Vehicle Damage Segmentation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