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ve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slid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EF18DAC-FF8E-4424-A6B0-4576C708EBA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F8283F-E7AC-4796-B2DF-CC7CE8F6B9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FB06EB-08E5-4DF1-AF19-F3A28F0E207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A24BAE-FB4C-4C70-8A55-548EB9EA23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6C70AC-0E33-4940-B56C-A56C043098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73ED64-0187-45B8-B75B-A5DEB417738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F07BED-CC77-4D22-8C13-9E3BCDD3C31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CAF5F7-41BA-4C39-9AC4-EA47C18A9A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46B699-2F03-48E5-A266-2494E74B68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686D53-DC35-4191-92A5-7E16B49AC6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5180F6-64F6-4745-96E7-C57CD1AEB5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45B146-0D92-476E-ADA8-EAADB96D45A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66D2ED-E64B-44F5-9320-81FA421573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9981FF-8EC5-43B1-9F54-E39D2D2A3F1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8FFE19-2E81-4B45-89CC-7FAD3C69D4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FA6437-EFB3-4886-B0D6-752CCB3344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F1BC85-6EB8-4C15-B332-9A57E530BC3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37B0AD-2CF7-4EAE-8C3C-CC19B0E3FF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835BC4C-7EDA-42B3-B5C9-C3CA6AF2A9B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6565320"/>
            <a:ext cx="11064240" cy="360"/>
          </a:xfrm>
          <a:prstGeom prst="line">
            <a:avLst/>
          </a:prstGeom>
          <a:ln w="889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7000" y="6602040"/>
            <a:ext cx="2010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AutoInspect-X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3"/>
          <p:cNvSpPr/>
          <p:nvPr/>
        </p:nvSpPr>
        <p:spPr>
          <a:xfrm>
            <a:off x="4663440" y="6602040"/>
            <a:ext cx="29253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Capstone Project • Fall 2026–27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D2C235E9-8D62-4BF3-8CAB-D675A2A2CE4D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doi.org/10.1109/TITS.2023.3258480" TargetMode="External"/><Relationship Id="rId2" Type="http://schemas.openxmlformats.org/officeDocument/2006/relationships/hyperlink" Target="https://lmb.informatik.uni-freiburg.de/people/ronneber/u-net/" TargetMode="External"/><Relationship Id="rId3" Type="http://schemas.openxmlformats.org/officeDocument/2006/relationships/hyperlink" Target="https://arxiv.org/abs/2102.04306" TargetMode="External"/><Relationship Id="rId4" Type="http://schemas.openxmlformats.org/officeDocument/2006/relationships/hyperlink" Target="https://openaccess.thecvf.com/content/CVPR2022/html/Cheng_Masked-Attention_Mask_Transformer_for_Universal_Image_Segmentation_CVPR_2022_paper.html" TargetMode="External"/><Relationship Id="rId5" Type="http://schemas.openxmlformats.org/officeDocument/2006/relationships/hyperlink" Target="https://doi.org/10.1109/ICMLA.2017.0-179" TargetMode="External"/><Relationship Id="rId6" Type="http://schemas.openxmlformats.org/officeDocument/2006/relationships/hyperlink" Target="https://doi.org/10.1109/INDICON59947.2023.10440856" TargetMode="External"/><Relationship Id="rId7" Type="http://schemas.openxmlformats.org/officeDocument/2006/relationships/hyperlink" Target="https://doi.org/10.1002/widm.70027" TargetMode="External"/><Relationship Id="rId8" Type="http://schemas.openxmlformats.org/officeDocument/2006/relationships/hyperlink" Target="https://doi.org/10.1080/24751839.2024.2367387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8869680" y="-731520"/>
            <a:ext cx="3748320" cy="3748320"/>
          </a:xfrm>
          <a:prstGeom prst="arc">
            <a:avLst>
              <a:gd name="adj1" fmla="val 16200000"/>
              <a:gd name="adj2" fmla="val 0"/>
            </a:avLst>
          </a:prstGeom>
          <a:noFill/>
          <a:ln w="88900">
            <a:solidFill>
              <a:srgbClr val="2c4b7b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9555480" y="228600"/>
            <a:ext cx="2833920" cy="2833920"/>
          </a:xfrm>
          <a:prstGeom prst="arc">
            <a:avLst>
              <a:gd name="adj1" fmla="val 16200000"/>
              <a:gd name="adj2" fmla="val 0"/>
            </a:avLst>
          </a:prstGeom>
          <a:noFill/>
          <a:ln w="50800">
            <a:solidFill>
              <a:srgbClr val="2e8c93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76800" y="530280"/>
            <a:ext cx="3656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a9c6ff"/>
                </a:solidFill>
                <a:latin typeface="Aptos"/>
              </a:rPr>
              <a:t>AutoInspect-X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941760"/>
            <a:ext cx="2294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5deed"/>
                </a:solidFill>
                <a:latin typeface="Aptos"/>
              </a:rPr>
              <a:t>Group – 160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76800" y="1417320"/>
            <a:ext cx="640008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CNN–Transformer Hybrid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Deep Learning for Vehicle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Damage Segmentation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713160" y="3355920"/>
            <a:ext cx="64915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d8e2f0"/>
                </a:solidFill>
                <a:latin typeface="Aptos"/>
              </a:rPr>
              <a:t>Global vehicle context + local visual detail → precise pixel-level damage segmentation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713160" y="4160520"/>
            <a:ext cx="730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14" strike="noStrike">
                <a:solidFill>
                  <a:srgbClr val="7fa1d6"/>
                </a:solidFill>
                <a:latin typeface="Aptos"/>
              </a:rPr>
              <a:t>TEAM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713160" y="4443840"/>
            <a:ext cx="2559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Janvie Verma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2743200" y="4443840"/>
            <a:ext cx="11880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23BAI10307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713160" y="4736520"/>
            <a:ext cx="2559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Kislay Anand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2743200" y="4736520"/>
            <a:ext cx="11880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23BAI10359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1"/>
          <p:cNvSpPr/>
          <p:nvPr/>
        </p:nvSpPr>
        <p:spPr>
          <a:xfrm>
            <a:off x="713160" y="5029200"/>
            <a:ext cx="2559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Chandrakant Anil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2743200" y="5029200"/>
            <a:ext cx="11880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23BAI11269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13160" y="5321880"/>
            <a:ext cx="2559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Parikshid Arya Poornachandra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14"/>
          <p:cNvSpPr/>
          <p:nvPr/>
        </p:nvSpPr>
        <p:spPr>
          <a:xfrm>
            <a:off x="2743200" y="5321880"/>
            <a:ext cx="11880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23BAI10656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713160" y="5614560"/>
            <a:ext cx="2559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Arya Khullar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16"/>
          <p:cNvSpPr/>
          <p:nvPr/>
        </p:nvSpPr>
        <p:spPr>
          <a:xfrm>
            <a:off x="2743200" y="5614560"/>
            <a:ext cx="11880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23BAI11198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7"/>
          <p:cNvSpPr/>
          <p:nvPr/>
        </p:nvSpPr>
        <p:spPr>
          <a:xfrm>
            <a:off x="8458200" y="5349240"/>
            <a:ext cx="2559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06" strike="noStrike">
                <a:solidFill>
                  <a:srgbClr val="7fa1d6"/>
                </a:solidFill>
                <a:latin typeface="Aptos"/>
              </a:rPr>
              <a:t>CAPSTONE PROJECT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18"/>
          <p:cNvSpPr/>
          <p:nvPr/>
        </p:nvSpPr>
        <p:spPr>
          <a:xfrm>
            <a:off x="8458200" y="5650920"/>
            <a:ext cx="2468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Aptos"/>
              </a:rPr>
              <a:t>Fall Semester 2026–27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9"/>
          <p:cNvSpPr/>
          <p:nvPr/>
        </p:nvSpPr>
        <p:spPr>
          <a:xfrm>
            <a:off x="11155680" y="6181200"/>
            <a:ext cx="319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fa1d6"/>
                </a:solidFill>
                <a:latin typeface="Aptos"/>
              </a:rPr>
              <a:t>01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Problem Statement • Objective • Scope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Direct photo inspection → damage segmentation → professional explanation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3"/>
          <p:cNvSpPr/>
          <p:nvPr/>
        </p:nvSpPr>
        <p:spPr>
          <a:xfrm>
            <a:off x="594360" y="1143000"/>
            <a:ext cx="3519720" cy="1828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4"/>
          <p:cNvSpPr/>
          <p:nvPr/>
        </p:nvSpPr>
        <p:spPr>
          <a:xfrm>
            <a:off x="594360" y="1143000"/>
            <a:ext cx="54000" cy="18280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740520" y="1289160"/>
            <a:ext cx="310320" cy="310320"/>
          </a:xfrm>
          <a:prstGeom prst="ellipse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740520" y="1316880"/>
            <a:ext cx="3103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P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1161360" y="1280160"/>
            <a:ext cx="2769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Problem statement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795600" y="1618560"/>
            <a:ext cx="3135600" cy="12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18212f"/>
                </a:solidFill>
                <a:latin typeface="Aptos"/>
                <a:ea typeface="Aptos"/>
              </a:rPr>
              <a:t>A single vehicle photo may contain normal curves, reflections, shadows and genuine damage. Reliable inspection therefore requires both local visual evidence and surrounding context.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9"/>
          <p:cNvSpPr/>
          <p:nvPr/>
        </p:nvSpPr>
        <p:spPr>
          <a:xfrm>
            <a:off x="4343400" y="1143000"/>
            <a:ext cx="3519720" cy="1828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4343400" y="1143000"/>
            <a:ext cx="54000" cy="18280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4489560" y="1289160"/>
            <a:ext cx="310320" cy="310320"/>
          </a:xfrm>
          <a:prstGeom prst="ellipse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4489560" y="1316880"/>
            <a:ext cx="3103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910400" y="1280160"/>
            <a:ext cx="2769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Objective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544640" y="1618560"/>
            <a:ext cx="3135600" cy="12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18212f"/>
                </a:solidFill>
                <a:latin typeface="Aptos"/>
                <a:ea typeface="Aptos"/>
              </a:rPr>
              <a:t>Develop and evaluate a lightweight CNN–Transformer model that produces detailed damage masks, class labels and confidence-aware evidence from one photo.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8092440" y="1143000"/>
            <a:ext cx="3519720" cy="1828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16"/>
          <p:cNvSpPr/>
          <p:nvPr/>
        </p:nvSpPr>
        <p:spPr>
          <a:xfrm>
            <a:off x="8092440" y="1143000"/>
            <a:ext cx="54000" cy="18280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8238600" y="1289160"/>
            <a:ext cx="310320" cy="310320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8238600" y="1316880"/>
            <a:ext cx="3103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8659440" y="1280160"/>
            <a:ext cx="2769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Scope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8293680" y="1618560"/>
            <a:ext cx="3135600" cy="12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Photo quality check • hybrid segmentation • visual damage flagging • structured findings • professional LangChain explanation in the main chat.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621720" y="3337560"/>
            <a:ext cx="7308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14" strike="noStrike">
                <a:solidFill>
                  <a:srgbClr val="667085"/>
                </a:solidFill>
                <a:latin typeface="Aptos"/>
              </a:rPr>
              <a:t>INPUT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2"/>
          <p:cNvSpPr/>
          <p:nvPr/>
        </p:nvSpPr>
        <p:spPr>
          <a:xfrm>
            <a:off x="621720" y="3602880"/>
            <a:ext cx="141660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694800" y="3666600"/>
            <a:ext cx="12704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Vehicle photo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24"/>
          <p:cNvSpPr/>
          <p:nvPr/>
        </p:nvSpPr>
        <p:spPr>
          <a:xfrm>
            <a:off x="2194560" y="3602880"/>
            <a:ext cx="159948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25"/>
          <p:cNvSpPr/>
          <p:nvPr/>
        </p:nvSpPr>
        <p:spPr>
          <a:xfrm>
            <a:off x="2267640" y="3666600"/>
            <a:ext cx="14533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Optional camera capture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26"/>
          <p:cNvSpPr/>
          <p:nvPr/>
        </p:nvSpPr>
        <p:spPr>
          <a:xfrm>
            <a:off x="3977640" y="3630240"/>
            <a:ext cx="410760" cy="21888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27"/>
          <p:cNvSpPr/>
          <p:nvPr/>
        </p:nvSpPr>
        <p:spPr>
          <a:xfrm>
            <a:off x="4526280" y="3602880"/>
            <a:ext cx="1508040" cy="310320"/>
          </a:xfrm>
          <a:prstGeom prst="roundRect">
            <a:avLst>
              <a:gd name="adj" fmla="val 41176"/>
            </a:avLst>
          </a:prstGeom>
          <a:solidFill>
            <a:srgbClr val="fff5e1"/>
          </a:solidFill>
          <a:ln w="12700">
            <a:solidFill>
              <a:srgbClr val="fff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8"/>
          <p:cNvSpPr/>
          <p:nvPr/>
        </p:nvSpPr>
        <p:spPr>
          <a:xfrm>
            <a:off x="4599360" y="3666600"/>
            <a:ext cx="136188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Aptos"/>
              </a:rPr>
              <a:t>Quality gate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29"/>
          <p:cNvSpPr/>
          <p:nvPr/>
        </p:nvSpPr>
        <p:spPr>
          <a:xfrm>
            <a:off x="6172200" y="3630240"/>
            <a:ext cx="410760" cy="218880"/>
          </a:xfrm>
          <a:prstGeom prst="chevron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30"/>
          <p:cNvSpPr/>
          <p:nvPr/>
        </p:nvSpPr>
        <p:spPr>
          <a:xfrm>
            <a:off x="6720840" y="3602880"/>
            <a:ext cx="1690920" cy="31032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31"/>
          <p:cNvSpPr/>
          <p:nvPr/>
        </p:nvSpPr>
        <p:spPr>
          <a:xfrm>
            <a:off x="6793920" y="3666600"/>
            <a:ext cx="154476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Hybrid segmentation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32"/>
          <p:cNvSpPr/>
          <p:nvPr/>
        </p:nvSpPr>
        <p:spPr>
          <a:xfrm>
            <a:off x="8540640" y="3630240"/>
            <a:ext cx="410760" cy="21888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33"/>
          <p:cNvSpPr/>
          <p:nvPr/>
        </p:nvSpPr>
        <p:spPr>
          <a:xfrm>
            <a:off x="9098280" y="3602880"/>
            <a:ext cx="141660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34"/>
          <p:cNvSpPr/>
          <p:nvPr/>
        </p:nvSpPr>
        <p:spPr>
          <a:xfrm>
            <a:off x="9171360" y="3666600"/>
            <a:ext cx="12704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Damage evidence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35"/>
          <p:cNvSpPr/>
          <p:nvPr/>
        </p:nvSpPr>
        <p:spPr>
          <a:xfrm>
            <a:off x="10680120" y="3630240"/>
            <a:ext cx="410760" cy="21888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36"/>
          <p:cNvSpPr/>
          <p:nvPr/>
        </p:nvSpPr>
        <p:spPr>
          <a:xfrm>
            <a:off x="11137320" y="3602880"/>
            <a:ext cx="59364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37"/>
          <p:cNvSpPr/>
          <p:nvPr/>
        </p:nvSpPr>
        <p:spPr>
          <a:xfrm>
            <a:off x="11210400" y="3666600"/>
            <a:ext cx="44748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Chat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38"/>
          <p:cNvSpPr/>
          <p:nvPr/>
        </p:nvSpPr>
        <p:spPr>
          <a:xfrm>
            <a:off x="594360" y="4251960"/>
            <a:ext cx="543996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39"/>
          <p:cNvSpPr/>
          <p:nvPr/>
        </p:nvSpPr>
        <p:spPr>
          <a:xfrm>
            <a:off x="594360" y="4251960"/>
            <a:ext cx="54000" cy="123372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40"/>
          <p:cNvSpPr/>
          <p:nvPr/>
        </p:nvSpPr>
        <p:spPr>
          <a:xfrm>
            <a:off x="795600" y="4389120"/>
            <a:ext cx="5055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Explicitly out of scope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41"/>
          <p:cNvSpPr/>
          <p:nvPr/>
        </p:nvSpPr>
        <p:spPr>
          <a:xfrm>
            <a:off x="795600" y="4727520"/>
            <a:ext cx="505584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Repair-cost prediction • repair-action prediction • vehicle-part segmentation without additional labels • reference-image comparison against a perfect vehicle.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42"/>
          <p:cNvSpPr/>
          <p:nvPr/>
        </p:nvSpPr>
        <p:spPr>
          <a:xfrm>
            <a:off x="6263640" y="4251960"/>
            <a:ext cx="534852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43"/>
          <p:cNvSpPr/>
          <p:nvPr/>
        </p:nvSpPr>
        <p:spPr>
          <a:xfrm>
            <a:off x="6263640" y="4251960"/>
            <a:ext cx="54000" cy="123372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44"/>
          <p:cNvSpPr/>
          <p:nvPr/>
        </p:nvSpPr>
        <p:spPr>
          <a:xfrm>
            <a:off x="6464880" y="4389120"/>
            <a:ext cx="4964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Core product boundary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45"/>
          <p:cNvSpPr/>
          <p:nvPr/>
        </p:nvSpPr>
        <p:spPr>
          <a:xfrm>
            <a:off x="6464880" y="4727520"/>
            <a:ext cx="496440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The vision model supplies evidence. The LLM explains that evidence, guides retakes when quality fails, and supports follow-up conversation.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sldNum" idx="5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6A9A12E6-DD90-4BF8-B616-0E91DE2599A5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2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Why this is a research project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The contribution is the model design and controlled evaluation — not the chatbot itself.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"/>
          <p:cNvSpPr/>
          <p:nvPr/>
        </p:nvSpPr>
        <p:spPr>
          <a:xfrm>
            <a:off x="621720" y="1143000"/>
            <a:ext cx="3474000" cy="15080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621720" y="1143000"/>
            <a:ext cx="54000" cy="15080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822960" y="1280160"/>
            <a:ext cx="3089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Real problem in the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822960" y="1618560"/>
            <a:ext cx="308988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CarDD contains six damage classes, unequal class frequencies, and wide variation in damage area. Small cracks and scratches are particularly challenging.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4370760" y="1143000"/>
            <a:ext cx="3474000" cy="15080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4370760" y="1143000"/>
            <a:ext cx="54000" cy="15080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4572000" y="1280160"/>
            <a:ext cx="3089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Architectural question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4572000" y="1618560"/>
            <a:ext cx="308988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Can global contextual modelling from a lightweight Transformer complement CNN local features and improve pixel-level damage segmentation?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8119800" y="1143000"/>
            <a:ext cx="3474000" cy="15080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2"/>
          <p:cNvSpPr/>
          <p:nvPr/>
        </p:nvSpPr>
        <p:spPr>
          <a:xfrm>
            <a:off x="8119800" y="1143000"/>
            <a:ext cx="54000" cy="15080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8321040" y="1280160"/>
            <a:ext cx="3089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Testable contribution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4"/>
          <p:cNvSpPr/>
          <p:nvPr/>
        </p:nvSpPr>
        <p:spPr>
          <a:xfrm>
            <a:off x="8321040" y="1618560"/>
            <a:ext cx="308988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Compare a controlled ResNet34-U-Net baseline with the same backbone + bottleneck Transformer, using identical training and evaluation procedures.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15"/>
          <p:cNvSpPr/>
          <p:nvPr/>
        </p:nvSpPr>
        <p:spPr>
          <a:xfrm>
            <a:off x="621720" y="306324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6"/>
          <p:cNvSpPr/>
          <p:nvPr/>
        </p:nvSpPr>
        <p:spPr>
          <a:xfrm>
            <a:off x="621720" y="312732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R1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1207080" y="3099960"/>
            <a:ext cx="17366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Research question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18"/>
          <p:cNvSpPr/>
          <p:nvPr/>
        </p:nvSpPr>
        <p:spPr>
          <a:xfrm>
            <a:off x="621720" y="3520440"/>
            <a:ext cx="10972080" cy="1050840"/>
          </a:xfrm>
          <a:prstGeom prst="roundRect">
            <a:avLst>
              <a:gd name="adj" fmla="val 6957"/>
            </a:avLst>
          </a:prstGeom>
          <a:solidFill>
            <a:srgbClr val="eef4ff"/>
          </a:solidFill>
          <a:ln w="1270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868680" y="3758040"/>
            <a:ext cx="104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Can a lightweight CNN–Transformer hybrid improve vehicle-damage segmentation, particularly for small and visually subtle damage, compared with a conventional CNN baseline while remaining computationally practical?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0"/>
          <p:cNvSpPr/>
          <p:nvPr/>
        </p:nvSpPr>
        <p:spPr>
          <a:xfrm>
            <a:off x="621720" y="4983480"/>
            <a:ext cx="11880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Research logic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21"/>
          <p:cNvSpPr/>
          <p:nvPr/>
        </p:nvSpPr>
        <p:spPr>
          <a:xfrm>
            <a:off x="621720" y="5285160"/>
            <a:ext cx="1690920" cy="310320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694800" y="5349240"/>
            <a:ext cx="154476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4213d"/>
                </a:solidFill>
                <a:latin typeface="Aptos"/>
              </a:rPr>
              <a:t>Baseline: CNN/U-Net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23"/>
          <p:cNvSpPr/>
          <p:nvPr/>
        </p:nvSpPr>
        <p:spPr>
          <a:xfrm>
            <a:off x="2514600" y="5321880"/>
            <a:ext cx="419760" cy="20052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Shape 24"/>
          <p:cNvSpPr/>
          <p:nvPr/>
        </p:nvSpPr>
        <p:spPr>
          <a:xfrm>
            <a:off x="3063240" y="5285160"/>
            <a:ext cx="178236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5"/>
          <p:cNvSpPr/>
          <p:nvPr/>
        </p:nvSpPr>
        <p:spPr>
          <a:xfrm>
            <a:off x="3136320" y="5349240"/>
            <a:ext cx="163620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Add global context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6"/>
          <p:cNvSpPr/>
          <p:nvPr/>
        </p:nvSpPr>
        <p:spPr>
          <a:xfrm>
            <a:off x="5010840" y="5321880"/>
            <a:ext cx="419760" cy="20052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27"/>
          <p:cNvSpPr/>
          <p:nvPr/>
        </p:nvSpPr>
        <p:spPr>
          <a:xfrm>
            <a:off x="5559480" y="5285160"/>
            <a:ext cx="1599480" cy="31032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8"/>
          <p:cNvSpPr/>
          <p:nvPr/>
        </p:nvSpPr>
        <p:spPr>
          <a:xfrm>
            <a:off x="5632560" y="5349240"/>
            <a:ext cx="14533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Hybrid model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9"/>
          <p:cNvSpPr/>
          <p:nvPr/>
        </p:nvSpPr>
        <p:spPr>
          <a:xfrm>
            <a:off x="7360920" y="5321880"/>
            <a:ext cx="419760" cy="20052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30"/>
          <p:cNvSpPr/>
          <p:nvPr/>
        </p:nvSpPr>
        <p:spPr>
          <a:xfrm>
            <a:off x="7909560" y="5285160"/>
            <a:ext cx="141660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31"/>
          <p:cNvSpPr/>
          <p:nvPr/>
        </p:nvSpPr>
        <p:spPr>
          <a:xfrm>
            <a:off x="7982640" y="5349240"/>
            <a:ext cx="12704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Measure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32"/>
          <p:cNvSpPr/>
          <p:nvPr/>
        </p:nvSpPr>
        <p:spPr>
          <a:xfrm>
            <a:off x="9509760" y="5321880"/>
            <a:ext cx="419760" cy="20052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33"/>
          <p:cNvSpPr/>
          <p:nvPr/>
        </p:nvSpPr>
        <p:spPr>
          <a:xfrm>
            <a:off x="10058400" y="5285160"/>
            <a:ext cx="1416600" cy="310320"/>
          </a:xfrm>
          <a:prstGeom prst="roundRect">
            <a:avLst>
              <a:gd name="adj" fmla="val 41176"/>
            </a:avLst>
          </a:prstGeom>
          <a:solidFill>
            <a:srgbClr val="fff5e1"/>
          </a:solidFill>
          <a:ln w="12700">
            <a:solidFill>
              <a:srgbClr val="fff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34"/>
          <p:cNvSpPr/>
          <p:nvPr/>
        </p:nvSpPr>
        <p:spPr>
          <a:xfrm>
            <a:off x="10131480" y="5349240"/>
            <a:ext cx="12704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Aptos"/>
              </a:rPr>
              <a:t>Conclude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sldNum" idx="6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8DA08DD2-54BB-4FF5-9506-B494652A9ADC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3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Methodology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A controlled workflow separates data preparation, model research, evaluation and product integration.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3"/>
          <p:cNvSpPr/>
          <p:nvPr/>
        </p:nvSpPr>
        <p:spPr>
          <a:xfrm>
            <a:off x="640080" y="1371600"/>
            <a:ext cx="2422440" cy="23310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4"/>
          <p:cNvSpPr/>
          <p:nvPr/>
        </p:nvSpPr>
        <p:spPr>
          <a:xfrm>
            <a:off x="640080" y="1371600"/>
            <a:ext cx="54000" cy="23310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786240" y="1517760"/>
            <a:ext cx="310320" cy="310320"/>
          </a:xfrm>
          <a:prstGeom prst="ellipse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786240" y="1545480"/>
            <a:ext cx="3103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1207080" y="1508760"/>
            <a:ext cx="167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Dataset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841320" y="1847160"/>
            <a:ext cx="203832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Audit CarDD; keep train/validation/test separated; verify labels and leakage.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9"/>
          <p:cNvSpPr/>
          <p:nvPr/>
        </p:nvSpPr>
        <p:spPr>
          <a:xfrm>
            <a:off x="3429000" y="1371600"/>
            <a:ext cx="2422440" cy="23310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10"/>
          <p:cNvSpPr/>
          <p:nvPr/>
        </p:nvSpPr>
        <p:spPr>
          <a:xfrm>
            <a:off x="3429000" y="1371600"/>
            <a:ext cx="54000" cy="2331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11"/>
          <p:cNvSpPr/>
          <p:nvPr/>
        </p:nvSpPr>
        <p:spPr>
          <a:xfrm>
            <a:off x="3575160" y="1517760"/>
            <a:ext cx="310320" cy="3103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3575160" y="1545480"/>
            <a:ext cx="3103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3996000" y="1508760"/>
            <a:ext cx="167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Baseline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3630240" y="1847160"/>
            <a:ext cx="203832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Train controlled ResNet34-U-Net under the shared training procedure.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5"/>
          <p:cNvSpPr/>
          <p:nvPr/>
        </p:nvSpPr>
        <p:spPr>
          <a:xfrm>
            <a:off x="6217920" y="1371600"/>
            <a:ext cx="2422440" cy="23310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6"/>
          <p:cNvSpPr/>
          <p:nvPr/>
        </p:nvSpPr>
        <p:spPr>
          <a:xfrm>
            <a:off x="6217920" y="1371600"/>
            <a:ext cx="54000" cy="23310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hape 17"/>
          <p:cNvSpPr/>
          <p:nvPr/>
        </p:nvSpPr>
        <p:spPr>
          <a:xfrm>
            <a:off x="6364080" y="1517760"/>
            <a:ext cx="310320" cy="310320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8"/>
          <p:cNvSpPr/>
          <p:nvPr/>
        </p:nvSpPr>
        <p:spPr>
          <a:xfrm>
            <a:off x="6364080" y="1545480"/>
            <a:ext cx="3103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9"/>
          <p:cNvSpPr/>
          <p:nvPr/>
        </p:nvSpPr>
        <p:spPr>
          <a:xfrm>
            <a:off x="6784920" y="1508760"/>
            <a:ext cx="167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Hybrid model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20"/>
          <p:cNvSpPr/>
          <p:nvPr/>
        </p:nvSpPr>
        <p:spPr>
          <a:xfrm>
            <a:off x="6419160" y="1847160"/>
            <a:ext cx="203832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Add the bottleneck Transformer + fusion; keep all other conditions fixed.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21"/>
          <p:cNvSpPr/>
          <p:nvPr/>
        </p:nvSpPr>
        <p:spPr>
          <a:xfrm>
            <a:off x="9006840" y="1371600"/>
            <a:ext cx="2422440" cy="23310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2"/>
          <p:cNvSpPr/>
          <p:nvPr/>
        </p:nvSpPr>
        <p:spPr>
          <a:xfrm>
            <a:off x="9006840" y="1371600"/>
            <a:ext cx="54000" cy="23310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23"/>
          <p:cNvSpPr/>
          <p:nvPr/>
        </p:nvSpPr>
        <p:spPr>
          <a:xfrm>
            <a:off x="9153000" y="1517760"/>
            <a:ext cx="310320" cy="310320"/>
          </a:xfrm>
          <a:prstGeom prst="ellipse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24"/>
          <p:cNvSpPr/>
          <p:nvPr/>
        </p:nvSpPr>
        <p:spPr>
          <a:xfrm>
            <a:off x="9153000" y="1545480"/>
            <a:ext cx="3103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25"/>
          <p:cNvSpPr/>
          <p:nvPr/>
        </p:nvSpPr>
        <p:spPr>
          <a:xfrm>
            <a:off x="9573840" y="1508760"/>
            <a:ext cx="167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Evaluation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6"/>
          <p:cNvSpPr/>
          <p:nvPr/>
        </p:nvSpPr>
        <p:spPr>
          <a:xfrm>
            <a:off x="9208080" y="1847160"/>
            <a:ext cx="203832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Multi-seed metrics, small-damage analysis, error analysis and efficiency.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7"/>
          <p:cNvSpPr/>
          <p:nvPr/>
        </p:nvSpPr>
        <p:spPr>
          <a:xfrm>
            <a:off x="3127320" y="2340720"/>
            <a:ext cx="319320" cy="22788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28"/>
          <p:cNvSpPr/>
          <p:nvPr/>
        </p:nvSpPr>
        <p:spPr>
          <a:xfrm>
            <a:off x="5916240" y="2340720"/>
            <a:ext cx="319320" cy="22788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29"/>
          <p:cNvSpPr/>
          <p:nvPr/>
        </p:nvSpPr>
        <p:spPr>
          <a:xfrm>
            <a:off x="8705160" y="2340720"/>
            <a:ext cx="319320" cy="22788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30"/>
          <p:cNvSpPr/>
          <p:nvPr/>
        </p:nvSpPr>
        <p:spPr>
          <a:xfrm>
            <a:off x="667440" y="406908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4213d"/>
                </a:solidFill>
                <a:latin typeface="Aptos"/>
              </a:rPr>
              <a:t>Product integration happens after the model is validated.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31"/>
          <p:cNvSpPr/>
          <p:nvPr/>
        </p:nvSpPr>
        <p:spPr>
          <a:xfrm>
            <a:off x="658440" y="4480560"/>
            <a:ext cx="3245400" cy="1096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2"/>
          <p:cNvSpPr/>
          <p:nvPr/>
        </p:nvSpPr>
        <p:spPr>
          <a:xfrm>
            <a:off x="658440" y="4480560"/>
            <a:ext cx="54000" cy="109656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33"/>
          <p:cNvSpPr/>
          <p:nvPr/>
        </p:nvSpPr>
        <p:spPr>
          <a:xfrm>
            <a:off x="859680" y="461772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Vision layer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34"/>
          <p:cNvSpPr/>
          <p:nvPr/>
        </p:nvSpPr>
        <p:spPr>
          <a:xfrm>
            <a:off x="859680" y="4956120"/>
            <a:ext cx="28612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Image quality → segmentation → masks → class → calibrated confidence.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5"/>
          <p:cNvSpPr/>
          <p:nvPr/>
        </p:nvSpPr>
        <p:spPr>
          <a:xfrm>
            <a:off x="4114800" y="4827960"/>
            <a:ext cx="502200" cy="25524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36"/>
          <p:cNvSpPr/>
          <p:nvPr/>
        </p:nvSpPr>
        <p:spPr>
          <a:xfrm>
            <a:off x="4709160" y="4480560"/>
            <a:ext cx="2925360" cy="1096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7"/>
          <p:cNvSpPr/>
          <p:nvPr/>
        </p:nvSpPr>
        <p:spPr>
          <a:xfrm>
            <a:off x="4709160" y="4480560"/>
            <a:ext cx="54000" cy="109656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8"/>
          <p:cNvSpPr/>
          <p:nvPr/>
        </p:nvSpPr>
        <p:spPr>
          <a:xfrm>
            <a:off x="4910400" y="4617720"/>
            <a:ext cx="2541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Structured result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9"/>
          <p:cNvSpPr/>
          <p:nvPr/>
        </p:nvSpPr>
        <p:spPr>
          <a:xfrm>
            <a:off x="4910400" y="4956120"/>
            <a:ext cx="25412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Typed evidence passed to the application and conversational layer.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40"/>
          <p:cNvSpPr/>
          <p:nvPr/>
        </p:nvSpPr>
        <p:spPr>
          <a:xfrm>
            <a:off x="7882200" y="4827960"/>
            <a:ext cx="502200" cy="25524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41"/>
          <p:cNvSpPr/>
          <p:nvPr/>
        </p:nvSpPr>
        <p:spPr>
          <a:xfrm>
            <a:off x="8485560" y="4480560"/>
            <a:ext cx="3062520" cy="1096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42"/>
          <p:cNvSpPr/>
          <p:nvPr/>
        </p:nvSpPr>
        <p:spPr>
          <a:xfrm>
            <a:off x="8485560" y="4480560"/>
            <a:ext cx="54000" cy="109656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3"/>
          <p:cNvSpPr/>
          <p:nvPr/>
        </p:nvSpPr>
        <p:spPr>
          <a:xfrm>
            <a:off x="8686800" y="4617720"/>
            <a:ext cx="267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Conversational layer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4"/>
          <p:cNvSpPr/>
          <p:nvPr/>
        </p:nvSpPr>
        <p:spPr>
          <a:xfrm>
            <a:off x="8686800" y="4956120"/>
            <a:ext cx="2678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LangChain LLM explains findings and handles follow-up chat.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sldNum" idx="7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041EDDCA-8C4D-4550-9E7E-7CF0F3FD2530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4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Architecture / Process Flow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Human-inspired principle: global context → suspicious region → local detail → precise segmentation.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658440" y="107892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658440" y="114300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A1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1243440" y="1115640"/>
            <a:ext cx="19195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Human inspection analogy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6"/>
          <p:cNvSpPr/>
          <p:nvPr/>
        </p:nvSpPr>
        <p:spPr>
          <a:xfrm>
            <a:off x="658440" y="1572840"/>
            <a:ext cx="1736640" cy="8406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658440" y="1572840"/>
            <a:ext cx="54000" cy="8406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859680" y="1710000"/>
            <a:ext cx="1352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Whole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9"/>
          <p:cNvSpPr/>
          <p:nvPr/>
        </p:nvSpPr>
        <p:spPr>
          <a:xfrm>
            <a:off x="859680" y="2048400"/>
            <a:ext cx="13525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Observe overall view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2468880" y="1856160"/>
            <a:ext cx="291960" cy="19116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11"/>
          <p:cNvSpPr/>
          <p:nvPr/>
        </p:nvSpPr>
        <p:spPr>
          <a:xfrm>
            <a:off x="2788920" y="1572840"/>
            <a:ext cx="1736640" cy="8406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2"/>
          <p:cNvSpPr/>
          <p:nvPr/>
        </p:nvSpPr>
        <p:spPr>
          <a:xfrm>
            <a:off x="2788920" y="1572840"/>
            <a:ext cx="54000" cy="8406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3"/>
          <p:cNvSpPr/>
          <p:nvPr/>
        </p:nvSpPr>
        <p:spPr>
          <a:xfrm>
            <a:off x="2990160" y="1710000"/>
            <a:ext cx="1352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Global context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2990160" y="2048400"/>
            <a:ext cx="13525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Understand surrounding structure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5"/>
          <p:cNvSpPr/>
          <p:nvPr/>
        </p:nvSpPr>
        <p:spPr>
          <a:xfrm>
            <a:off x="4599360" y="1856160"/>
            <a:ext cx="291960" cy="19116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6"/>
          <p:cNvSpPr/>
          <p:nvPr/>
        </p:nvSpPr>
        <p:spPr>
          <a:xfrm>
            <a:off x="4919400" y="1572840"/>
            <a:ext cx="1736640" cy="8406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7"/>
          <p:cNvSpPr/>
          <p:nvPr/>
        </p:nvSpPr>
        <p:spPr>
          <a:xfrm>
            <a:off x="4919400" y="1572840"/>
            <a:ext cx="54000" cy="840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8"/>
          <p:cNvSpPr/>
          <p:nvPr/>
        </p:nvSpPr>
        <p:spPr>
          <a:xfrm>
            <a:off x="5120640" y="1710000"/>
            <a:ext cx="1352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Discrepancy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19"/>
          <p:cNvSpPr/>
          <p:nvPr/>
        </p:nvSpPr>
        <p:spPr>
          <a:xfrm>
            <a:off x="5120640" y="2048400"/>
            <a:ext cx="13525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Notice an unusual pattern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20"/>
          <p:cNvSpPr/>
          <p:nvPr/>
        </p:nvSpPr>
        <p:spPr>
          <a:xfrm>
            <a:off x="6729840" y="1856160"/>
            <a:ext cx="291960" cy="191160"/>
          </a:xfrm>
          <a:prstGeom prst="chevron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7049880" y="1572840"/>
            <a:ext cx="1736640" cy="8406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22"/>
          <p:cNvSpPr/>
          <p:nvPr/>
        </p:nvSpPr>
        <p:spPr>
          <a:xfrm>
            <a:off x="7049880" y="1572840"/>
            <a:ext cx="54000" cy="8406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23"/>
          <p:cNvSpPr/>
          <p:nvPr/>
        </p:nvSpPr>
        <p:spPr>
          <a:xfrm>
            <a:off x="7251120" y="1710000"/>
            <a:ext cx="1352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Focus region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24"/>
          <p:cNvSpPr/>
          <p:nvPr/>
        </p:nvSpPr>
        <p:spPr>
          <a:xfrm>
            <a:off x="7251120" y="2048400"/>
            <a:ext cx="13525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Attention shifts to area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25"/>
          <p:cNvSpPr/>
          <p:nvPr/>
        </p:nvSpPr>
        <p:spPr>
          <a:xfrm>
            <a:off x="8860680" y="1856160"/>
            <a:ext cx="291960" cy="19116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26"/>
          <p:cNvSpPr/>
          <p:nvPr/>
        </p:nvSpPr>
        <p:spPr>
          <a:xfrm>
            <a:off x="9180720" y="1572840"/>
            <a:ext cx="1736640" cy="8406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7"/>
          <p:cNvSpPr/>
          <p:nvPr/>
        </p:nvSpPr>
        <p:spPr>
          <a:xfrm>
            <a:off x="9180720" y="1572840"/>
            <a:ext cx="54000" cy="8406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8"/>
          <p:cNvSpPr/>
          <p:nvPr/>
        </p:nvSpPr>
        <p:spPr>
          <a:xfrm>
            <a:off x="9381600" y="1710000"/>
            <a:ext cx="1352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Local 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9"/>
          <p:cNvSpPr/>
          <p:nvPr/>
        </p:nvSpPr>
        <p:spPr>
          <a:xfrm>
            <a:off x="9381600" y="2048400"/>
            <a:ext cx="13525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Inspect texture / boundary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30"/>
          <p:cNvSpPr/>
          <p:nvPr/>
        </p:nvSpPr>
        <p:spPr>
          <a:xfrm>
            <a:off x="658440" y="288036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31"/>
          <p:cNvSpPr/>
          <p:nvPr/>
        </p:nvSpPr>
        <p:spPr>
          <a:xfrm>
            <a:off x="658440" y="294444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A2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32"/>
          <p:cNvSpPr/>
          <p:nvPr/>
        </p:nvSpPr>
        <p:spPr>
          <a:xfrm>
            <a:off x="1243440" y="2917080"/>
            <a:ext cx="1645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Model translation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33"/>
          <p:cNvSpPr/>
          <p:nvPr/>
        </p:nvSpPr>
        <p:spPr>
          <a:xfrm>
            <a:off x="658440" y="3364920"/>
            <a:ext cx="237672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34"/>
          <p:cNvSpPr/>
          <p:nvPr/>
        </p:nvSpPr>
        <p:spPr>
          <a:xfrm>
            <a:off x="658440" y="3364920"/>
            <a:ext cx="54000" cy="11422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35"/>
          <p:cNvSpPr/>
          <p:nvPr/>
        </p:nvSpPr>
        <p:spPr>
          <a:xfrm>
            <a:off x="859680" y="3502080"/>
            <a:ext cx="1992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CNN encoder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36"/>
          <p:cNvSpPr/>
          <p:nvPr/>
        </p:nvSpPr>
        <p:spPr>
          <a:xfrm>
            <a:off x="859680" y="3840480"/>
            <a:ext cx="199260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Local edges, textures, shapes and hierarchical features.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7"/>
          <p:cNvSpPr/>
          <p:nvPr/>
        </p:nvSpPr>
        <p:spPr>
          <a:xfrm>
            <a:off x="3182040" y="3730680"/>
            <a:ext cx="502200" cy="22788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38"/>
          <p:cNvSpPr/>
          <p:nvPr/>
        </p:nvSpPr>
        <p:spPr>
          <a:xfrm>
            <a:off x="3794760" y="3364920"/>
            <a:ext cx="255960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9"/>
          <p:cNvSpPr/>
          <p:nvPr/>
        </p:nvSpPr>
        <p:spPr>
          <a:xfrm>
            <a:off x="3794760" y="3364920"/>
            <a:ext cx="54000" cy="11422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40"/>
          <p:cNvSpPr/>
          <p:nvPr/>
        </p:nvSpPr>
        <p:spPr>
          <a:xfrm>
            <a:off x="3996000" y="3502080"/>
            <a:ext cx="2175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Transformer bottleneck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41"/>
          <p:cNvSpPr/>
          <p:nvPr/>
        </p:nvSpPr>
        <p:spPr>
          <a:xfrm>
            <a:off x="3996000" y="3840480"/>
            <a:ext cx="21754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Global spatial relationships at 16×16 feature resolution.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42"/>
          <p:cNvSpPr/>
          <p:nvPr/>
        </p:nvSpPr>
        <p:spPr>
          <a:xfrm>
            <a:off x="6519600" y="3730680"/>
            <a:ext cx="502200" cy="22788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43"/>
          <p:cNvSpPr/>
          <p:nvPr/>
        </p:nvSpPr>
        <p:spPr>
          <a:xfrm>
            <a:off x="7132320" y="3364920"/>
            <a:ext cx="237672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44"/>
          <p:cNvSpPr/>
          <p:nvPr/>
        </p:nvSpPr>
        <p:spPr>
          <a:xfrm>
            <a:off x="7132320" y="3364920"/>
            <a:ext cx="54000" cy="11422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45"/>
          <p:cNvSpPr/>
          <p:nvPr/>
        </p:nvSpPr>
        <p:spPr>
          <a:xfrm>
            <a:off x="7333560" y="3502080"/>
            <a:ext cx="1992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Feature fusion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46"/>
          <p:cNvSpPr/>
          <p:nvPr/>
        </p:nvSpPr>
        <p:spPr>
          <a:xfrm>
            <a:off x="7333560" y="3840480"/>
            <a:ext cx="199260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Global context + local CNN bottleneck through residual addition.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47"/>
          <p:cNvSpPr/>
          <p:nvPr/>
        </p:nvSpPr>
        <p:spPr>
          <a:xfrm>
            <a:off x="9655920" y="3730680"/>
            <a:ext cx="502200" cy="22788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48"/>
          <p:cNvSpPr/>
          <p:nvPr/>
        </p:nvSpPr>
        <p:spPr>
          <a:xfrm>
            <a:off x="10268640" y="3364920"/>
            <a:ext cx="130680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49"/>
          <p:cNvSpPr/>
          <p:nvPr/>
        </p:nvSpPr>
        <p:spPr>
          <a:xfrm>
            <a:off x="10268640" y="3364920"/>
            <a:ext cx="54000" cy="1142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50"/>
          <p:cNvSpPr/>
          <p:nvPr/>
        </p:nvSpPr>
        <p:spPr>
          <a:xfrm>
            <a:off x="10469880" y="3502080"/>
            <a:ext cx="922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Decoder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51"/>
          <p:cNvSpPr/>
          <p:nvPr/>
        </p:nvSpPr>
        <p:spPr>
          <a:xfrm>
            <a:off x="10469880" y="3840480"/>
            <a:ext cx="922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8212f"/>
                </a:solidFill>
                <a:latin typeface="Aptos"/>
                <a:ea typeface="Aptos"/>
              </a:rPr>
              <a:t>Recover detail → mask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52"/>
          <p:cNvSpPr/>
          <p:nvPr/>
        </p:nvSpPr>
        <p:spPr>
          <a:xfrm>
            <a:off x="2011680" y="4983480"/>
            <a:ext cx="8137440" cy="867960"/>
          </a:xfrm>
          <a:prstGeom prst="roundRect">
            <a:avLst>
              <a:gd name="adj" fmla="val 6316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53"/>
          <p:cNvSpPr/>
          <p:nvPr/>
        </p:nvSpPr>
        <p:spPr>
          <a:xfrm>
            <a:off x="2267640" y="5184720"/>
            <a:ext cx="13251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eb9ea"/>
                </a:solidFill>
                <a:latin typeface="Aptos"/>
              </a:rPr>
              <a:t>Design statement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54"/>
          <p:cNvSpPr/>
          <p:nvPr/>
        </p:nvSpPr>
        <p:spPr>
          <a:xfrm>
            <a:off x="3566160" y="5102280"/>
            <a:ext cx="6262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The model jointly captures global vehicle context and local visual features to improve pixel-level damage segmentation.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 type="sldNum" idx="8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DE232A5D-A074-4518-BB97-108F19E0C1E4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5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CarDD Dataset &amp; Evaluation Protocol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Keep the official split structure intact; test remains untouched until final evaluation.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658440" y="1234440"/>
            <a:ext cx="3245400" cy="15080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658440" y="1234440"/>
            <a:ext cx="54000" cy="1508040"/>
          </a:xfrm>
          <a:prstGeom prst="rect">
            <a:avLst/>
          </a:prstGeom>
          <a:solidFill>
            <a:srgbClr val="c29e7f"/>
          </a:solidFill>
          <a:ln w="12700">
            <a:solidFill>
              <a:srgbClr val="c29e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859680" y="13716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Training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859680" y="1710000"/>
            <a:ext cx="286128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2,816 images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Parameter learning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2944440" y="1435680"/>
            <a:ext cx="685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4213d"/>
                </a:solidFill>
                <a:latin typeface="Aptos"/>
              </a:rPr>
              <a:t>2,816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8"/>
          <p:cNvSpPr/>
          <p:nvPr/>
        </p:nvSpPr>
        <p:spPr>
          <a:xfrm>
            <a:off x="4407480" y="1234440"/>
            <a:ext cx="3245400" cy="15080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9"/>
          <p:cNvSpPr/>
          <p:nvPr/>
        </p:nvSpPr>
        <p:spPr>
          <a:xfrm>
            <a:off x="4407480" y="1234440"/>
            <a:ext cx="54000" cy="1508040"/>
          </a:xfrm>
          <a:prstGeom prst="rect">
            <a:avLst/>
          </a:prstGeom>
          <a:solidFill>
            <a:srgbClr val="4a80e8"/>
          </a:solidFill>
          <a:ln w="12700">
            <a:solidFill>
              <a:srgbClr val="4a80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10"/>
          <p:cNvSpPr/>
          <p:nvPr/>
        </p:nvSpPr>
        <p:spPr>
          <a:xfrm>
            <a:off x="4608720" y="13716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Validation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1"/>
          <p:cNvSpPr/>
          <p:nvPr/>
        </p:nvSpPr>
        <p:spPr>
          <a:xfrm>
            <a:off x="4608720" y="1710000"/>
            <a:ext cx="286128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810 images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Checkpoint / tuning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6693480" y="1435680"/>
            <a:ext cx="685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4213d"/>
                </a:solidFill>
                <a:latin typeface="Aptos"/>
              </a:rPr>
              <a:t>810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3"/>
          <p:cNvSpPr/>
          <p:nvPr/>
        </p:nvSpPr>
        <p:spPr>
          <a:xfrm>
            <a:off x="8156520" y="1234440"/>
            <a:ext cx="3245400" cy="15080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4"/>
          <p:cNvSpPr/>
          <p:nvPr/>
        </p:nvSpPr>
        <p:spPr>
          <a:xfrm>
            <a:off x="8156520" y="1234440"/>
            <a:ext cx="54000" cy="15080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5"/>
          <p:cNvSpPr/>
          <p:nvPr/>
        </p:nvSpPr>
        <p:spPr>
          <a:xfrm>
            <a:off x="8357760" y="13716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Testing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6"/>
          <p:cNvSpPr/>
          <p:nvPr/>
        </p:nvSpPr>
        <p:spPr>
          <a:xfrm>
            <a:off x="8357760" y="1710000"/>
            <a:ext cx="286128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374 images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Final evaluation only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17"/>
          <p:cNvSpPr/>
          <p:nvPr/>
        </p:nvSpPr>
        <p:spPr>
          <a:xfrm>
            <a:off x="10442520" y="1435680"/>
            <a:ext cx="685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4213d"/>
                </a:solidFill>
                <a:latin typeface="Aptos"/>
              </a:rPr>
              <a:t>374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8"/>
          <p:cNvSpPr/>
          <p:nvPr/>
        </p:nvSpPr>
        <p:spPr>
          <a:xfrm>
            <a:off x="658440" y="315468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658440" y="321876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D1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20"/>
          <p:cNvSpPr/>
          <p:nvPr/>
        </p:nvSpPr>
        <p:spPr>
          <a:xfrm>
            <a:off x="1243440" y="3191400"/>
            <a:ext cx="1508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Class mapping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1"/>
          <p:cNvSpPr/>
          <p:nvPr/>
        </p:nvSpPr>
        <p:spPr>
          <a:xfrm>
            <a:off x="658440" y="3593520"/>
            <a:ext cx="2513880" cy="310320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2"/>
          <p:cNvSpPr/>
          <p:nvPr/>
        </p:nvSpPr>
        <p:spPr>
          <a:xfrm>
            <a:off x="731520" y="3657600"/>
            <a:ext cx="23677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67085"/>
                </a:solidFill>
                <a:latin typeface="Aptos"/>
              </a:rPr>
              <a:t>background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3"/>
          <p:cNvSpPr/>
          <p:nvPr/>
        </p:nvSpPr>
        <p:spPr>
          <a:xfrm>
            <a:off x="3447360" y="3593520"/>
            <a:ext cx="251388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24"/>
          <p:cNvSpPr/>
          <p:nvPr/>
        </p:nvSpPr>
        <p:spPr>
          <a:xfrm>
            <a:off x="3520440" y="3657600"/>
            <a:ext cx="23677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dent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5"/>
          <p:cNvSpPr/>
          <p:nvPr/>
        </p:nvSpPr>
        <p:spPr>
          <a:xfrm>
            <a:off x="6236280" y="3593520"/>
            <a:ext cx="251388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26"/>
          <p:cNvSpPr/>
          <p:nvPr/>
        </p:nvSpPr>
        <p:spPr>
          <a:xfrm>
            <a:off x="6309360" y="3657600"/>
            <a:ext cx="23677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scratch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7"/>
          <p:cNvSpPr/>
          <p:nvPr/>
        </p:nvSpPr>
        <p:spPr>
          <a:xfrm>
            <a:off x="9025200" y="3593520"/>
            <a:ext cx="251388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8"/>
          <p:cNvSpPr/>
          <p:nvPr/>
        </p:nvSpPr>
        <p:spPr>
          <a:xfrm>
            <a:off x="9098280" y="3657600"/>
            <a:ext cx="23677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crack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9"/>
          <p:cNvSpPr/>
          <p:nvPr/>
        </p:nvSpPr>
        <p:spPr>
          <a:xfrm>
            <a:off x="658440" y="4096440"/>
            <a:ext cx="251388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30"/>
          <p:cNvSpPr/>
          <p:nvPr/>
        </p:nvSpPr>
        <p:spPr>
          <a:xfrm>
            <a:off x="731520" y="4160520"/>
            <a:ext cx="23677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glass shatter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31"/>
          <p:cNvSpPr/>
          <p:nvPr/>
        </p:nvSpPr>
        <p:spPr>
          <a:xfrm>
            <a:off x="3447360" y="4096440"/>
            <a:ext cx="251388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32"/>
          <p:cNvSpPr/>
          <p:nvPr/>
        </p:nvSpPr>
        <p:spPr>
          <a:xfrm>
            <a:off x="3520440" y="4160520"/>
            <a:ext cx="23677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lamp broken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3"/>
          <p:cNvSpPr/>
          <p:nvPr/>
        </p:nvSpPr>
        <p:spPr>
          <a:xfrm>
            <a:off x="6236280" y="4096440"/>
            <a:ext cx="251388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34"/>
          <p:cNvSpPr/>
          <p:nvPr/>
        </p:nvSpPr>
        <p:spPr>
          <a:xfrm>
            <a:off x="6309360" y="4160520"/>
            <a:ext cx="23677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tire flat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5"/>
          <p:cNvSpPr/>
          <p:nvPr/>
        </p:nvSpPr>
        <p:spPr>
          <a:xfrm>
            <a:off x="658440" y="4800600"/>
            <a:ext cx="5257080" cy="913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36"/>
          <p:cNvSpPr/>
          <p:nvPr/>
        </p:nvSpPr>
        <p:spPr>
          <a:xfrm>
            <a:off x="658440" y="4800600"/>
            <a:ext cx="54000" cy="9136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37"/>
          <p:cNvSpPr/>
          <p:nvPr/>
        </p:nvSpPr>
        <p:spPr>
          <a:xfrm>
            <a:off x="859680" y="4937760"/>
            <a:ext cx="4872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Training policy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38"/>
          <p:cNvSpPr/>
          <p:nvPr/>
        </p:nvSpPr>
        <p:spPr>
          <a:xfrm>
            <a:off x="859680" y="5276160"/>
            <a:ext cx="48729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18212f"/>
                </a:solidFill>
                <a:latin typeface="Aptos"/>
                <a:ea typeface="Aptos"/>
              </a:rPr>
              <a:t>Training: augmentation + optimization. Validation: model selection. Test: frozen until final evaluation.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9"/>
          <p:cNvSpPr/>
          <p:nvPr/>
        </p:nvSpPr>
        <p:spPr>
          <a:xfrm>
            <a:off x="6144840" y="4800600"/>
            <a:ext cx="5375880" cy="913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40"/>
          <p:cNvSpPr/>
          <p:nvPr/>
        </p:nvSpPr>
        <p:spPr>
          <a:xfrm>
            <a:off x="6144840" y="4800600"/>
            <a:ext cx="54000" cy="913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41"/>
          <p:cNvSpPr/>
          <p:nvPr/>
        </p:nvSpPr>
        <p:spPr>
          <a:xfrm>
            <a:off x="6346080" y="4937760"/>
            <a:ext cx="4991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Data constraint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42"/>
          <p:cNvSpPr/>
          <p:nvPr/>
        </p:nvSpPr>
        <p:spPr>
          <a:xfrm>
            <a:off x="6346080" y="5276160"/>
            <a:ext cx="49917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18212f"/>
                </a:solidFill>
                <a:latin typeface="Aptos"/>
                <a:ea typeface="Aptos"/>
              </a:rPr>
              <a:t>CarDD contains damage masks but no vehicle-part masks. Exact hood/bumper/fender segmentation is therefore not claimed.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 type="sldNum" idx="9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82310A15-CCD7-47AF-AEA3-4D2DE6BCC3BC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6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Proposed Hybrid Model — Detailed Architecture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Locked implementation specification for the first research model.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"/>
          <p:cNvSpPr/>
          <p:nvPr/>
        </p:nvSpPr>
        <p:spPr>
          <a:xfrm>
            <a:off x="594360" y="1234440"/>
            <a:ext cx="123372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594360" y="1234440"/>
            <a:ext cx="54000" cy="10508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795600" y="1371600"/>
            <a:ext cx="849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Input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795600" y="1710000"/>
            <a:ext cx="8496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512×512×3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1856160" y="1627560"/>
            <a:ext cx="227880" cy="17316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Shape 8"/>
          <p:cNvSpPr/>
          <p:nvPr/>
        </p:nvSpPr>
        <p:spPr>
          <a:xfrm>
            <a:off x="2011680" y="1234440"/>
            <a:ext cx="123372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9"/>
          <p:cNvSpPr/>
          <p:nvPr/>
        </p:nvSpPr>
        <p:spPr>
          <a:xfrm>
            <a:off x="2011680" y="1234440"/>
            <a:ext cx="54000" cy="10508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10"/>
          <p:cNvSpPr/>
          <p:nvPr/>
        </p:nvSpPr>
        <p:spPr>
          <a:xfrm>
            <a:off x="2212920" y="1371600"/>
            <a:ext cx="849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2212920" y="1710000"/>
            <a:ext cx="8496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128×128×64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12"/>
          <p:cNvSpPr/>
          <p:nvPr/>
        </p:nvSpPr>
        <p:spPr>
          <a:xfrm>
            <a:off x="3273480" y="1627560"/>
            <a:ext cx="227880" cy="17316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13"/>
          <p:cNvSpPr/>
          <p:nvPr/>
        </p:nvSpPr>
        <p:spPr>
          <a:xfrm>
            <a:off x="3429000" y="1234440"/>
            <a:ext cx="123372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14"/>
          <p:cNvSpPr/>
          <p:nvPr/>
        </p:nvSpPr>
        <p:spPr>
          <a:xfrm>
            <a:off x="3429000" y="1234440"/>
            <a:ext cx="54000" cy="10508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15"/>
          <p:cNvSpPr/>
          <p:nvPr/>
        </p:nvSpPr>
        <p:spPr>
          <a:xfrm>
            <a:off x="3630240" y="1371600"/>
            <a:ext cx="849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16"/>
          <p:cNvSpPr/>
          <p:nvPr/>
        </p:nvSpPr>
        <p:spPr>
          <a:xfrm>
            <a:off x="3630240" y="1710000"/>
            <a:ext cx="8496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64×64×128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7"/>
          <p:cNvSpPr/>
          <p:nvPr/>
        </p:nvSpPr>
        <p:spPr>
          <a:xfrm>
            <a:off x="4690800" y="1627560"/>
            <a:ext cx="227880" cy="17316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Shape 18"/>
          <p:cNvSpPr/>
          <p:nvPr/>
        </p:nvSpPr>
        <p:spPr>
          <a:xfrm>
            <a:off x="4846320" y="1234440"/>
            <a:ext cx="123372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9"/>
          <p:cNvSpPr/>
          <p:nvPr/>
        </p:nvSpPr>
        <p:spPr>
          <a:xfrm>
            <a:off x="4846320" y="1234440"/>
            <a:ext cx="54000" cy="10508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 20"/>
          <p:cNvSpPr/>
          <p:nvPr/>
        </p:nvSpPr>
        <p:spPr>
          <a:xfrm>
            <a:off x="5047560" y="1371600"/>
            <a:ext cx="849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21"/>
          <p:cNvSpPr/>
          <p:nvPr/>
        </p:nvSpPr>
        <p:spPr>
          <a:xfrm>
            <a:off x="5047560" y="1710000"/>
            <a:ext cx="8496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32×32×256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22"/>
          <p:cNvSpPr/>
          <p:nvPr/>
        </p:nvSpPr>
        <p:spPr>
          <a:xfrm>
            <a:off x="6108120" y="1627560"/>
            <a:ext cx="227880" cy="17316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Shape 23"/>
          <p:cNvSpPr/>
          <p:nvPr/>
        </p:nvSpPr>
        <p:spPr>
          <a:xfrm>
            <a:off x="6263640" y="1234440"/>
            <a:ext cx="123372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24"/>
          <p:cNvSpPr/>
          <p:nvPr/>
        </p:nvSpPr>
        <p:spPr>
          <a:xfrm>
            <a:off x="6263640" y="1234440"/>
            <a:ext cx="54000" cy="10508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25"/>
          <p:cNvSpPr/>
          <p:nvPr/>
        </p:nvSpPr>
        <p:spPr>
          <a:xfrm>
            <a:off x="6464880" y="1371600"/>
            <a:ext cx="849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26"/>
          <p:cNvSpPr/>
          <p:nvPr/>
        </p:nvSpPr>
        <p:spPr>
          <a:xfrm>
            <a:off x="6464880" y="1710000"/>
            <a:ext cx="8496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16×16×512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27"/>
          <p:cNvSpPr/>
          <p:nvPr/>
        </p:nvSpPr>
        <p:spPr>
          <a:xfrm>
            <a:off x="7863840" y="1097280"/>
            <a:ext cx="3611160" cy="1325160"/>
          </a:xfrm>
          <a:prstGeom prst="roundRect">
            <a:avLst>
              <a:gd name="adj" fmla="val 4138"/>
            </a:avLst>
          </a:prstGeom>
          <a:solidFill>
            <a:srgbClr val="f1eeff"/>
          </a:solidFill>
          <a:ln w="10160">
            <a:solidFill>
              <a:srgbClr val="d8d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28"/>
          <p:cNvSpPr/>
          <p:nvPr/>
        </p:nvSpPr>
        <p:spPr>
          <a:xfrm>
            <a:off x="8119800" y="1280160"/>
            <a:ext cx="1553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4" strike="noStrike">
                <a:solidFill>
                  <a:srgbClr val="7a5af8"/>
                </a:solidFill>
                <a:latin typeface="Aptos"/>
              </a:rPr>
              <a:t>TRANSFORMER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29"/>
          <p:cNvSpPr/>
          <p:nvPr/>
        </p:nvSpPr>
        <p:spPr>
          <a:xfrm>
            <a:off x="8119800" y="1554480"/>
            <a:ext cx="30168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14213d"/>
                </a:solidFill>
                <a:latin typeface="Aptos"/>
              </a:rPr>
              <a:t>4 blocks • 4 heads • dim 256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14213d"/>
                </a:solidFill>
                <a:latin typeface="Aptos"/>
              </a:rPr>
              <a:t>FFN 1024 • GELU • Pre-LN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14213d"/>
                </a:solidFill>
                <a:latin typeface="Aptos"/>
              </a:rPr>
              <a:t>16×16 tokens + learned 2-D position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30"/>
          <p:cNvSpPr/>
          <p:nvPr/>
        </p:nvSpPr>
        <p:spPr>
          <a:xfrm>
            <a:off x="7178400" y="1625400"/>
            <a:ext cx="822240" cy="23688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Shape 31"/>
          <p:cNvSpPr/>
          <p:nvPr/>
        </p:nvSpPr>
        <p:spPr>
          <a:xfrm>
            <a:off x="640080" y="278892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32"/>
          <p:cNvSpPr/>
          <p:nvPr/>
        </p:nvSpPr>
        <p:spPr>
          <a:xfrm>
            <a:off x="640080" y="285300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M1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33"/>
          <p:cNvSpPr/>
          <p:nvPr/>
        </p:nvSpPr>
        <p:spPr>
          <a:xfrm>
            <a:off x="1225440" y="2825640"/>
            <a:ext cx="10965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Decoder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34"/>
          <p:cNvSpPr/>
          <p:nvPr/>
        </p:nvSpPr>
        <p:spPr>
          <a:xfrm>
            <a:off x="658440" y="3218760"/>
            <a:ext cx="1553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35"/>
          <p:cNvSpPr/>
          <p:nvPr/>
        </p:nvSpPr>
        <p:spPr>
          <a:xfrm>
            <a:off x="658440" y="3218760"/>
            <a:ext cx="54000" cy="10508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36"/>
          <p:cNvSpPr/>
          <p:nvPr/>
        </p:nvSpPr>
        <p:spPr>
          <a:xfrm>
            <a:off x="859680" y="3355920"/>
            <a:ext cx="1169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16×16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37"/>
          <p:cNvSpPr/>
          <p:nvPr/>
        </p:nvSpPr>
        <p:spPr>
          <a:xfrm>
            <a:off x="859680" y="3694320"/>
            <a:ext cx="1169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256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38"/>
          <p:cNvSpPr/>
          <p:nvPr/>
        </p:nvSpPr>
        <p:spPr>
          <a:xfrm>
            <a:off x="2249280" y="3566160"/>
            <a:ext cx="200520" cy="16380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Shape 39"/>
          <p:cNvSpPr/>
          <p:nvPr/>
        </p:nvSpPr>
        <p:spPr>
          <a:xfrm>
            <a:off x="2487240" y="3218760"/>
            <a:ext cx="1553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40"/>
          <p:cNvSpPr/>
          <p:nvPr/>
        </p:nvSpPr>
        <p:spPr>
          <a:xfrm>
            <a:off x="2487240" y="3218760"/>
            <a:ext cx="54000" cy="10508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41"/>
          <p:cNvSpPr/>
          <p:nvPr/>
        </p:nvSpPr>
        <p:spPr>
          <a:xfrm>
            <a:off x="2688480" y="3355920"/>
            <a:ext cx="1169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32×32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42"/>
          <p:cNvSpPr/>
          <p:nvPr/>
        </p:nvSpPr>
        <p:spPr>
          <a:xfrm>
            <a:off x="2688480" y="3694320"/>
            <a:ext cx="1169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256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43"/>
          <p:cNvSpPr/>
          <p:nvPr/>
        </p:nvSpPr>
        <p:spPr>
          <a:xfrm>
            <a:off x="4078080" y="3566160"/>
            <a:ext cx="200520" cy="16380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44"/>
          <p:cNvSpPr/>
          <p:nvPr/>
        </p:nvSpPr>
        <p:spPr>
          <a:xfrm>
            <a:off x="4316040" y="3218760"/>
            <a:ext cx="1553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45"/>
          <p:cNvSpPr/>
          <p:nvPr/>
        </p:nvSpPr>
        <p:spPr>
          <a:xfrm>
            <a:off x="4316040" y="3218760"/>
            <a:ext cx="54000" cy="10508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46"/>
          <p:cNvSpPr/>
          <p:nvPr/>
        </p:nvSpPr>
        <p:spPr>
          <a:xfrm>
            <a:off x="4517280" y="3355920"/>
            <a:ext cx="1169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64×64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47"/>
          <p:cNvSpPr/>
          <p:nvPr/>
        </p:nvSpPr>
        <p:spPr>
          <a:xfrm>
            <a:off x="4517280" y="3694320"/>
            <a:ext cx="1169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128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48"/>
          <p:cNvSpPr/>
          <p:nvPr/>
        </p:nvSpPr>
        <p:spPr>
          <a:xfrm>
            <a:off x="5906880" y="3566160"/>
            <a:ext cx="200520" cy="16380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49"/>
          <p:cNvSpPr/>
          <p:nvPr/>
        </p:nvSpPr>
        <p:spPr>
          <a:xfrm>
            <a:off x="6144840" y="3218760"/>
            <a:ext cx="1553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50"/>
          <p:cNvSpPr/>
          <p:nvPr/>
        </p:nvSpPr>
        <p:spPr>
          <a:xfrm>
            <a:off x="6144840" y="3218760"/>
            <a:ext cx="54000" cy="10508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51"/>
          <p:cNvSpPr/>
          <p:nvPr/>
        </p:nvSpPr>
        <p:spPr>
          <a:xfrm>
            <a:off x="6346080" y="3355920"/>
            <a:ext cx="1169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128×128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52"/>
          <p:cNvSpPr/>
          <p:nvPr/>
        </p:nvSpPr>
        <p:spPr>
          <a:xfrm>
            <a:off x="6346080" y="3694320"/>
            <a:ext cx="1169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64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53"/>
          <p:cNvSpPr/>
          <p:nvPr/>
        </p:nvSpPr>
        <p:spPr>
          <a:xfrm>
            <a:off x="7735680" y="3566160"/>
            <a:ext cx="200520" cy="16380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Shape 54"/>
          <p:cNvSpPr/>
          <p:nvPr/>
        </p:nvSpPr>
        <p:spPr>
          <a:xfrm>
            <a:off x="7973640" y="3218760"/>
            <a:ext cx="1553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55"/>
          <p:cNvSpPr/>
          <p:nvPr/>
        </p:nvSpPr>
        <p:spPr>
          <a:xfrm>
            <a:off x="7973640" y="3218760"/>
            <a:ext cx="54000" cy="10508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56"/>
          <p:cNvSpPr/>
          <p:nvPr/>
        </p:nvSpPr>
        <p:spPr>
          <a:xfrm>
            <a:off x="8174880" y="3355920"/>
            <a:ext cx="1169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256×256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57"/>
          <p:cNvSpPr/>
          <p:nvPr/>
        </p:nvSpPr>
        <p:spPr>
          <a:xfrm>
            <a:off x="8174880" y="3694320"/>
            <a:ext cx="1169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64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58"/>
          <p:cNvSpPr/>
          <p:nvPr/>
        </p:nvSpPr>
        <p:spPr>
          <a:xfrm>
            <a:off x="9564480" y="3566160"/>
            <a:ext cx="200520" cy="16380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59"/>
          <p:cNvSpPr/>
          <p:nvPr/>
        </p:nvSpPr>
        <p:spPr>
          <a:xfrm>
            <a:off x="9802440" y="3218760"/>
            <a:ext cx="1553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60"/>
          <p:cNvSpPr/>
          <p:nvPr/>
        </p:nvSpPr>
        <p:spPr>
          <a:xfrm>
            <a:off x="9802440" y="3218760"/>
            <a:ext cx="54000" cy="10508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61"/>
          <p:cNvSpPr/>
          <p:nvPr/>
        </p:nvSpPr>
        <p:spPr>
          <a:xfrm>
            <a:off x="10003680" y="3355920"/>
            <a:ext cx="1169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512×512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62"/>
          <p:cNvSpPr/>
          <p:nvPr/>
        </p:nvSpPr>
        <p:spPr>
          <a:xfrm>
            <a:off x="10003680" y="3694320"/>
            <a:ext cx="1169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32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63"/>
          <p:cNvSpPr/>
          <p:nvPr/>
        </p:nvSpPr>
        <p:spPr>
          <a:xfrm>
            <a:off x="658440" y="4617720"/>
            <a:ext cx="3428280" cy="9594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64"/>
          <p:cNvSpPr/>
          <p:nvPr/>
        </p:nvSpPr>
        <p:spPr>
          <a:xfrm>
            <a:off x="658440" y="4617720"/>
            <a:ext cx="54000" cy="959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65"/>
          <p:cNvSpPr/>
          <p:nvPr/>
        </p:nvSpPr>
        <p:spPr>
          <a:xfrm>
            <a:off x="859680" y="4754880"/>
            <a:ext cx="3044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Fusion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66"/>
          <p:cNvSpPr/>
          <p:nvPr/>
        </p:nvSpPr>
        <p:spPr>
          <a:xfrm>
            <a:off x="859680" y="5093280"/>
            <a:ext cx="30441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Projected CNN C5 + Transformer output → element-wise addition.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67"/>
          <p:cNvSpPr/>
          <p:nvPr/>
        </p:nvSpPr>
        <p:spPr>
          <a:xfrm>
            <a:off x="4297680" y="4617720"/>
            <a:ext cx="3428280" cy="9594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68"/>
          <p:cNvSpPr/>
          <p:nvPr/>
        </p:nvSpPr>
        <p:spPr>
          <a:xfrm>
            <a:off x="4297680" y="4617720"/>
            <a:ext cx="54000" cy="9594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69"/>
          <p:cNvSpPr/>
          <p:nvPr/>
        </p:nvSpPr>
        <p:spPr>
          <a:xfrm>
            <a:off x="4498920" y="4754880"/>
            <a:ext cx="3044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Deep supervision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70"/>
          <p:cNvSpPr/>
          <p:nvPr/>
        </p:nvSpPr>
        <p:spPr>
          <a:xfrm>
            <a:off x="4498920" y="5093280"/>
            <a:ext cx="304416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Auxiliary heads at 128² and 64²; weights 0.15 / 0.10; main = 0.75.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71"/>
          <p:cNvSpPr/>
          <p:nvPr/>
        </p:nvSpPr>
        <p:spPr>
          <a:xfrm>
            <a:off x="7936920" y="4617720"/>
            <a:ext cx="3583800" cy="9594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72"/>
          <p:cNvSpPr/>
          <p:nvPr/>
        </p:nvSpPr>
        <p:spPr>
          <a:xfrm>
            <a:off x="7936920" y="4617720"/>
            <a:ext cx="54000" cy="9594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73"/>
          <p:cNvSpPr/>
          <p:nvPr/>
        </p:nvSpPr>
        <p:spPr>
          <a:xfrm>
            <a:off x="8138160" y="4754880"/>
            <a:ext cx="3199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74"/>
          <p:cNvSpPr/>
          <p:nvPr/>
        </p:nvSpPr>
        <p:spPr>
          <a:xfrm>
            <a:off x="8138160" y="5093280"/>
            <a:ext cx="319968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7-channel logits → pixel class + region mask + derived confidence.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sldNum" idx="10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6C3A1E6B-C297-4858-9DE0-761F49B0322E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7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Training Objective &amp; Confidence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Training choices are shared with the controlled baseline unless explicitly marked as a later ablation.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658440" y="1234440"/>
            <a:ext cx="3382560" cy="14166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658440" y="1234440"/>
            <a:ext cx="54000" cy="14166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859680" y="1371600"/>
            <a:ext cx="2998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Core loss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859680" y="1710000"/>
            <a:ext cx="299844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L = 0.50 × Dice + 0.50 × Focal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Focal γ = 2.0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Foreground-only Dice; class weights from training split.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7"/>
          <p:cNvSpPr/>
          <p:nvPr/>
        </p:nvSpPr>
        <p:spPr>
          <a:xfrm>
            <a:off x="4297680" y="1234440"/>
            <a:ext cx="3382560" cy="14166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8"/>
          <p:cNvSpPr/>
          <p:nvPr/>
        </p:nvSpPr>
        <p:spPr>
          <a:xfrm>
            <a:off x="4297680" y="1234440"/>
            <a:ext cx="54000" cy="14166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9"/>
          <p:cNvSpPr/>
          <p:nvPr/>
        </p:nvSpPr>
        <p:spPr>
          <a:xfrm>
            <a:off x="4498920" y="1371600"/>
            <a:ext cx="2998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Optimization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10"/>
          <p:cNvSpPr/>
          <p:nvPr/>
        </p:nvSpPr>
        <p:spPr>
          <a:xfrm>
            <a:off x="4498920" y="1710000"/>
            <a:ext cx="299844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AdamW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LR: 1e−4 (encoder), 3e−4 (new modules)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5-epoch warm-up + cosine decay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60 epoch max / early stop 10.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11"/>
          <p:cNvSpPr/>
          <p:nvPr/>
        </p:nvSpPr>
        <p:spPr>
          <a:xfrm>
            <a:off x="7936920" y="1234440"/>
            <a:ext cx="3583800" cy="14166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12"/>
          <p:cNvSpPr/>
          <p:nvPr/>
        </p:nvSpPr>
        <p:spPr>
          <a:xfrm>
            <a:off x="7936920" y="1234440"/>
            <a:ext cx="54000" cy="1416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 13"/>
          <p:cNvSpPr/>
          <p:nvPr/>
        </p:nvSpPr>
        <p:spPr>
          <a:xfrm>
            <a:off x="8138160" y="1371600"/>
            <a:ext cx="3199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Memory strategy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14"/>
          <p:cNvSpPr/>
          <p:nvPr/>
        </p:nvSpPr>
        <p:spPr>
          <a:xfrm>
            <a:off x="8138160" y="1710000"/>
            <a:ext cx="319968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Mixed precision • effective batch ≈ 4 • gradient accumulation when required • EMA • frozen BN statistics for small-batch training.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5"/>
          <p:cNvSpPr/>
          <p:nvPr/>
        </p:nvSpPr>
        <p:spPr>
          <a:xfrm>
            <a:off x="658440" y="315468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16"/>
          <p:cNvSpPr/>
          <p:nvPr/>
        </p:nvSpPr>
        <p:spPr>
          <a:xfrm>
            <a:off x="658440" y="321876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C1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17"/>
          <p:cNvSpPr/>
          <p:nvPr/>
        </p:nvSpPr>
        <p:spPr>
          <a:xfrm>
            <a:off x="1243440" y="3191400"/>
            <a:ext cx="1188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Confidence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8"/>
          <p:cNvSpPr/>
          <p:nvPr/>
        </p:nvSpPr>
        <p:spPr>
          <a:xfrm>
            <a:off x="658440" y="3611880"/>
            <a:ext cx="2331000" cy="10051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9"/>
          <p:cNvSpPr/>
          <p:nvPr/>
        </p:nvSpPr>
        <p:spPr>
          <a:xfrm>
            <a:off x="658440" y="3611880"/>
            <a:ext cx="54000" cy="100512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 20"/>
          <p:cNvSpPr/>
          <p:nvPr/>
        </p:nvSpPr>
        <p:spPr>
          <a:xfrm>
            <a:off x="859680" y="3749040"/>
            <a:ext cx="1946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Segmentation logits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21"/>
          <p:cNvSpPr/>
          <p:nvPr/>
        </p:nvSpPr>
        <p:spPr>
          <a:xfrm>
            <a:off x="859680" y="4087440"/>
            <a:ext cx="19468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Model evidence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22"/>
          <p:cNvSpPr/>
          <p:nvPr/>
        </p:nvSpPr>
        <p:spPr>
          <a:xfrm>
            <a:off x="3054240" y="3959280"/>
            <a:ext cx="255240" cy="16380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Shape 23"/>
          <p:cNvSpPr/>
          <p:nvPr/>
        </p:nvSpPr>
        <p:spPr>
          <a:xfrm>
            <a:off x="3383280" y="3611880"/>
            <a:ext cx="2331000" cy="10051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24"/>
          <p:cNvSpPr/>
          <p:nvPr/>
        </p:nvSpPr>
        <p:spPr>
          <a:xfrm>
            <a:off x="3383280" y="3611880"/>
            <a:ext cx="54000" cy="100512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 25"/>
          <p:cNvSpPr/>
          <p:nvPr/>
        </p:nvSpPr>
        <p:spPr>
          <a:xfrm>
            <a:off x="3584520" y="3749040"/>
            <a:ext cx="1946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Softmax probability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26"/>
          <p:cNvSpPr/>
          <p:nvPr/>
        </p:nvSpPr>
        <p:spPr>
          <a:xfrm>
            <a:off x="3584520" y="4087440"/>
            <a:ext cx="19468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Max class probability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27"/>
          <p:cNvSpPr/>
          <p:nvPr/>
        </p:nvSpPr>
        <p:spPr>
          <a:xfrm>
            <a:off x="5779080" y="3959280"/>
            <a:ext cx="255240" cy="16380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Shape 28"/>
          <p:cNvSpPr/>
          <p:nvPr/>
        </p:nvSpPr>
        <p:spPr>
          <a:xfrm>
            <a:off x="6108120" y="3611880"/>
            <a:ext cx="2331000" cy="10051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9"/>
          <p:cNvSpPr/>
          <p:nvPr/>
        </p:nvSpPr>
        <p:spPr>
          <a:xfrm>
            <a:off x="6108120" y="3611880"/>
            <a:ext cx="54000" cy="10051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 30"/>
          <p:cNvSpPr/>
          <p:nvPr/>
        </p:nvSpPr>
        <p:spPr>
          <a:xfrm>
            <a:off x="6309360" y="3749040"/>
            <a:ext cx="1946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Region confidence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31"/>
          <p:cNvSpPr/>
          <p:nvPr/>
        </p:nvSpPr>
        <p:spPr>
          <a:xfrm>
            <a:off x="6309360" y="4087440"/>
            <a:ext cx="19468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Mean predicted-class probability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32"/>
          <p:cNvSpPr/>
          <p:nvPr/>
        </p:nvSpPr>
        <p:spPr>
          <a:xfrm>
            <a:off x="8503920" y="3959280"/>
            <a:ext cx="255240" cy="16380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33"/>
          <p:cNvSpPr/>
          <p:nvPr/>
        </p:nvSpPr>
        <p:spPr>
          <a:xfrm>
            <a:off x="8832960" y="3611880"/>
            <a:ext cx="2331000" cy="10051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34"/>
          <p:cNvSpPr/>
          <p:nvPr/>
        </p:nvSpPr>
        <p:spPr>
          <a:xfrm>
            <a:off x="8832960" y="3611880"/>
            <a:ext cx="54000" cy="100512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 35"/>
          <p:cNvSpPr/>
          <p:nvPr/>
        </p:nvSpPr>
        <p:spPr>
          <a:xfrm>
            <a:off x="9034200" y="3749040"/>
            <a:ext cx="1946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Validation calibration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36"/>
          <p:cNvSpPr/>
          <p:nvPr/>
        </p:nvSpPr>
        <p:spPr>
          <a:xfrm>
            <a:off x="9034200" y="4087440"/>
            <a:ext cx="19468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Temperature scaling on validation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37"/>
          <p:cNvSpPr/>
          <p:nvPr/>
        </p:nvSpPr>
        <p:spPr>
          <a:xfrm>
            <a:off x="658440" y="4892040"/>
            <a:ext cx="5257080" cy="89532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38"/>
          <p:cNvSpPr/>
          <p:nvPr/>
        </p:nvSpPr>
        <p:spPr>
          <a:xfrm>
            <a:off x="658440" y="4892040"/>
            <a:ext cx="54000" cy="89532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39"/>
          <p:cNvSpPr/>
          <p:nvPr/>
        </p:nvSpPr>
        <p:spPr>
          <a:xfrm>
            <a:off x="859680" y="5029200"/>
            <a:ext cx="4872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Important separation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40"/>
          <p:cNvSpPr/>
          <p:nvPr/>
        </p:nvSpPr>
        <p:spPr>
          <a:xfrm>
            <a:off x="859680" y="5367600"/>
            <a:ext cx="4872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18212f"/>
                </a:solidFill>
                <a:latin typeface="Aptos"/>
                <a:ea typeface="Aptos"/>
              </a:rPr>
              <a:t>Low confidence ≠ poor photo. A quality failure is handled by the classical image-quality gate; model uncertainty is handled after segmentation.</a:t>
            </a:r>
            <a:endParaRPr b="0" lang="en-US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41"/>
          <p:cNvSpPr/>
          <p:nvPr/>
        </p:nvSpPr>
        <p:spPr>
          <a:xfrm>
            <a:off x="6144840" y="4892040"/>
            <a:ext cx="5375880" cy="89532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42"/>
          <p:cNvSpPr/>
          <p:nvPr/>
        </p:nvSpPr>
        <p:spPr>
          <a:xfrm>
            <a:off x="6144840" y="4892040"/>
            <a:ext cx="54000" cy="89532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43"/>
          <p:cNvSpPr/>
          <p:nvPr/>
        </p:nvSpPr>
        <p:spPr>
          <a:xfrm>
            <a:off x="6346080" y="5029200"/>
            <a:ext cx="4991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Product consequence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44"/>
          <p:cNvSpPr/>
          <p:nvPr/>
        </p:nvSpPr>
        <p:spPr>
          <a:xfrm>
            <a:off x="6346080" y="5367600"/>
            <a:ext cx="4991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18212f"/>
                </a:solidFill>
                <a:latin typeface="Aptos"/>
                <a:ea typeface="Aptos"/>
              </a:rPr>
              <a:t>The calibrated evidence can trigger clarification / retake guidance; the LLM never invents an unsupported damage class.</a:t>
            </a:r>
            <a:endParaRPr b="0" lang="en-US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11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4D10EB8B-0922-411B-8920-771397C9DBA5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8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Research Experiments &amp; Ablation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The core comparison isolates the Transformer contribution.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3"/>
          <p:cNvSpPr/>
          <p:nvPr/>
        </p:nvSpPr>
        <p:spPr>
          <a:xfrm>
            <a:off x="658440" y="1234440"/>
            <a:ext cx="3245400" cy="1828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658440" y="1234440"/>
            <a:ext cx="54000" cy="182808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859680" y="13716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A — Controlled baseline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859680" y="1710000"/>
            <a:ext cx="2861280" cy="12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ResNet34 encoder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U-Net decoder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shared loss / augmentation / EMA / sampling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+ 7-channel output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7"/>
          <p:cNvSpPr/>
          <p:nvPr/>
        </p:nvSpPr>
        <p:spPr>
          <a:xfrm>
            <a:off x="4096440" y="1856160"/>
            <a:ext cx="502200" cy="25524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Shape 8"/>
          <p:cNvSpPr/>
          <p:nvPr/>
        </p:nvSpPr>
        <p:spPr>
          <a:xfrm>
            <a:off x="4709160" y="1234440"/>
            <a:ext cx="3245400" cy="1828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9"/>
          <p:cNvSpPr/>
          <p:nvPr/>
        </p:nvSpPr>
        <p:spPr>
          <a:xfrm>
            <a:off x="4709160" y="1234440"/>
            <a:ext cx="54000" cy="18280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10"/>
          <p:cNvSpPr/>
          <p:nvPr/>
        </p:nvSpPr>
        <p:spPr>
          <a:xfrm>
            <a:off x="4910400" y="13716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 — Proposed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11"/>
          <p:cNvSpPr/>
          <p:nvPr/>
        </p:nvSpPr>
        <p:spPr>
          <a:xfrm>
            <a:off x="4910400" y="1710000"/>
            <a:ext cx="2861280" cy="12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Same ResNet34 + decoder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+ 16×16 bottleneck Transformer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projected additive fusion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same training protocol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12"/>
          <p:cNvSpPr/>
          <p:nvPr/>
        </p:nvSpPr>
        <p:spPr>
          <a:xfrm>
            <a:off x="8156520" y="1856160"/>
            <a:ext cx="502200" cy="25524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13"/>
          <p:cNvSpPr/>
          <p:nvPr/>
        </p:nvSpPr>
        <p:spPr>
          <a:xfrm>
            <a:off x="8778240" y="1234440"/>
            <a:ext cx="2742480" cy="1828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14"/>
          <p:cNvSpPr/>
          <p:nvPr/>
        </p:nvSpPr>
        <p:spPr>
          <a:xfrm>
            <a:off x="8778240" y="1234440"/>
            <a:ext cx="54000" cy="18280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15"/>
          <p:cNvSpPr/>
          <p:nvPr/>
        </p:nvSpPr>
        <p:spPr>
          <a:xfrm>
            <a:off x="8979480" y="1371600"/>
            <a:ext cx="2358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16"/>
          <p:cNvSpPr/>
          <p:nvPr/>
        </p:nvSpPr>
        <p:spPr>
          <a:xfrm>
            <a:off x="8979480" y="1710000"/>
            <a:ext cx="2358360" cy="12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Overall mIoU / Dice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Per-class results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Small-damage analysis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Latency / VRAM / parameters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7"/>
          <p:cNvSpPr/>
          <p:nvPr/>
        </p:nvSpPr>
        <p:spPr>
          <a:xfrm>
            <a:off x="658440" y="347472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18"/>
          <p:cNvSpPr/>
          <p:nvPr/>
        </p:nvSpPr>
        <p:spPr>
          <a:xfrm>
            <a:off x="658440" y="353880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Abl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19"/>
          <p:cNvSpPr/>
          <p:nvPr/>
        </p:nvSpPr>
        <p:spPr>
          <a:xfrm>
            <a:off x="1243440" y="3511440"/>
            <a:ext cx="19195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Optional later experiments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20"/>
          <p:cNvSpPr/>
          <p:nvPr/>
        </p:nvSpPr>
        <p:spPr>
          <a:xfrm>
            <a:off x="658440" y="3950280"/>
            <a:ext cx="5211360" cy="730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21"/>
          <p:cNvSpPr/>
          <p:nvPr/>
        </p:nvSpPr>
        <p:spPr>
          <a:xfrm>
            <a:off x="658440" y="3950280"/>
            <a:ext cx="54000" cy="730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22"/>
          <p:cNvSpPr/>
          <p:nvPr/>
        </p:nvSpPr>
        <p:spPr>
          <a:xfrm>
            <a:off x="859680" y="4087440"/>
            <a:ext cx="4827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Boundary loss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23"/>
          <p:cNvSpPr/>
          <p:nvPr/>
        </p:nvSpPr>
        <p:spPr>
          <a:xfrm>
            <a:off x="859680" y="4425840"/>
            <a:ext cx="4827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Only after core A/B comparison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24"/>
          <p:cNvSpPr/>
          <p:nvPr/>
        </p:nvSpPr>
        <p:spPr>
          <a:xfrm>
            <a:off x="6144840" y="3950280"/>
            <a:ext cx="5211360" cy="730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5"/>
          <p:cNvSpPr/>
          <p:nvPr/>
        </p:nvSpPr>
        <p:spPr>
          <a:xfrm>
            <a:off x="6144840" y="3950280"/>
            <a:ext cx="54000" cy="7308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 26"/>
          <p:cNvSpPr/>
          <p:nvPr/>
        </p:nvSpPr>
        <p:spPr>
          <a:xfrm>
            <a:off x="6346080" y="4087440"/>
            <a:ext cx="4827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YOLO11-seg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27"/>
          <p:cNvSpPr/>
          <p:nvPr/>
        </p:nvSpPr>
        <p:spPr>
          <a:xfrm>
            <a:off x="6346080" y="4425840"/>
            <a:ext cx="4827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Practical comparator if time permits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28"/>
          <p:cNvSpPr/>
          <p:nvPr/>
        </p:nvSpPr>
        <p:spPr>
          <a:xfrm>
            <a:off x="658440" y="4864680"/>
            <a:ext cx="5211360" cy="730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9"/>
          <p:cNvSpPr/>
          <p:nvPr/>
        </p:nvSpPr>
        <p:spPr>
          <a:xfrm>
            <a:off x="658440" y="4864680"/>
            <a:ext cx="54000" cy="7308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30"/>
          <p:cNvSpPr/>
          <p:nvPr/>
        </p:nvSpPr>
        <p:spPr>
          <a:xfrm>
            <a:off x="859680" y="5001840"/>
            <a:ext cx="4827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Mask2Former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31"/>
          <p:cNvSpPr/>
          <p:nvPr/>
        </p:nvSpPr>
        <p:spPr>
          <a:xfrm>
            <a:off x="859680" y="5340240"/>
            <a:ext cx="4827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Pretrained fine-tuning stretch goal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32"/>
          <p:cNvSpPr/>
          <p:nvPr/>
        </p:nvSpPr>
        <p:spPr>
          <a:xfrm>
            <a:off x="6144840" y="4864680"/>
            <a:ext cx="5211360" cy="730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33"/>
          <p:cNvSpPr/>
          <p:nvPr/>
        </p:nvSpPr>
        <p:spPr>
          <a:xfrm>
            <a:off x="6144840" y="4864680"/>
            <a:ext cx="54000" cy="7308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34"/>
          <p:cNvSpPr/>
          <p:nvPr/>
        </p:nvSpPr>
        <p:spPr>
          <a:xfrm>
            <a:off x="6346080" y="5001840"/>
            <a:ext cx="4827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 35"/>
          <p:cNvSpPr/>
          <p:nvPr/>
        </p:nvSpPr>
        <p:spPr>
          <a:xfrm>
            <a:off x="6346080" y="5340240"/>
            <a:ext cx="4827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Separate secondary evaluation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sldNum" idx="12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58620D8F-7A63-4CF0-9107-BF107971DAC1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9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Evaluation Plan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Measure segmentation quality, class behavior, small-damage performance and practical efficiency.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3"/>
          <p:cNvSpPr/>
          <p:nvPr/>
        </p:nvSpPr>
        <p:spPr>
          <a:xfrm>
            <a:off x="658440" y="1234440"/>
            <a:ext cx="525708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4"/>
          <p:cNvSpPr/>
          <p:nvPr/>
        </p:nvSpPr>
        <p:spPr>
          <a:xfrm>
            <a:off x="658440" y="1234440"/>
            <a:ext cx="54000" cy="11422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5"/>
          <p:cNvSpPr/>
          <p:nvPr/>
        </p:nvSpPr>
        <p:spPr>
          <a:xfrm>
            <a:off x="859680" y="1371600"/>
            <a:ext cx="4872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Primary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6"/>
          <p:cNvSpPr/>
          <p:nvPr/>
        </p:nvSpPr>
        <p:spPr>
          <a:xfrm>
            <a:off x="859680" y="1710000"/>
            <a:ext cx="487296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Foreground mIoU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Foreground mean Dice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7"/>
          <p:cNvSpPr/>
          <p:nvPr/>
        </p:nvSpPr>
        <p:spPr>
          <a:xfrm>
            <a:off x="6190560" y="1234440"/>
            <a:ext cx="525708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8"/>
          <p:cNvSpPr/>
          <p:nvPr/>
        </p:nvSpPr>
        <p:spPr>
          <a:xfrm>
            <a:off x="6190560" y="1234440"/>
            <a:ext cx="54000" cy="11422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 9"/>
          <p:cNvSpPr/>
          <p:nvPr/>
        </p:nvSpPr>
        <p:spPr>
          <a:xfrm>
            <a:off x="6391800" y="1371600"/>
            <a:ext cx="4872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Per class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10"/>
          <p:cNvSpPr/>
          <p:nvPr/>
        </p:nvSpPr>
        <p:spPr>
          <a:xfrm>
            <a:off x="6391800" y="1710000"/>
            <a:ext cx="487296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IoU + Dice for all six classes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11"/>
          <p:cNvSpPr/>
          <p:nvPr/>
        </p:nvSpPr>
        <p:spPr>
          <a:xfrm>
            <a:off x="658440" y="2651760"/>
            <a:ext cx="525708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2"/>
          <p:cNvSpPr/>
          <p:nvPr/>
        </p:nvSpPr>
        <p:spPr>
          <a:xfrm>
            <a:off x="658440" y="2651760"/>
            <a:ext cx="54000" cy="11422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13"/>
          <p:cNvSpPr/>
          <p:nvPr/>
        </p:nvSpPr>
        <p:spPr>
          <a:xfrm>
            <a:off x="859680" y="2788920"/>
            <a:ext cx="4872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Small damage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 14"/>
          <p:cNvSpPr/>
          <p:nvPr/>
        </p:nvSpPr>
        <p:spPr>
          <a:xfrm>
            <a:off x="859680" y="3127320"/>
            <a:ext cx="487296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Small / medium / large mask strata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5"/>
          <p:cNvSpPr/>
          <p:nvPr/>
        </p:nvSpPr>
        <p:spPr>
          <a:xfrm>
            <a:off x="6190560" y="2651760"/>
            <a:ext cx="525708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16"/>
          <p:cNvSpPr/>
          <p:nvPr/>
        </p:nvSpPr>
        <p:spPr>
          <a:xfrm>
            <a:off x="6190560" y="2651760"/>
            <a:ext cx="54000" cy="1142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17"/>
          <p:cNvSpPr/>
          <p:nvPr/>
        </p:nvSpPr>
        <p:spPr>
          <a:xfrm>
            <a:off x="6391800" y="2788920"/>
            <a:ext cx="4872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Efficiency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18"/>
          <p:cNvSpPr/>
          <p:nvPr/>
        </p:nvSpPr>
        <p:spPr>
          <a:xfrm>
            <a:off x="6391800" y="3127320"/>
            <a:ext cx="487296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Parameters • VRAM • latency • training time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9"/>
          <p:cNvSpPr/>
          <p:nvPr/>
        </p:nvSpPr>
        <p:spPr>
          <a:xfrm>
            <a:off x="658440" y="425196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Text 20"/>
          <p:cNvSpPr/>
          <p:nvPr/>
        </p:nvSpPr>
        <p:spPr>
          <a:xfrm>
            <a:off x="658440" y="431604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E1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21"/>
          <p:cNvSpPr/>
          <p:nvPr/>
        </p:nvSpPr>
        <p:spPr>
          <a:xfrm>
            <a:off x="1243440" y="4288680"/>
            <a:ext cx="1142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Robustness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22"/>
          <p:cNvSpPr/>
          <p:nvPr/>
        </p:nvSpPr>
        <p:spPr>
          <a:xfrm>
            <a:off x="658440" y="4663440"/>
            <a:ext cx="3245400" cy="913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3"/>
          <p:cNvSpPr/>
          <p:nvPr/>
        </p:nvSpPr>
        <p:spPr>
          <a:xfrm>
            <a:off x="658440" y="4663440"/>
            <a:ext cx="54000" cy="91368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24"/>
          <p:cNvSpPr/>
          <p:nvPr/>
        </p:nvSpPr>
        <p:spPr>
          <a:xfrm>
            <a:off x="859680" y="48006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3 random seeds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25"/>
          <p:cNvSpPr/>
          <p:nvPr/>
        </p:nvSpPr>
        <p:spPr>
          <a:xfrm>
            <a:off x="859680" y="5139000"/>
            <a:ext cx="2861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42 • 1337 • 2026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Report mean ± standard deviation.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26"/>
          <p:cNvSpPr/>
          <p:nvPr/>
        </p:nvSpPr>
        <p:spPr>
          <a:xfrm>
            <a:off x="4187880" y="4663440"/>
            <a:ext cx="3245400" cy="913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27"/>
          <p:cNvSpPr/>
          <p:nvPr/>
        </p:nvSpPr>
        <p:spPr>
          <a:xfrm>
            <a:off x="4187880" y="4663440"/>
            <a:ext cx="54000" cy="91368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 28"/>
          <p:cNvSpPr/>
          <p:nvPr/>
        </p:nvSpPr>
        <p:spPr>
          <a:xfrm>
            <a:off x="4389120" y="48006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Error analysis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29"/>
          <p:cNvSpPr/>
          <p:nvPr/>
        </p:nvSpPr>
        <p:spPr>
          <a:xfrm>
            <a:off x="4389120" y="5139000"/>
            <a:ext cx="2861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False positives, false negatives, thin damage and confusing visual patterns.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30"/>
          <p:cNvSpPr/>
          <p:nvPr/>
        </p:nvSpPr>
        <p:spPr>
          <a:xfrm>
            <a:off x="7717680" y="4663440"/>
            <a:ext cx="3803040" cy="913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31"/>
          <p:cNvSpPr/>
          <p:nvPr/>
        </p:nvSpPr>
        <p:spPr>
          <a:xfrm>
            <a:off x="7717680" y="4663440"/>
            <a:ext cx="54000" cy="9136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32"/>
          <p:cNvSpPr/>
          <p:nvPr/>
        </p:nvSpPr>
        <p:spPr>
          <a:xfrm>
            <a:off x="7918560" y="4800600"/>
            <a:ext cx="3419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Test discipline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33"/>
          <p:cNvSpPr/>
          <p:nvPr/>
        </p:nvSpPr>
        <p:spPr>
          <a:xfrm>
            <a:off x="7918560" y="5139000"/>
            <a:ext cx="3419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No tuning on test. Primary result uses single-pass inference; TTA remains separate.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1"/>
          <p:cNvSpPr>
            <a:spLocks noGrp="1"/>
          </p:cNvSpPr>
          <p:nvPr>
            <p:ph type="sldNum" idx="13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BA061B63-2422-4058-8004-FD33A3B2C332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10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Product Architecture &amp; Model Boundary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Vision evidence and conversational intelligence remain separate.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658440" y="1417320"/>
            <a:ext cx="1919520" cy="1096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4"/>
          <p:cNvSpPr/>
          <p:nvPr/>
        </p:nvSpPr>
        <p:spPr>
          <a:xfrm>
            <a:off x="658440" y="1417320"/>
            <a:ext cx="54000" cy="109656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859680" y="1554480"/>
            <a:ext cx="153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Photo input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859680" y="1892880"/>
            <a:ext cx="1535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Upload / camera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Preview / replace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2724840" y="1783080"/>
            <a:ext cx="410760" cy="22788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Shape 8"/>
          <p:cNvSpPr/>
          <p:nvPr/>
        </p:nvSpPr>
        <p:spPr>
          <a:xfrm>
            <a:off x="3200400" y="1417320"/>
            <a:ext cx="1919520" cy="1096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3200400" y="1417320"/>
            <a:ext cx="54000" cy="1096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10"/>
          <p:cNvSpPr/>
          <p:nvPr/>
        </p:nvSpPr>
        <p:spPr>
          <a:xfrm>
            <a:off x="3401640" y="1554480"/>
            <a:ext cx="153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Quality gate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11"/>
          <p:cNvSpPr/>
          <p:nvPr/>
        </p:nvSpPr>
        <p:spPr>
          <a:xfrm>
            <a:off x="3401640" y="1892880"/>
            <a:ext cx="1535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Blur / exposure / framing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Fail → retake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2"/>
          <p:cNvSpPr/>
          <p:nvPr/>
        </p:nvSpPr>
        <p:spPr>
          <a:xfrm>
            <a:off x="5285160" y="1783080"/>
            <a:ext cx="410760" cy="227880"/>
          </a:xfrm>
          <a:prstGeom prst="chevron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3"/>
          <p:cNvSpPr/>
          <p:nvPr/>
        </p:nvSpPr>
        <p:spPr>
          <a:xfrm>
            <a:off x="5760720" y="1417320"/>
            <a:ext cx="2056680" cy="1096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14"/>
          <p:cNvSpPr/>
          <p:nvPr/>
        </p:nvSpPr>
        <p:spPr>
          <a:xfrm>
            <a:off x="5760720" y="1417320"/>
            <a:ext cx="54000" cy="109656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15"/>
          <p:cNvSpPr/>
          <p:nvPr/>
        </p:nvSpPr>
        <p:spPr>
          <a:xfrm>
            <a:off x="5961960" y="1554480"/>
            <a:ext cx="167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Hybrid model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16"/>
          <p:cNvSpPr/>
          <p:nvPr/>
        </p:nvSpPr>
        <p:spPr>
          <a:xfrm>
            <a:off x="5961960" y="1892880"/>
            <a:ext cx="167256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Class + mask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Confidence / uncertainty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7"/>
          <p:cNvSpPr/>
          <p:nvPr/>
        </p:nvSpPr>
        <p:spPr>
          <a:xfrm>
            <a:off x="7973640" y="1783080"/>
            <a:ext cx="410760" cy="22788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Shape 18"/>
          <p:cNvSpPr/>
          <p:nvPr/>
        </p:nvSpPr>
        <p:spPr>
          <a:xfrm>
            <a:off x="8458200" y="1417320"/>
            <a:ext cx="1919520" cy="1096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19"/>
          <p:cNvSpPr/>
          <p:nvPr/>
        </p:nvSpPr>
        <p:spPr>
          <a:xfrm>
            <a:off x="8458200" y="1417320"/>
            <a:ext cx="54000" cy="109656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Text 20"/>
          <p:cNvSpPr/>
          <p:nvPr/>
        </p:nvSpPr>
        <p:spPr>
          <a:xfrm>
            <a:off x="8659440" y="1554480"/>
            <a:ext cx="153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Structured 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 21"/>
          <p:cNvSpPr/>
          <p:nvPr/>
        </p:nvSpPr>
        <p:spPr>
          <a:xfrm>
            <a:off x="8659440" y="1892880"/>
            <a:ext cx="1535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Typed inspection result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2"/>
          <p:cNvSpPr/>
          <p:nvPr/>
        </p:nvSpPr>
        <p:spPr>
          <a:xfrm>
            <a:off x="10561320" y="1783080"/>
            <a:ext cx="410760" cy="22788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Shape 23"/>
          <p:cNvSpPr/>
          <p:nvPr/>
        </p:nvSpPr>
        <p:spPr>
          <a:xfrm>
            <a:off x="11018520" y="1417320"/>
            <a:ext cx="502200" cy="10965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24"/>
          <p:cNvSpPr/>
          <p:nvPr/>
        </p:nvSpPr>
        <p:spPr>
          <a:xfrm>
            <a:off x="11018520" y="1417320"/>
            <a:ext cx="54000" cy="109656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 25"/>
          <p:cNvSpPr/>
          <p:nvPr/>
        </p:nvSpPr>
        <p:spPr>
          <a:xfrm>
            <a:off x="11219760" y="1554480"/>
            <a:ext cx="1180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LLM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26"/>
          <p:cNvSpPr/>
          <p:nvPr/>
        </p:nvSpPr>
        <p:spPr>
          <a:xfrm>
            <a:off x="11219760" y="1892880"/>
            <a:ext cx="1180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pc="-1" strike="noStrike">
                <a:solidFill>
                  <a:srgbClr val="18212f"/>
                </a:solidFill>
                <a:latin typeface="Aptos"/>
                <a:ea typeface="Aptos"/>
              </a:rPr>
              <a:t>Explain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7"/>
          <p:cNvSpPr/>
          <p:nvPr/>
        </p:nvSpPr>
        <p:spPr>
          <a:xfrm>
            <a:off x="658440" y="2971800"/>
            <a:ext cx="474840" cy="29196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 28"/>
          <p:cNvSpPr/>
          <p:nvPr/>
        </p:nvSpPr>
        <p:spPr>
          <a:xfrm>
            <a:off x="658440" y="3035880"/>
            <a:ext cx="4748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B1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 29"/>
          <p:cNvSpPr/>
          <p:nvPr/>
        </p:nvSpPr>
        <p:spPr>
          <a:xfrm>
            <a:off x="1243440" y="3008520"/>
            <a:ext cx="17823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Conversational layer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30"/>
          <p:cNvSpPr/>
          <p:nvPr/>
        </p:nvSpPr>
        <p:spPr>
          <a:xfrm>
            <a:off x="658440" y="3401640"/>
            <a:ext cx="3245400" cy="14166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31"/>
          <p:cNvSpPr/>
          <p:nvPr/>
        </p:nvSpPr>
        <p:spPr>
          <a:xfrm>
            <a:off x="658440" y="3401640"/>
            <a:ext cx="54000" cy="14166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 32"/>
          <p:cNvSpPr/>
          <p:nvPr/>
        </p:nvSpPr>
        <p:spPr>
          <a:xfrm>
            <a:off x="859680" y="35388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LangChain + Groq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 33"/>
          <p:cNvSpPr/>
          <p:nvPr/>
        </p:nvSpPr>
        <p:spPr>
          <a:xfrm>
            <a:off x="859680" y="3877200"/>
            <a:ext cx="286128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Professional LLM persona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Evidence-grounded responses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No hard-coded production templates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API key remains server-side.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34"/>
          <p:cNvSpPr/>
          <p:nvPr/>
        </p:nvSpPr>
        <p:spPr>
          <a:xfrm>
            <a:off x="4206240" y="3401640"/>
            <a:ext cx="3245400" cy="14166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35"/>
          <p:cNvSpPr/>
          <p:nvPr/>
        </p:nvSpPr>
        <p:spPr>
          <a:xfrm>
            <a:off x="4206240" y="3401640"/>
            <a:ext cx="54000" cy="14166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36"/>
          <p:cNvSpPr/>
          <p:nvPr/>
        </p:nvSpPr>
        <p:spPr>
          <a:xfrm>
            <a:off x="4407480" y="3538800"/>
            <a:ext cx="286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Main chat experience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37"/>
          <p:cNvSpPr/>
          <p:nvPr/>
        </p:nvSpPr>
        <p:spPr>
          <a:xfrm>
            <a:off x="4407480" y="3877200"/>
            <a:ext cx="286128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Photo attachment + analysis result + description appear in the same conversation. User can continue chatting after analysis.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38"/>
          <p:cNvSpPr/>
          <p:nvPr/>
        </p:nvSpPr>
        <p:spPr>
          <a:xfrm>
            <a:off x="7754040" y="3401640"/>
            <a:ext cx="3766680" cy="14166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39"/>
          <p:cNvSpPr/>
          <p:nvPr/>
        </p:nvSpPr>
        <p:spPr>
          <a:xfrm>
            <a:off x="7754040" y="3401640"/>
            <a:ext cx="54000" cy="141660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 40"/>
          <p:cNvSpPr/>
          <p:nvPr/>
        </p:nvSpPr>
        <p:spPr>
          <a:xfrm>
            <a:off x="7955280" y="353880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No cost pathway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 41"/>
          <p:cNvSpPr/>
          <p:nvPr/>
        </p:nvSpPr>
        <p:spPr>
          <a:xfrm>
            <a:off x="7955280" y="3877200"/>
            <a:ext cx="338256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Cost prediction, repair quotes, P10/P50/P90 and cost-related UI/API are removed from the current scope.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42"/>
          <p:cNvSpPr/>
          <p:nvPr/>
        </p:nvSpPr>
        <p:spPr>
          <a:xfrm>
            <a:off x="658440" y="525780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Model responsibility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43"/>
          <p:cNvSpPr/>
          <p:nvPr/>
        </p:nvSpPr>
        <p:spPr>
          <a:xfrm>
            <a:off x="1920240" y="5203080"/>
            <a:ext cx="132516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 44"/>
          <p:cNvSpPr/>
          <p:nvPr/>
        </p:nvSpPr>
        <p:spPr>
          <a:xfrm>
            <a:off x="1993320" y="5266800"/>
            <a:ext cx="117900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Evidence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45"/>
          <p:cNvSpPr/>
          <p:nvPr/>
        </p:nvSpPr>
        <p:spPr>
          <a:xfrm>
            <a:off x="3410640" y="5203080"/>
            <a:ext cx="159948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 46"/>
          <p:cNvSpPr/>
          <p:nvPr/>
        </p:nvSpPr>
        <p:spPr>
          <a:xfrm>
            <a:off x="3483720" y="5266800"/>
            <a:ext cx="145332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Confidence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47"/>
          <p:cNvSpPr/>
          <p:nvPr/>
        </p:nvSpPr>
        <p:spPr>
          <a:xfrm>
            <a:off x="5184720" y="5203080"/>
            <a:ext cx="1416600" cy="31032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48"/>
          <p:cNvSpPr/>
          <p:nvPr/>
        </p:nvSpPr>
        <p:spPr>
          <a:xfrm>
            <a:off x="5257800" y="5266800"/>
            <a:ext cx="12704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Explanation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49"/>
          <p:cNvSpPr/>
          <p:nvPr/>
        </p:nvSpPr>
        <p:spPr>
          <a:xfrm>
            <a:off x="6766560" y="5203080"/>
            <a:ext cx="1279440" cy="310320"/>
          </a:xfrm>
          <a:prstGeom prst="roundRect">
            <a:avLst>
              <a:gd name="adj" fmla="val 41176"/>
            </a:avLst>
          </a:prstGeom>
          <a:solidFill>
            <a:srgbClr val="fff5e1"/>
          </a:solidFill>
          <a:ln w="12700">
            <a:solidFill>
              <a:srgbClr val="fff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 50"/>
          <p:cNvSpPr/>
          <p:nvPr/>
        </p:nvSpPr>
        <p:spPr>
          <a:xfrm>
            <a:off x="6839640" y="5266800"/>
            <a:ext cx="113328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Aptos"/>
              </a:rPr>
              <a:t>Follow-up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1"/>
          <p:cNvSpPr>
            <a:spLocks noGrp="1"/>
          </p:cNvSpPr>
          <p:nvPr>
            <p:ph type="sldNum" idx="14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E4052691-D0CE-49EC-AED8-8C86902ABB58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11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Expected Demo / User Experience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ChatGPT-like photo interaction: the inspection result lives in the main conversation.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3"/>
          <p:cNvSpPr/>
          <p:nvPr/>
        </p:nvSpPr>
        <p:spPr>
          <a:xfrm>
            <a:off x="658440" y="1234440"/>
            <a:ext cx="3455640" cy="18738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4"/>
          <p:cNvSpPr/>
          <p:nvPr/>
        </p:nvSpPr>
        <p:spPr>
          <a:xfrm>
            <a:off x="658440" y="1234440"/>
            <a:ext cx="54000" cy="18738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5"/>
          <p:cNvSpPr/>
          <p:nvPr/>
        </p:nvSpPr>
        <p:spPr>
          <a:xfrm>
            <a:off x="859680" y="1371600"/>
            <a:ext cx="307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1 — Attach or capture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859680" y="1710000"/>
            <a:ext cx="3071520" cy="12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Upload or camera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Preview image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Remove / replace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Send / Analyze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7"/>
          <p:cNvSpPr/>
          <p:nvPr/>
        </p:nvSpPr>
        <p:spPr>
          <a:xfrm>
            <a:off x="4370760" y="1234440"/>
            <a:ext cx="3455640" cy="18738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4370760" y="1234440"/>
            <a:ext cx="54000" cy="18738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9"/>
          <p:cNvSpPr/>
          <p:nvPr/>
        </p:nvSpPr>
        <p:spPr>
          <a:xfrm>
            <a:off x="4572000" y="1371600"/>
            <a:ext cx="307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2 — Analyze in chat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4572000" y="1710000"/>
            <a:ext cx="3071520" cy="12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Quality gate first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Hybrid segmentation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Damage mask + class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Confidence / uncertainty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8083440" y="1234440"/>
            <a:ext cx="3455640" cy="18738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12"/>
          <p:cNvSpPr/>
          <p:nvPr/>
        </p:nvSpPr>
        <p:spPr>
          <a:xfrm>
            <a:off x="8083440" y="1234440"/>
            <a:ext cx="54000" cy="18738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8284320" y="1371600"/>
            <a:ext cx="307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3 — Continue conversation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14"/>
          <p:cNvSpPr/>
          <p:nvPr/>
        </p:nvSpPr>
        <p:spPr>
          <a:xfrm>
            <a:off x="8284320" y="1710000"/>
            <a:ext cx="3071520" cy="12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Professional description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Ask follow-up questions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Clarify findings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Retake when needed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15"/>
          <p:cNvSpPr/>
          <p:nvPr/>
        </p:nvSpPr>
        <p:spPr>
          <a:xfrm>
            <a:off x="658440" y="352044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Conversation example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16"/>
          <p:cNvSpPr/>
          <p:nvPr/>
        </p:nvSpPr>
        <p:spPr>
          <a:xfrm>
            <a:off x="658440" y="3858840"/>
            <a:ext cx="3748320" cy="6577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17"/>
          <p:cNvSpPr/>
          <p:nvPr/>
        </p:nvSpPr>
        <p:spPr>
          <a:xfrm>
            <a:off x="868680" y="408744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</a:rPr>
              <a:t>USER  •  [vehicle photo]  Analyze this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18"/>
          <p:cNvSpPr/>
          <p:nvPr/>
        </p:nvSpPr>
        <p:spPr>
          <a:xfrm>
            <a:off x="4590360" y="4041720"/>
            <a:ext cx="593640" cy="25524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49240" y="3675960"/>
            <a:ext cx="6171480" cy="1023480"/>
          </a:xfrm>
          <a:prstGeom prst="roundRect">
            <a:avLst>
              <a:gd name="adj" fmla="val 7143"/>
            </a:avLst>
          </a:prstGeom>
          <a:solidFill>
            <a:srgbClr val="eef4ff"/>
          </a:solidFill>
          <a:ln w="1270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20"/>
          <p:cNvSpPr/>
          <p:nvPr/>
        </p:nvSpPr>
        <p:spPr>
          <a:xfrm>
            <a:off x="5577840" y="3858840"/>
            <a:ext cx="77652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2f67e8"/>
                </a:solidFill>
                <a:latin typeface="Aptos"/>
              </a:rPr>
              <a:t>ASSISTANT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5577840" y="4096440"/>
            <a:ext cx="5622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4213d"/>
                </a:solidFill>
                <a:latin typeface="Aptos"/>
              </a:rPr>
              <a:t>Scratch detected in the highlighted region. The image passed the quality check; model confidence is moderate. Here is what the segmentation shows…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2"/>
          <p:cNvSpPr/>
          <p:nvPr/>
        </p:nvSpPr>
        <p:spPr>
          <a:xfrm>
            <a:off x="658440" y="4983480"/>
            <a:ext cx="10862280" cy="593640"/>
          </a:xfrm>
          <a:prstGeom prst="roundRect">
            <a:avLst>
              <a:gd name="adj" fmla="val 27692"/>
            </a:avLst>
          </a:prstGeom>
          <a:solidFill>
            <a:srgbClr val="ffffff"/>
          </a:solidFill>
          <a:ln w="1270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868680" y="5175360"/>
            <a:ext cx="6393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Composer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1828800" y="5083920"/>
            <a:ext cx="109656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 25"/>
          <p:cNvSpPr/>
          <p:nvPr/>
        </p:nvSpPr>
        <p:spPr>
          <a:xfrm>
            <a:off x="1901880" y="5148000"/>
            <a:ext cx="95040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Attach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26"/>
          <p:cNvSpPr/>
          <p:nvPr/>
        </p:nvSpPr>
        <p:spPr>
          <a:xfrm>
            <a:off x="3127320" y="5083920"/>
            <a:ext cx="100512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3200400" y="5148000"/>
            <a:ext cx="85896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Camera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8"/>
          <p:cNvSpPr/>
          <p:nvPr/>
        </p:nvSpPr>
        <p:spPr>
          <a:xfrm>
            <a:off x="9985320" y="5083920"/>
            <a:ext cx="959400" cy="310320"/>
          </a:xfrm>
          <a:prstGeom prst="roundRect">
            <a:avLst>
              <a:gd name="adj" fmla="val 41176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Text 29"/>
          <p:cNvSpPr/>
          <p:nvPr/>
        </p:nvSpPr>
        <p:spPr>
          <a:xfrm>
            <a:off x="10058400" y="5148000"/>
            <a:ext cx="813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Send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 30"/>
          <p:cNvSpPr/>
          <p:nvPr/>
        </p:nvSpPr>
        <p:spPr>
          <a:xfrm>
            <a:off x="4480560" y="5175360"/>
            <a:ext cx="29253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67085"/>
                </a:solidFill>
                <a:latin typeface="Aptos"/>
              </a:rPr>
              <a:t>Text input stays active after analysis.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1"/>
          <p:cNvSpPr>
            <a:spLocks noGrp="1"/>
          </p:cNvSpPr>
          <p:nvPr>
            <p:ph type="sldNum" idx="15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B124B4B0-34CA-44A6-B39C-AD5C83AA1D4B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12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Implementation Structure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Training remains reusable across local, Colab and Kaggle environments; product code stays separate.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 4"/>
          <p:cNvSpPr/>
          <p:nvPr/>
        </p:nvSpPr>
        <p:spPr>
          <a:xfrm>
            <a:off x="914400" y="1463040"/>
            <a:ext cx="4982760" cy="37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AutoInspect-X/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apps/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web/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api/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ml/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datasets/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models/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resnet34_unet.py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│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hybrid_segmentation.py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training/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inference/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evaluation/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experiments/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 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pilot15_baseline/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 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pilot15_hybrid/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docs/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archive/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tests/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README / TASKS / MEMORY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5"/>
          <p:cNvSpPr/>
          <p:nvPr/>
        </p:nvSpPr>
        <p:spPr>
          <a:xfrm>
            <a:off x="6428160" y="1207080"/>
            <a:ext cx="2513880" cy="1279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6"/>
          <p:cNvSpPr/>
          <p:nvPr/>
        </p:nvSpPr>
        <p:spPr>
          <a:xfrm>
            <a:off x="6428160" y="1207080"/>
            <a:ext cx="54000" cy="127944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 7"/>
          <p:cNvSpPr/>
          <p:nvPr/>
        </p:nvSpPr>
        <p:spPr>
          <a:xfrm>
            <a:off x="6629400" y="1344240"/>
            <a:ext cx="2129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Baseline stays separate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 8"/>
          <p:cNvSpPr/>
          <p:nvPr/>
        </p:nvSpPr>
        <p:spPr>
          <a:xfrm>
            <a:off x="6629400" y="1682640"/>
            <a:ext cx="2129760" cy="6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/>
          </a:bodyPr>
          <a:p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Current baseline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ResNet34-U-Net is the controlled CNN baseline. Older model versions are archived rather than kept in the active model path.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9144000" y="1207080"/>
            <a:ext cx="2376720" cy="1279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9144000" y="1207080"/>
            <a:ext cx="54000" cy="12794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 11"/>
          <p:cNvSpPr/>
          <p:nvPr/>
        </p:nvSpPr>
        <p:spPr>
          <a:xfrm>
            <a:off x="9345240" y="1344240"/>
            <a:ext cx="1992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Hybrid is new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12"/>
          <p:cNvSpPr/>
          <p:nvPr/>
        </p:nvSpPr>
        <p:spPr>
          <a:xfrm>
            <a:off x="9345240" y="1682640"/>
            <a:ext cx="1992600" cy="6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Current hybrid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ResNet34 + 16×16 bottleneck Transformer + additive fusion + lightweight decoder.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13"/>
          <p:cNvSpPr/>
          <p:nvPr/>
        </p:nvSpPr>
        <p:spPr>
          <a:xfrm>
            <a:off x="6428160" y="2743200"/>
            <a:ext cx="5092560" cy="1142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4"/>
          <p:cNvSpPr/>
          <p:nvPr/>
        </p:nvSpPr>
        <p:spPr>
          <a:xfrm>
            <a:off x="6428160" y="2743200"/>
            <a:ext cx="54000" cy="11422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 15"/>
          <p:cNvSpPr/>
          <p:nvPr/>
        </p:nvSpPr>
        <p:spPr>
          <a:xfrm>
            <a:off x="6629400" y="2880360"/>
            <a:ext cx="4708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Shared infrastructure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 16"/>
          <p:cNvSpPr/>
          <p:nvPr/>
        </p:nvSpPr>
        <p:spPr>
          <a:xfrm>
            <a:off x="6629400" y="3218760"/>
            <a:ext cx="470844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Shared infrastructure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One dataset adapter • one trainer • one metric implementation • one experiment record format.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17"/>
          <p:cNvSpPr/>
          <p:nvPr/>
        </p:nvSpPr>
        <p:spPr>
          <a:xfrm>
            <a:off x="6428160" y="4160520"/>
            <a:ext cx="5092560" cy="12978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18"/>
          <p:cNvSpPr/>
          <p:nvPr/>
        </p:nvSpPr>
        <p:spPr>
          <a:xfrm>
            <a:off x="6428160" y="4160520"/>
            <a:ext cx="54000" cy="1297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 19"/>
          <p:cNvSpPr/>
          <p:nvPr/>
        </p:nvSpPr>
        <p:spPr>
          <a:xfrm>
            <a:off x="6629400" y="4297680"/>
            <a:ext cx="4708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Portability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 20"/>
          <p:cNvSpPr/>
          <p:nvPr/>
        </p:nvSpPr>
        <p:spPr>
          <a:xfrm>
            <a:off x="6629400" y="4636080"/>
            <a:ext cx="470844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7222" lnSpcReduction="10000"/>
          </a:bodyPr>
          <a:p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Research storage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Current pilot metadata stays with the experiment. Large checkpoints remain external/ignored. Superseded work goes to archive/.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Colab: primary full training.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Kaggle: secondary / overflow.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Only --data-root changes.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1"/>
          <p:cNvSpPr>
            <a:spLocks noGrp="1"/>
          </p:cNvSpPr>
          <p:nvPr>
            <p:ph type="sldNum" idx="16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D8EB73A1-79CA-4E5E-A01F-758BBE762854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Current Implementation Status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15-epoch pilot training is complete; the next step is full research training and reliable product inference.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"/>
          <p:cNvSpPr/>
          <p:nvPr/>
        </p:nvSpPr>
        <p:spPr>
          <a:xfrm>
            <a:off x="658440" y="1234440"/>
            <a:ext cx="19926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4"/>
          <p:cNvSpPr/>
          <p:nvPr/>
        </p:nvSpPr>
        <p:spPr>
          <a:xfrm>
            <a:off x="658440" y="1234440"/>
            <a:ext cx="54000" cy="123372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Text 5"/>
          <p:cNvSpPr/>
          <p:nvPr/>
        </p:nvSpPr>
        <p:spPr>
          <a:xfrm>
            <a:off x="859680" y="1371600"/>
            <a:ext cx="160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Code quality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 6"/>
          <p:cNvSpPr/>
          <p:nvPr/>
        </p:nvSpPr>
        <p:spPr>
          <a:xfrm>
            <a:off x="859680" y="1710000"/>
            <a:ext cx="1608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mypy 0 errors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ruff clean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pytest green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7"/>
          <p:cNvSpPr/>
          <p:nvPr/>
        </p:nvSpPr>
        <p:spPr>
          <a:xfrm>
            <a:off x="2917080" y="1234440"/>
            <a:ext cx="19926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8"/>
          <p:cNvSpPr/>
          <p:nvPr/>
        </p:nvSpPr>
        <p:spPr>
          <a:xfrm>
            <a:off x="2917080" y="1234440"/>
            <a:ext cx="54000" cy="123372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 9"/>
          <p:cNvSpPr/>
          <p:nvPr/>
        </p:nvSpPr>
        <p:spPr>
          <a:xfrm>
            <a:off x="3117960" y="1371600"/>
            <a:ext cx="160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Pilot runs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 10"/>
          <p:cNvSpPr/>
          <p:nvPr/>
        </p:nvSpPr>
        <p:spPr>
          <a:xfrm>
            <a:off x="3117960" y="1710000"/>
            <a:ext cx="1608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Baseline + hybrid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15 epochs complete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11"/>
          <p:cNvSpPr/>
          <p:nvPr/>
        </p:nvSpPr>
        <p:spPr>
          <a:xfrm>
            <a:off x="5175360" y="1234440"/>
            <a:ext cx="19926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12"/>
          <p:cNvSpPr/>
          <p:nvPr/>
        </p:nvSpPr>
        <p:spPr>
          <a:xfrm>
            <a:off x="5175360" y="1234440"/>
            <a:ext cx="54000" cy="123372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13"/>
          <p:cNvSpPr/>
          <p:nvPr/>
        </p:nvSpPr>
        <p:spPr>
          <a:xfrm>
            <a:off x="5376600" y="1371600"/>
            <a:ext cx="160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Model smoke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14"/>
          <p:cNvSpPr/>
          <p:nvPr/>
        </p:nvSpPr>
        <p:spPr>
          <a:xfrm>
            <a:off x="5376600" y="1710000"/>
            <a:ext cx="1608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GPU forward + tiny train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green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15"/>
          <p:cNvSpPr/>
          <p:nvPr/>
        </p:nvSpPr>
        <p:spPr>
          <a:xfrm>
            <a:off x="7434000" y="1234440"/>
            <a:ext cx="19926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16"/>
          <p:cNvSpPr/>
          <p:nvPr/>
        </p:nvSpPr>
        <p:spPr>
          <a:xfrm>
            <a:off x="7434000" y="1234440"/>
            <a:ext cx="54000" cy="123372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 17"/>
          <p:cNvSpPr/>
          <p:nvPr/>
        </p:nvSpPr>
        <p:spPr>
          <a:xfrm>
            <a:off x="7635240" y="1371600"/>
            <a:ext cx="160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Pilot comparison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 18"/>
          <p:cNvSpPr/>
          <p:nvPr/>
        </p:nvSpPr>
        <p:spPr>
          <a:xfrm>
            <a:off x="7635240" y="1710000"/>
            <a:ext cx="1608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Baseline mIoU 0.6127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Hybrid mIoU 0.5963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19"/>
          <p:cNvSpPr/>
          <p:nvPr/>
        </p:nvSpPr>
        <p:spPr>
          <a:xfrm>
            <a:off x="9692640" y="1234440"/>
            <a:ext cx="19926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20"/>
          <p:cNvSpPr/>
          <p:nvPr/>
        </p:nvSpPr>
        <p:spPr>
          <a:xfrm>
            <a:off x="9692640" y="1234440"/>
            <a:ext cx="54000" cy="123372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21"/>
          <p:cNvSpPr/>
          <p:nvPr/>
        </p:nvSpPr>
        <p:spPr>
          <a:xfrm>
            <a:off x="9893880" y="1371600"/>
            <a:ext cx="160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GPU tiny train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 22"/>
          <p:cNvSpPr/>
          <p:nvPr/>
        </p:nvSpPr>
        <p:spPr>
          <a:xfrm>
            <a:off x="9893880" y="1710000"/>
            <a:ext cx="1608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baseline + hybrid green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23"/>
          <p:cNvSpPr/>
          <p:nvPr/>
        </p:nvSpPr>
        <p:spPr>
          <a:xfrm>
            <a:off x="658440" y="2926080"/>
            <a:ext cx="3474000" cy="1325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24"/>
          <p:cNvSpPr/>
          <p:nvPr/>
        </p:nvSpPr>
        <p:spPr>
          <a:xfrm>
            <a:off x="658440" y="2926080"/>
            <a:ext cx="54000" cy="132516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25"/>
          <p:cNvSpPr/>
          <p:nvPr/>
        </p:nvSpPr>
        <p:spPr>
          <a:xfrm>
            <a:off x="859680" y="3063240"/>
            <a:ext cx="3089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Hardware 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 26"/>
          <p:cNvSpPr/>
          <p:nvPr/>
        </p:nvSpPr>
        <p:spPr>
          <a:xfrm>
            <a:off x="859680" y="3401640"/>
            <a:ext cx="308988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1111"/>
          </a:bodyPr>
          <a:p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15-epoch pilot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Baseline Dice 0.7440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Hybrid Dice 0.7320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Both still improving at epoch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Hybrid 512² smoke peak ≈ 1.37 GB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Hybrid ≈ 27.9M parameters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27"/>
          <p:cNvSpPr/>
          <p:nvPr/>
        </p:nvSpPr>
        <p:spPr>
          <a:xfrm>
            <a:off x="4370760" y="2926080"/>
            <a:ext cx="3474000" cy="1325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28"/>
          <p:cNvSpPr/>
          <p:nvPr/>
        </p:nvSpPr>
        <p:spPr>
          <a:xfrm>
            <a:off x="4370760" y="2926080"/>
            <a:ext cx="54000" cy="1325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 29"/>
          <p:cNvSpPr/>
          <p:nvPr/>
        </p:nvSpPr>
        <p:spPr>
          <a:xfrm>
            <a:off x="4572000" y="3063240"/>
            <a:ext cx="3089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What the smoke test proves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30"/>
          <p:cNvSpPr/>
          <p:nvPr/>
        </p:nvSpPr>
        <p:spPr>
          <a:xfrm>
            <a:off x="4572000" y="3401640"/>
            <a:ext cx="308988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Pilot interpretation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The baseline is ahead at 15 epochs on these validation metrics, but this is not the final architecture conclusion.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31"/>
          <p:cNvSpPr/>
          <p:nvPr/>
        </p:nvSpPr>
        <p:spPr>
          <a:xfrm>
            <a:off x="8083440" y="2926080"/>
            <a:ext cx="3437280" cy="1325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32"/>
          <p:cNvSpPr/>
          <p:nvPr/>
        </p:nvSpPr>
        <p:spPr>
          <a:xfrm>
            <a:off x="8083440" y="2926080"/>
            <a:ext cx="54000" cy="132516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33"/>
          <p:cNvSpPr/>
          <p:nvPr/>
        </p:nvSpPr>
        <p:spPr>
          <a:xfrm>
            <a:off x="8284320" y="3063240"/>
            <a:ext cx="3053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What it does NOT prove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 34"/>
          <p:cNvSpPr/>
          <p:nvPr/>
        </p:nvSpPr>
        <p:spPr>
          <a:xfrm>
            <a:off x="8284320" y="3401640"/>
            <a:ext cx="3053520" cy="7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What it does NOT prove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No final winner, no statistical significance, and no generalization claim. Full 60-epoch / 3-seed evaluation is still required.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35"/>
          <p:cNvSpPr/>
          <p:nvPr/>
        </p:nvSpPr>
        <p:spPr>
          <a:xfrm>
            <a:off x="658440" y="4645080"/>
            <a:ext cx="10862280" cy="867960"/>
          </a:xfrm>
          <a:prstGeom prst="roundRect">
            <a:avLst>
              <a:gd name="adj" fmla="val 8421"/>
            </a:avLst>
          </a:prstGeom>
          <a:solidFill>
            <a:srgbClr val="eaf8f5"/>
          </a:solidFill>
          <a:ln w="12700">
            <a:solidFill>
              <a:srgbClr val="bde9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 36"/>
          <p:cNvSpPr/>
          <p:nvPr/>
        </p:nvSpPr>
        <p:spPr>
          <a:xfrm>
            <a:off x="914400" y="4919400"/>
            <a:ext cx="50220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1fa89a"/>
                </a:solidFill>
                <a:latin typeface="Aptos"/>
              </a:rPr>
              <a:t>NEXT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 37"/>
          <p:cNvSpPr/>
          <p:nvPr/>
        </p:nvSpPr>
        <p:spPr>
          <a:xfrm>
            <a:off x="1600200" y="4873680"/>
            <a:ext cx="92347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4213d"/>
                </a:solidFill>
                <a:latin typeface="Aptos"/>
              </a:rPr>
              <a:t>NEXT  →  debug 15-epoch checkpoint inference → run full 60-epoch training → 3 seeds → frozen test → final comparison.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1"/>
          <p:cNvSpPr>
            <a:spLocks noGrp="1"/>
          </p:cNvSpPr>
          <p:nvPr>
            <p:ph type="sldNum" idx="17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0E5F6B71-CDB0-4C5F-BF21-D4E4400943E0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Timeline &amp; Research Deliverables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Dataset and architecture are established; the 15-epoch pilot is complete and product inference is now being validated.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3"/>
          <p:cNvSpPr/>
          <p:nvPr/>
        </p:nvSpPr>
        <p:spPr>
          <a:xfrm>
            <a:off x="567000" y="1325880"/>
            <a:ext cx="1626840" cy="18738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4"/>
          <p:cNvSpPr/>
          <p:nvPr/>
        </p:nvSpPr>
        <p:spPr>
          <a:xfrm>
            <a:off x="567000" y="1325880"/>
            <a:ext cx="54000" cy="187380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768240" y="1463040"/>
            <a:ext cx="932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Dataset audit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768240" y="1892880"/>
            <a:ext cx="129780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CarDD split + labels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7"/>
          <p:cNvSpPr/>
          <p:nvPr/>
        </p:nvSpPr>
        <p:spPr>
          <a:xfrm>
            <a:off x="1737360" y="1481400"/>
            <a:ext cx="392400" cy="24624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 8"/>
          <p:cNvSpPr/>
          <p:nvPr/>
        </p:nvSpPr>
        <p:spPr>
          <a:xfrm>
            <a:off x="1774080" y="1522440"/>
            <a:ext cx="3193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1fa89a"/>
                </a:solidFill>
                <a:latin typeface="Aptos"/>
              </a:rPr>
              <a:t>Done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9"/>
          <p:cNvSpPr/>
          <p:nvPr/>
        </p:nvSpPr>
        <p:spPr>
          <a:xfrm>
            <a:off x="2441520" y="1325880"/>
            <a:ext cx="1626840" cy="18738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10"/>
          <p:cNvSpPr/>
          <p:nvPr/>
        </p:nvSpPr>
        <p:spPr>
          <a:xfrm>
            <a:off x="2441520" y="1325880"/>
            <a:ext cx="54000" cy="187380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 11"/>
          <p:cNvSpPr/>
          <p:nvPr/>
        </p:nvSpPr>
        <p:spPr>
          <a:xfrm>
            <a:off x="2642760" y="1463040"/>
            <a:ext cx="932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Architecture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 12"/>
          <p:cNvSpPr/>
          <p:nvPr/>
        </p:nvSpPr>
        <p:spPr>
          <a:xfrm>
            <a:off x="2642760" y="1892880"/>
            <a:ext cx="129780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ResNet34 + hybrid implemented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13"/>
          <p:cNvSpPr/>
          <p:nvPr/>
        </p:nvSpPr>
        <p:spPr>
          <a:xfrm>
            <a:off x="3611880" y="1481400"/>
            <a:ext cx="392400" cy="24624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 14"/>
          <p:cNvSpPr/>
          <p:nvPr/>
        </p:nvSpPr>
        <p:spPr>
          <a:xfrm>
            <a:off x="3648600" y="1522440"/>
            <a:ext cx="3193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1fa89a"/>
                </a:solidFill>
                <a:latin typeface="Aptos"/>
              </a:rPr>
              <a:t>Done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15"/>
          <p:cNvSpPr/>
          <p:nvPr/>
        </p:nvSpPr>
        <p:spPr>
          <a:xfrm>
            <a:off x="4316040" y="1325880"/>
            <a:ext cx="1626840" cy="18738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6"/>
          <p:cNvSpPr/>
          <p:nvPr/>
        </p:nvSpPr>
        <p:spPr>
          <a:xfrm>
            <a:off x="4316040" y="1325880"/>
            <a:ext cx="54000" cy="18738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17"/>
          <p:cNvSpPr/>
          <p:nvPr/>
        </p:nvSpPr>
        <p:spPr>
          <a:xfrm>
            <a:off x="4517280" y="1463040"/>
            <a:ext cx="932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Cloud pilot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 18"/>
          <p:cNvSpPr/>
          <p:nvPr/>
        </p:nvSpPr>
        <p:spPr>
          <a:xfrm>
            <a:off x="4517280" y="1892880"/>
            <a:ext cx="129780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15-epoch pilot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baseline + hybrid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19"/>
          <p:cNvSpPr/>
          <p:nvPr/>
        </p:nvSpPr>
        <p:spPr>
          <a:xfrm>
            <a:off x="5486400" y="1481400"/>
            <a:ext cx="392400" cy="24624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 20"/>
          <p:cNvSpPr/>
          <p:nvPr/>
        </p:nvSpPr>
        <p:spPr>
          <a:xfrm>
            <a:off x="5523120" y="1522440"/>
            <a:ext cx="3193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Done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21"/>
          <p:cNvSpPr/>
          <p:nvPr/>
        </p:nvSpPr>
        <p:spPr>
          <a:xfrm>
            <a:off x="6190560" y="1325880"/>
            <a:ext cx="1626840" cy="18738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22"/>
          <p:cNvSpPr/>
          <p:nvPr/>
        </p:nvSpPr>
        <p:spPr>
          <a:xfrm>
            <a:off x="6190560" y="1325880"/>
            <a:ext cx="54000" cy="18738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23"/>
          <p:cNvSpPr/>
          <p:nvPr/>
        </p:nvSpPr>
        <p:spPr>
          <a:xfrm>
            <a:off x="6391800" y="1463040"/>
            <a:ext cx="932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Full training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24"/>
          <p:cNvSpPr/>
          <p:nvPr/>
        </p:nvSpPr>
        <p:spPr>
          <a:xfrm>
            <a:off x="6391800" y="1892880"/>
            <a:ext cx="129780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60 epoch max + early stop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25"/>
          <p:cNvSpPr/>
          <p:nvPr/>
        </p:nvSpPr>
        <p:spPr>
          <a:xfrm>
            <a:off x="7360920" y="1481400"/>
            <a:ext cx="392400" cy="24624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 26"/>
          <p:cNvSpPr/>
          <p:nvPr/>
        </p:nvSpPr>
        <p:spPr>
          <a:xfrm>
            <a:off x="7397640" y="1522440"/>
            <a:ext cx="3193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Next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27"/>
          <p:cNvSpPr/>
          <p:nvPr/>
        </p:nvSpPr>
        <p:spPr>
          <a:xfrm>
            <a:off x="8065080" y="1325880"/>
            <a:ext cx="1626840" cy="18738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28"/>
          <p:cNvSpPr/>
          <p:nvPr/>
        </p:nvSpPr>
        <p:spPr>
          <a:xfrm>
            <a:off x="8065080" y="1325880"/>
            <a:ext cx="54000" cy="1873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29"/>
          <p:cNvSpPr/>
          <p:nvPr/>
        </p:nvSpPr>
        <p:spPr>
          <a:xfrm>
            <a:off x="8266320" y="1463040"/>
            <a:ext cx="932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Final evaluation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30"/>
          <p:cNvSpPr/>
          <p:nvPr/>
        </p:nvSpPr>
        <p:spPr>
          <a:xfrm>
            <a:off x="8266320" y="1892880"/>
            <a:ext cx="129780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3 seeds + frozen test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31"/>
          <p:cNvSpPr/>
          <p:nvPr/>
        </p:nvSpPr>
        <p:spPr>
          <a:xfrm>
            <a:off x="9235440" y="1481400"/>
            <a:ext cx="392400" cy="24624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32"/>
          <p:cNvSpPr/>
          <p:nvPr/>
        </p:nvSpPr>
        <p:spPr>
          <a:xfrm>
            <a:off x="9272160" y="1522440"/>
            <a:ext cx="3193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Next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33"/>
          <p:cNvSpPr/>
          <p:nvPr/>
        </p:nvSpPr>
        <p:spPr>
          <a:xfrm>
            <a:off x="9939600" y="1325880"/>
            <a:ext cx="1626840" cy="18738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34"/>
          <p:cNvSpPr/>
          <p:nvPr/>
        </p:nvSpPr>
        <p:spPr>
          <a:xfrm>
            <a:off x="9939600" y="1325880"/>
            <a:ext cx="54000" cy="18738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35"/>
          <p:cNvSpPr/>
          <p:nvPr/>
        </p:nvSpPr>
        <p:spPr>
          <a:xfrm>
            <a:off x="10140840" y="1463040"/>
            <a:ext cx="932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Research report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36"/>
          <p:cNvSpPr/>
          <p:nvPr/>
        </p:nvSpPr>
        <p:spPr>
          <a:xfrm>
            <a:off x="10140840" y="1892880"/>
            <a:ext cx="129780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~10-page IEEE LaTeX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literature review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37"/>
          <p:cNvSpPr/>
          <p:nvPr/>
        </p:nvSpPr>
        <p:spPr>
          <a:xfrm>
            <a:off x="11109960" y="1481400"/>
            <a:ext cx="392400" cy="24624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 38"/>
          <p:cNvSpPr/>
          <p:nvPr/>
        </p:nvSpPr>
        <p:spPr>
          <a:xfrm>
            <a:off x="11146680" y="1522440"/>
            <a:ext cx="31932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In progress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 39"/>
          <p:cNvSpPr/>
          <p:nvPr/>
        </p:nvSpPr>
        <p:spPr>
          <a:xfrm>
            <a:off x="658440" y="374904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Literature review coverage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40"/>
          <p:cNvSpPr/>
          <p:nvPr/>
        </p:nvSpPr>
        <p:spPr>
          <a:xfrm>
            <a:off x="658440" y="406908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41"/>
          <p:cNvSpPr/>
          <p:nvPr/>
        </p:nvSpPr>
        <p:spPr>
          <a:xfrm>
            <a:off x="731520" y="413316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Vehicle damage detection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42"/>
          <p:cNvSpPr/>
          <p:nvPr/>
        </p:nvSpPr>
        <p:spPr>
          <a:xfrm>
            <a:off x="4316040" y="406908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 43"/>
          <p:cNvSpPr/>
          <p:nvPr/>
        </p:nvSpPr>
        <p:spPr>
          <a:xfrm>
            <a:off x="4389120" y="413316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CNN segmentation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44"/>
          <p:cNvSpPr/>
          <p:nvPr/>
        </p:nvSpPr>
        <p:spPr>
          <a:xfrm>
            <a:off x="7973640" y="406908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45"/>
          <p:cNvSpPr/>
          <p:nvPr/>
        </p:nvSpPr>
        <p:spPr>
          <a:xfrm>
            <a:off x="8046720" y="413316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Transformer segmentation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46"/>
          <p:cNvSpPr/>
          <p:nvPr/>
        </p:nvSpPr>
        <p:spPr>
          <a:xfrm>
            <a:off x="658440" y="450792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 47"/>
          <p:cNvSpPr/>
          <p:nvPr/>
        </p:nvSpPr>
        <p:spPr>
          <a:xfrm>
            <a:off x="731520" y="457200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CNN–Transformer hybrids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48"/>
          <p:cNvSpPr/>
          <p:nvPr/>
        </p:nvSpPr>
        <p:spPr>
          <a:xfrm>
            <a:off x="4316040" y="450792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 49"/>
          <p:cNvSpPr/>
          <p:nvPr/>
        </p:nvSpPr>
        <p:spPr>
          <a:xfrm>
            <a:off x="4389120" y="457200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Small/fine-grained damage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50"/>
          <p:cNvSpPr/>
          <p:nvPr/>
        </p:nvSpPr>
        <p:spPr>
          <a:xfrm>
            <a:off x="7973640" y="450792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51"/>
          <p:cNvSpPr/>
          <p:nvPr/>
        </p:nvSpPr>
        <p:spPr>
          <a:xfrm>
            <a:off x="8046720" y="457200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CarDD and automotive datasets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52"/>
          <p:cNvSpPr/>
          <p:nvPr/>
        </p:nvSpPr>
        <p:spPr>
          <a:xfrm>
            <a:off x="658440" y="494676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53"/>
          <p:cNvSpPr/>
          <p:nvPr/>
        </p:nvSpPr>
        <p:spPr>
          <a:xfrm>
            <a:off x="731520" y="501084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Image-quality assessment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54"/>
          <p:cNvSpPr/>
          <p:nvPr/>
        </p:nvSpPr>
        <p:spPr>
          <a:xfrm>
            <a:off x="4316040" y="494676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 55"/>
          <p:cNvSpPr/>
          <p:nvPr/>
        </p:nvSpPr>
        <p:spPr>
          <a:xfrm>
            <a:off x="4389120" y="501084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Vision + LLM inspection assistants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56"/>
          <p:cNvSpPr/>
          <p:nvPr/>
        </p:nvSpPr>
        <p:spPr>
          <a:xfrm>
            <a:off x="7973640" y="4946760"/>
            <a:ext cx="3245400" cy="31032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 57"/>
          <p:cNvSpPr/>
          <p:nvPr/>
        </p:nvSpPr>
        <p:spPr>
          <a:xfrm>
            <a:off x="8046720" y="5010840"/>
            <a:ext cx="309924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Research gap + AutoInspect-X positioning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1"/>
          <p:cNvSpPr>
            <a:spLocks noGrp="1"/>
          </p:cNvSpPr>
          <p:nvPr>
            <p:ph type="sldNum" idx="18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CD1E7A24-2952-40BE-A1DE-8E2C4AA25DCA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67000" y="292680"/>
            <a:ext cx="8960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Contribution of Each Member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85360" y="749880"/>
            <a:ext cx="10697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Roles remain aligned with the ML research, product integration and evaluation needs.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 2"/>
          <p:cNvSpPr/>
          <p:nvPr/>
        </p:nvSpPr>
        <p:spPr>
          <a:xfrm>
            <a:off x="10168200" y="356760"/>
            <a:ext cx="1416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5" strike="noStrike">
                <a:solidFill>
                  <a:srgbClr val="2f67e8"/>
                </a:solidFill>
                <a:latin typeface="Aptos"/>
                <a:ea typeface="Aptos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8440" y="1207080"/>
            <a:ext cx="2925360" cy="6393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4"/>
          <p:cNvSpPr/>
          <p:nvPr/>
        </p:nvSpPr>
        <p:spPr>
          <a:xfrm>
            <a:off x="658440" y="1207080"/>
            <a:ext cx="54000" cy="63936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859680" y="1344240"/>
            <a:ext cx="2541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Janvie Verma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 7"/>
          <p:cNvSpPr/>
          <p:nvPr/>
        </p:nvSpPr>
        <p:spPr>
          <a:xfrm>
            <a:off x="3794760" y="1371600"/>
            <a:ext cx="1645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Dataset + literature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 8"/>
          <p:cNvSpPr/>
          <p:nvPr/>
        </p:nvSpPr>
        <p:spPr>
          <a:xfrm>
            <a:off x="5577840" y="1316880"/>
            <a:ext cx="56685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Dataset curation, literature matrix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9"/>
          <p:cNvSpPr/>
          <p:nvPr/>
        </p:nvSpPr>
        <p:spPr>
          <a:xfrm>
            <a:off x="658440" y="2030040"/>
            <a:ext cx="2925360" cy="6393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0"/>
          <p:cNvSpPr/>
          <p:nvPr/>
        </p:nvSpPr>
        <p:spPr>
          <a:xfrm>
            <a:off x="658440" y="2030040"/>
            <a:ext cx="54000" cy="63936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 11"/>
          <p:cNvSpPr/>
          <p:nvPr/>
        </p:nvSpPr>
        <p:spPr>
          <a:xfrm>
            <a:off x="859680" y="2167200"/>
            <a:ext cx="2541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Kislay Anand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 12"/>
          <p:cNvSpPr/>
          <p:nvPr/>
        </p:nvSpPr>
        <p:spPr>
          <a:xfrm>
            <a:off x="859680" y="2395440"/>
            <a:ext cx="2568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23BAI10359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 13"/>
          <p:cNvSpPr/>
          <p:nvPr/>
        </p:nvSpPr>
        <p:spPr>
          <a:xfrm>
            <a:off x="3794760" y="2194560"/>
            <a:ext cx="1645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ML / research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 14"/>
          <p:cNvSpPr/>
          <p:nvPr/>
        </p:nvSpPr>
        <p:spPr>
          <a:xfrm>
            <a:off x="5577840" y="2139840"/>
            <a:ext cx="56685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Segmentation training, hybrid architecture, experiments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5"/>
          <p:cNvSpPr/>
          <p:nvPr/>
        </p:nvSpPr>
        <p:spPr>
          <a:xfrm>
            <a:off x="658440" y="2853000"/>
            <a:ext cx="2925360" cy="6393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16"/>
          <p:cNvSpPr/>
          <p:nvPr/>
        </p:nvSpPr>
        <p:spPr>
          <a:xfrm>
            <a:off x="658440" y="2853000"/>
            <a:ext cx="54000" cy="63936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 17"/>
          <p:cNvSpPr/>
          <p:nvPr/>
        </p:nvSpPr>
        <p:spPr>
          <a:xfrm>
            <a:off x="859680" y="2990160"/>
            <a:ext cx="2541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Chandrakant Anil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 18"/>
          <p:cNvSpPr/>
          <p:nvPr/>
        </p:nvSpPr>
        <p:spPr>
          <a:xfrm>
            <a:off x="859680" y="3228120"/>
            <a:ext cx="256896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23BAI11269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 19"/>
          <p:cNvSpPr/>
          <p:nvPr/>
        </p:nvSpPr>
        <p:spPr>
          <a:xfrm>
            <a:off x="3794760" y="3017520"/>
            <a:ext cx="1645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Backend / integration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 20"/>
          <p:cNvSpPr/>
          <p:nvPr/>
        </p:nvSpPr>
        <p:spPr>
          <a:xfrm>
            <a:off x="5577840" y="2962800"/>
            <a:ext cx="56685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FastAPI inference orchestration, report API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1"/>
          <p:cNvSpPr/>
          <p:nvPr/>
        </p:nvSpPr>
        <p:spPr>
          <a:xfrm>
            <a:off x="658440" y="3675960"/>
            <a:ext cx="2925360" cy="6393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22"/>
          <p:cNvSpPr/>
          <p:nvPr/>
        </p:nvSpPr>
        <p:spPr>
          <a:xfrm>
            <a:off x="658440" y="3675960"/>
            <a:ext cx="54000" cy="639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 23"/>
          <p:cNvSpPr/>
          <p:nvPr/>
        </p:nvSpPr>
        <p:spPr>
          <a:xfrm>
            <a:off x="859680" y="3813120"/>
            <a:ext cx="2541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Parikshid Arya Poornachandra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 24"/>
          <p:cNvSpPr/>
          <p:nvPr/>
        </p:nvSpPr>
        <p:spPr>
          <a:xfrm>
            <a:off x="859680" y="4041360"/>
            <a:ext cx="2568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23BAI10656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 25"/>
          <p:cNvSpPr/>
          <p:nvPr/>
        </p:nvSpPr>
        <p:spPr>
          <a:xfrm>
            <a:off x="3794760" y="3840480"/>
            <a:ext cx="1645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Frontend / UX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 26"/>
          <p:cNvSpPr/>
          <p:nvPr/>
        </p:nvSpPr>
        <p:spPr>
          <a:xfrm>
            <a:off x="5577840" y="3785760"/>
            <a:ext cx="56685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Inspection workflow, visualization, responsive chat experience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27"/>
          <p:cNvSpPr/>
          <p:nvPr/>
        </p:nvSpPr>
        <p:spPr>
          <a:xfrm>
            <a:off x="658440" y="4498920"/>
            <a:ext cx="2925360" cy="6393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28"/>
          <p:cNvSpPr/>
          <p:nvPr/>
        </p:nvSpPr>
        <p:spPr>
          <a:xfrm>
            <a:off x="658440" y="4498920"/>
            <a:ext cx="54000" cy="63936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29"/>
          <p:cNvSpPr/>
          <p:nvPr/>
        </p:nvSpPr>
        <p:spPr>
          <a:xfrm>
            <a:off x="859680" y="4636080"/>
            <a:ext cx="2541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Arya Khullar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 30"/>
          <p:cNvSpPr/>
          <p:nvPr/>
        </p:nvSpPr>
        <p:spPr>
          <a:xfrm>
            <a:off x="859680" y="4865040"/>
            <a:ext cx="25689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23BAI11198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31"/>
          <p:cNvSpPr/>
          <p:nvPr/>
        </p:nvSpPr>
        <p:spPr>
          <a:xfrm>
            <a:off x="3794760" y="4663440"/>
            <a:ext cx="1645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Evaluation / documentation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 32"/>
          <p:cNvSpPr/>
          <p:nvPr/>
        </p:nvSpPr>
        <p:spPr>
          <a:xfrm>
            <a:off x="5577840" y="4608720"/>
            <a:ext cx="56685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Metrics, ablations, testing, research presentation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1"/>
          <p:cNvSpPr>
            <a:spLocks noGrp="1"/>
          </p:cNvSpPr>
          <p:nvPr>
            <p:ph type="sldNum" idx="19"/>
          </p:nvPr>
        </p:nvSpPr>
        <p:spPr>
          <a:xfrm>
            <a:off x="11292840" y="65746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D1A1E976-538E-47C4-995D-E9F4793F5CC1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Text 6"/>
          <p:cNvSpPr/>
          <p:nvPr/>
        </p:nvSpPr>
        <p:spPr>
          <a:xfrm>
            <a:off x="859680" y="1600200"/>
            <a:ext cx="2797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23BAI10307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Text 0"/>
          <p:cNvSpPr/>
          <p:nvPr/>
        </p:nvSpPr>
        <p:spPr>
          <a:xfrm>
            <a:off x="658440" y="502920"/>
            <a:ext cx="4114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References &amp; Closing</a:t>
            </a:r>
            <a:endParaRPr b="0" lang="en-US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 1"/>
          <p:cNvSpPr/>
          <p:nvPr/>
        </p:nvSpPr>
        <p:spPr>
          <a:xfrm>
            <a:off x="676800" y="93276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9c7db"/>
                </a:solidFill>
                <a:latin typeface="Aptos"/>
              </a:rPr>
              <a:t>Key foundations used for the research framing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 2"/>
          <p:cNvSpPr/>
          <p:nvPr/>
        </p:nvSpPr>
        <p:spPr>
          <a:xfrm>
            <a:off x="685800" y="13532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1"/>
              </a:rPr>
              <a:t>1. Wang, X., Li, W., Wu, Z. “CarDD: A New Dataset for Vision-Based Car Damage Detection.” IEEE T-ITS, 2023. DOI: 10.1109/TITS.2023.3258480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3"/>
          <p:cNvSpPr/>
          <p:nvPr/>
        </p:nvSpPr>
        <p:spPr>
          <a:xfrm>
            <a:off x="6309360" y="13532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2"/>
              </a:rPr>
              <a:t>2. Ronneberger, O., Fischer, P., Brox, T. “U-Net: Convolutional Networks for Biomedical Image Segmentation.” MICCAI, 2015.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4"/>
          <p:cNvSpPr/>
          <p:nvPr/>
        </p:nvSpPr>
        <p:spPr>
          <a:xfrm>
            <a:off x="685800" y="22676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3"/>
              </a:rPr>
              <a:t>3. Chen, J. et al. “TransUNet: Transformers Make Strong Encoders for Medical Image Segmentation.” 2021. arXiv:2102.04306.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 5"/>
          <p:cNvSpPr/>
          <p:nvPr/>
        </p:nvSpPr>
        <p:spPr>
          <a:xfrm>
            <a:off x="6309360" y="22676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4"/>
              </a:rPr>
              <a:t>4. Cheng, B. et al. “Masked-Attention Mask Transformer for Universal Image Segmentation.” CVPR, 2022.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6"/>
          <p:cNvSpPr/>
          <p:nvPr/>
        </p:nvSpPr>
        <p:spPr>
          <a:xfrm>
            <a:off x="685800" y="31820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5"/>
              </a:rPr>
              <a:t>5. Patil, K. et al. “Deep Learning Based Car Damage Classification.” IEEE ICMLA, 2017.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 7"/>
          <p:cNvSpPr/>
          <p:nvPr/>
        </p:nvSpPr>
        <p:spPr>
          <a:xfrm>
            <a:off x="6309360" y="31820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6"/>
              </a:rPr>
              <a:t>6. Venkatesh, M. et al. “Vehicle Damage Detection Using Machine Learning and Segmentation to Aid Insurance Claims.” IEEE INDICON, 2023.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 8"/>
          <p:cNvSpPr/>
          <p:nvPr/>
        </p:nvSpPr>
        <p:spPr>
          <a:xfrm>
            <a:off x="685800" y="40964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7"/>
              </a:rPr>
              <a:t>7. Hasan, M.J. et al. “Vehicle Damage Detection Using Artificial Intelligence: A Systematic Literature Review.” WIREs Data Mining &amp; Knowledge Discovery, 2025.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9"/>
          <p:cNvSpPr/>
          <p:nvPr/>
        </p:nvSpPr>
        <p:spPr>
          <a:xfrm>
            <a:off x="6309360" y="4096440"/>
            <a:ext cx="5193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8"/>
              </a:rPr>
              <a:t>8. Huynh et al. “Powering AI-driven car damage identification based on VeHIDE dataset.” 2024.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Shape 10"/>
          <p:cNvSpPr/>
          <p:nvPr/>
        </p:nvSpPr>
        <p:spPr>
          <a:xfrm>
            <a:off x="676800" y="5212080"/>
            <a:ext cx="6582960" cy="749160"/>
          </a:xfrm>
          <a:prstGeom prst="roundRect">
            <a:avLst>
              <a:gd name="adj" fmla="val 9756"/>
            </a:avLst>
          </a:prstGeom>
          <a:solidFill>
            <a:srgbClr val="1b2b49"/>
          </a:solidFill>
          <a:ln w="12700">
            <a:solidFill>
              <a:srgbClr val="2b4a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Text 11"/>
          <p:cNvSpPr/>
          <p:nvPr/>
        </p:nvSpPr>
        <p:spPr>
          <a:xfrm>
            <a:off x="932760" y="5403960"/>
            <a:ext cx="1462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a9c6ff"/>
                </a:solidFill>
                <a:latin typeface="Aptos"/>
              </a:rPr>
              <a:t>AutoInspect-X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12"/>
          <p:cNvSpPr/>
          <p:nvPr/>
        </p:nvSpPr>
        <p:spPr>
          <a:xfrm>
            <a:off x="2359080" y="5367600"/>
            <a:ext cx="45529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ffffff"/>
                </a:solidFill>
                <a:latin typeface="Aptos"/>
              </a:rPr>
              <a:t>Accurate visible-damage segmentation, grounded explanation, and a defensible research evaluation.</a:t>
            </a:r>
            <a:endParaRPr b="0" lang="en-US" sz="10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 13"/>
          <p:cNvSpPr/>
          <p:nvPr/>
        </p:nvSpPr>
        <p:spPr>
          <a:xfrm>
            <a:off x="8458200" y="534924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26" strike="noStrike">
                <a:solidFill>
                  <a:srgbClr val="a9c6ff"/>
                </a:solidFill>
                <a:latin typeface="Aptos"/>
              </a:rPr>
              <a:t>THANK YOU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 14"/>
          <p:cNvSpPr/>
          <p:nvPr/>
        </p:nvSpPr>
        <p:spPr>
          <a:xfrm>
            <a:off x="11228760" y="6217920"/>
            <a:ext cx="2552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fa1d6"/>
                </a:solidFill>
                <a:latin typeface="Aptos"/>
              </a:rPr>
              <a:t>17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TextBox 16"/>
          <p:cNvSpPr/>
          <p:nvPr/>
        </p:nvSpPr>
        <p:spPr>
          <a:xfrm>
            <a:off x="8612640" y="777240"/>
            <a:ext cx="1976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LibreOffice/24.2.7.2$Linux_X86_64 LibreOffice_project/420$Build-2</Application>
  <AppVersion>15.0000</AppVersion>
  <Words>0</Words>
  <Paragraphs>0</Paragraphs>
  <Company>Capstone Project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2026-09-22T07:27:23Z</dcterms:created>
  <dc:creator>AutoInspect-X</dc:creator>
  <dc:description/>
  <dc:language>en-US</dc:language>
  <cp:lastModifiedBy/>
  <dcterms:modified xsi:type="dcterms:W3CDTF">2026-09-22T21:16:46Z</dcterms:modified>
  <cp:revision>4</cp:revision>
  <dc:subject>Capstone Project</dc:subject>
  <dc:title>AutoInspect-X — CNN–Transformer Hybrid Deep Learning for Vehicle Damage Segmentation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17</vt:i4>
  </property>
  <property fmtid="{D5CDD505-2E9C-101B-9397-08002B2CF9AE}" pid="3" name="PresentationFormat">
    <vt:lpwstr>On-screen Show (16:9)</vt:lpwstr>
  </property>
  <property fmtid="{D5CDD505-2E9C-101B-9397-08002B2CF9AE}" pid="4" name="Slides">
    <vt:i4>17</vt:i4>
  </property>
</Properties>
</file>